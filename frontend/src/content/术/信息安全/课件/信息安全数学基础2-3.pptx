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slides/slide99.xml" ContentType="application/vnd.openxmlformats-officedocument.presentationml.slide+xml"/>
  <Override PartName="/ppt/diagrams/layout1.xml" ContentType="application/vnd.openxmlformats-officedocument.drawingml.diagramLayout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89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handoutMasters/handoutMaster1.xml" ContentType="application/vnd.openxmlformats-officedocument.presentationml.handoutMaster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wmf" ContentType="image/x-wmf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Layouts/slideLayout5.xml" ContentType="application/vnd.openxmlformats-officedocument.presentationml.slideLayout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Default Extension="jpeg" ContentType="image/jpeg"/>
  <Override PartName="/ppt/diagrams/quickStyle1.xml" ContentType="application/vnd.openxmlformats-officedocument.drawingml.diagramStyle+xml"/>
  <Override PartName="/ppt/notesSlides/notesSlide37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</p:sldMasterIdLst>
  <p:notesMasterIdLst>
    <p:notesMasterId r:id="rId103"/>
  </p:notesMasterIdLst>
  <p:handoutMasterIdLst>
    <p:handoutMasterId r:id="rId104"/>
  </p:handoutMasterIdLst>
  <p:sldIdLst>
    <p:sldId id="465" r:id="rId2"/>
    <p:sldId id="428" r:id="rId3"/>
    <p:sldId id="433" r:id="rId4"/>
    <p:sldId id="410" r:id="rId5"/>
    <p:sldId id="430" r:id="rId6"/>
    <p:sldId id="449" r:id="rId7"/>
    <p:sldId id="412" r:id="rId8"/>
    <p:sldId id="453" r:id="rId9"/>
    <p:sldId id="474" r:id="rId10"/>
    <p:sldId id="475" r:id="rId11"/>
    <p:sldId id="476" r:id="rId12"/>
    <p:sldId id="477" r:id="rId13"/>
    <p:sldId id="454" r:id="rId14"/>
    <p:sldId id="466" r:id="rId15"/>
    <p:sldId id="478" r:id="rId16"/>
    <p:sldId id="479" r:id="rId17"/>
    <p:sldId id="480" r:id="rId18"/>
    <p:sldId id="481" r:id="rId19"/>
    <p:sldId id="482" r:id="rId20"/>
    <p:sldId id="483" r:id="rId21"/>
    <p:sldId id="451" r:id="rId22"/>
    <p:sldId id="462" r:id="rId23"/>
    <p:sldId id="381" r:id="rId24"/>
    <p:sldId id="417" r:id="rId25"/>
    <p:sldId id="439" r:id="rId26"/>
    <p:sldId id="440" r:id="rId27"/>
    <p:sldId id="464" r:id="rId28"/>
    <p:sldId id="442" r:id="rId29"/>
    <p:sldId id="438" r:id="rId30"/>
    <p:sldId id="443" r:id="rId31"/>
    <p:sldId id="444" r:id="rId32"/>
    <p:sldId id="459" r:id="rId33"/>
    <p:sldId id="447" r:id="rId34"/>
    <p:sldId id="460" r:id="rId35"/>
    <p:sldId id="455" r:id="rId36"/>
    <p:sldId id="456" r:id="rId37"/>
    <p:sldId id="457" r:id="rId38"/>
    <p:sldId id="458" r:id="rId39"/>
    <p:sldId id="467" r:id="rId40"/>
    <p:sldId id="468" r:id="rId41"/>
    <p:sldId id="469" r:id="rId42"/>
    <p:sldId id="470" r:id="rId43"/>
    <p:sldId id="471" r:id="rId44"/>
    <p:sldId id="472" r:id="rId45"/>
    <p:sldId id="473" r:id="rId46"/>
    <p:sldId id="448" r:id="rId47"/>
    <p:sldId id="484" r:id="rId48"/>
    <p:sldId id="485" r:id="rId49"/>
    <p:sldId id="486" r:id="rId50"/>
    <p:sldId id="487" r:id="rId51"/>
    <p:sldId id="488" r:id="rId52"/>
    <p:sldId id="489" r:id="rId53"/>
    <p:sldId id="490" r:id="rId54"/>
    <p:sldId id="491" r:id="rId55"/>
    <p:sldId id="492" r:id="rId56"/>
    <p:sldId id="494" r:id="rId57"/>
    <p:sldId id="495" r:id="rId58"/>
    <p:sldId id="496" r:id="rId59"/>
    <p:sldId id="538" r:id="rId60"/>
    <p:sldId id="497" r:id="rId61"/>
    <p:sldId id="498" r:id="rId62"/>
    <p:sldId id="499" r:id="rId63"/>
    <p:sldId id="500" r:id="rId64"/>
    <p:sldId id="501" r:id="rId65"/>
    <p:sldId id="502" r:id="rId66"/>
    <p:sldId id="503" r:id="rId67"/>
    <p:sldId id="504" r:id="rId68"/>
    <p:sldId id="505" r:id="rId69"/>
    <p:sldId id="506" r:id="rId70"/>
    <p:sldId id="507" r:id="rId71"/>
    <p:sldId id="508" r:id="rId72"/>
    <p:sldId id="509" r:id="rId73"/>
    <p:sldId id="510" r:id="rId74"/>
    <p:sldId id="511" r:id="rId75"/>
    <p:sldId id="512" r:id="rId76"/>
    <p:sldId id="513" r:id="rId77"/>
    <p:sldId id="514" r:id="rId78"/>
    <p:sldId id="539" r:id="rId79"/>
    <p:sldId id="515" r:id="rId80"/>
    <p:sldId id="516" r:id="rId81"/>
    <p:sldId id="517" r:id="rId82"/>
    <p:sldId id="518" r:id="rId83"/>
    <p:sldId id="519" r:id="rId84"/>
    <p:sldId id="520" r:id="rId85"/>
    <p:sldId id="521" r:id="rId86"/>
    <p:sldId id="522" r:id="rId87"/>
    <p:sldId id="523" r:id="rId88"/>
    <p:sldId id="524" r:id="rId89"/>
    <p:sldId id="525" r:id="rId90"/>
    <p:sldId id="526" r:id="rId91"/>
    <p:sldId id="527" r:id="rId92"/>
    <p:sldId id="528" r:id="rId93"/>
    <p:sldId id="529" r:id="rId94"/>
    <p:sldId id="530" r:id="rId95"/>
    <p:sldId id="531" r:id="rId96"/>
    <p:sldId id="532" r:id="rId97"/>
    <p:sldId id="533" r:id="rId98"/>
    <p:sldId id="534" r:id="rId99"/>
    <p:sldId id="535" r:id="rId100"/>
    <p:sldId id="536" r:id="rId101"/>
    <p:sldId id="537" r:id="rId102"/>
  </p:sldIdLst>
  <p:sldSz cx="9144000" cy="6858000" type="screen4x3"/>
  <p:notesSz cx="6669088" cy="9928225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6pPr>
    <a:lvl7pPr marL="27432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7pPr>
    <a:lvl8pPr marL="32004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8pPr>
    <a:lvl9pPr marL="3657600" algn="l" defTabSz="914400" rtl="0" eaLnBrk="1" latinLnBrk="0" hangingPunct="1">
      <a:defRPr kumimoji="1" sz="28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A2FA"/>
    <a:srgbClr val="669900"/>
    <a:srgbClr val="CC0099"/>
    <a:srgbClr val="333399"/>
    <a:srgbClr val="666633"/>
    <a:srgbClr val="808000"/>
    <a:srgbClr val="0033CC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53" autoAdjust="0"/>
    <p:restoredTop sz="82205" autoAdjust="0"/>
  </p:normalViewPr>
  <p:slideViewPr>
    <p:cSldViewPr>
      <p:cViewPr varScale="1">
        <p:scale>
          <a:sx n="75" d="100"/>
          <a:sy n="75" d="100"/>
        </p:scale>
        <p:origin x="-1278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38" d="100"/>
          <a:sy n="38" d="100"/>
        </p:scale>
        <p:origin x="-972" y="-126"/>
      </p:cViewPr>
      <p:guideLst>
        <p:guide orient="horz" pos="3128"/>
        <p:guide pos="210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8564DD-A490-4FE2-9592-933F548B32E1}" type="doc">
      <dgm:prSet loTypeId="urn:microsoft.com/office/officeart/2005/8/layout/hProcess9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1F4C903D-BEC6-48EA-8163-2D7384DC2678}">
      <dgm:prSet custT="1"/>
      <dgm:spPr>
        <a:solidFill>
          <a:srgbClr val="2CA2FA"/>
        </a:solidFill>
      </dgm:spPr>
      <dgm:t>
        <a:bodyPr/>
        <a:lstStyle/>
        <a:p>
          <a:pPr rtl="0"/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能描述域的概念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C6FAD6C-A6B3-4E4A-A42F-8A532B20F458}" type="parTrans" cxnId="{2DC25C90-6774-401E-B90D-93AE2E16B564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CA1F6CD-CA42-4042-8BA9-5F93D142C5FB}" type="sibTrans" cxnId="{2DC25C90-6774-401E-B90D-93AE2E16B564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323E0D42-056F-48D4-A86D-B10F03FF19CA}">
      <dgm:prSet custT="1"/>
      <dgm:spPr>
        <a:solidFill>
          <a:srgbClr val="2CA2FA"/>
        </a:solidFill>
        <a:ln>
          <a:solidFill>
            <a:srgbClr val="00B0F0"/>
          </a:solidFill>
        </a:ln>
      </dgm:spPr>
      <dgm:t>
        <a:bodyPr/>
        <a:lstStyle/>
        <a:p>
          <a:pPr rtl="0"/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熟悉常见的域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ECF79EC-7344-46BE-8577-88A5DF4B4F3C}" type="parTrans" cxnId="{39CAF9DF-E4AB-41ED-B25F-2840F739D9BE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21246FC-BB50-4379-8E0D-026D1B1B5361}" type="sibTrans" cxnId="{39CAF9DF-E4AB-41ED-B25F-2840F739D9BE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8D02068-131B-4A7A-94A6-E5A46F1D8D4B}">
      <dgm:prSet custT="1"/>
      <dgm:spPr>
        <a:solidFill>
          <a:srgbClr val="2CA2FA"/>
        </a:solidFill>
      </dgm:spPr>
      <dgm:t>
        <a:bodyPr/>
        <a:lstStyle/>
        <a:p>
          <a:pPr rtl="0"/>
          <a:r>
            <a: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域的性质、子域</a:t>
          </a:r>
          <a:endParaRPr lang="zh-CN" altLang="en-US" sz="24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942DAD2-12A5-44C8-AF63-F7EA076023E5}" type="parTrans" cxnId="{7B8BE633-4141-42E9-9931-9265F302AFD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6986D44-ABD0-4422-8F05-CBAF0DC38E6C}" type="sibTrans" cxnId="{7B8BE633-4141-42E9-9931-9265F302AFD9}">
      <dgm:prSet/>
      <dgm:spPr/>
      <dgm:t>
        <a:bodyPr/>
        <a:lstStyle/>
        <a:p>
          <a:endParaRPr lang="zh-CN" altLang="en-US" sz="240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0329CD71-A10C-4BF4-AAFB-E273F1BDFA45}" type="pres">
      <dgm:prSet presAssocID="{FD8564DD-A490-4FE2-9592-933F548B32E1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74765F3E-7065-470A-A386-93CA26B253AE}" type="pres">
      <dgm:prSet presAssocID="{FD8564DD-A490-4FE2-9592-933F548B32E1}" presName="arrow" presStyleLbl="bgShp" presStyleIdx="0" presStyleCnt="1"/>
      <dgm:spPr>
        <a:solidFill>
          <a:schemeClr val="accent3">
            <a:lumMod val="75000"/>
          </a:schemeClr>
        </a:solidFill>
      </dgm:spPr>
    </dgm:pt>
    <dgm:pt modelId="{CE636342-B586-4403-A730-D61125DDF4F6}" type="pres">
      <dgm:prSet presAssocID="{FD8564DD-A490-4FE2-9592-933F548B32E1}" presName="linearProcess" presStyleCnt="0"/>
      <dgm:spPr/>
    </dgm:pt>
    <dgm:pt modelId="{363D6241-2960-4C84-87B8-5971DAEB08C7}" type="pres">
      <dgm:prSet presAssocID="{1F4C903D-BEC6-48EA-8163-2D7384DC2678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6FF2A3FF-264B-4F6C-A392-D317F906A9BC}" type="pres">
      <dgm:prSet presAssocID="{5CA1F6CD-CA42-4042-8BA9-5F93D142C5FB}" presName="sibTrans" presStyleCnt="0"/>
      <dgm:spPr/>
    </dgm:pt>
    <dgm:pt modelId="{5B36A60C-503B-4ACF-9B5D-F20B11F59A65}" type="pres">
      <dgm:prSet presAssocID="{323E0D42-056F-48D4-A86D-B10F03FF19CA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494AAC4-6F19-4EB4-8A31-7718B98B6D81}" type="pres">
      <dgm:prSet presAssocID="{E21246FC-BB50-4379-8E0D-026D1B1B5361}" presName="sibTrans" presStyleCnt="0"/>
      <dgm:spPr/>
    </dgm:pt>
    <dgm:pt modelId="{71DF08C0-1423-46C4-AF68-05C20D9EB086}" type="pres">
      <dgm:prSet presAssocID="{E8D02068-131B-4A7A-94A6-E5A46F1D8D4B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2DC25C90-6774-401E-B90D-93AE2E16B564}" srcId="{FD8564DD-A490-4FE2-9592-933F548B32E1}" destId="{1F4C903D-BEC6-48EA-8163-2D7384DC2678}" srcOrd="0" destOrd="0" parTransId="{7C6FAD6C-A6B3-4E4A-A42F-8A532B20F458}" sibTransId="{5CA1F6CD-CA42-4042-8BA9-5F93D142C5FB}"/>
    <dgm:cxn modelId="{7B8BE633-4141-42E9-9931-9265F302AFD9}" srcId="{FD8564DD-A490-4FE2-9592-933F548B32E1}" destId="{E8D02068-131B-4A7A-94A6-E5A46F1D8D4B}" srcOrd="2" destOrd="0" parTransId="{7942DAD2-12A5-44C8-AF63-F7EA076023E5}" sibTransId="{96986D44-ABD0-4422-8F05-CBAF0DC38E6C}"/>
    <dgm:cxn modelId="{9092CE2E-600A-4716-9A2A-C33730CCE2F3}" type="presOf" srcId="{323E0D42-056F-48D4-A86D-B10F03FF19CA}" destId="{5B36A60C-503B-4ACF-9B5D-F20B11F59A65}" srcOrd="0" destOrd="0" presId="urn:microsoft.com/office/officeart/2005/8/layout/hProcess9"/>
    <dgm:cxn modelId="{39CAF9DF-E4AB-41ED-B25F-2840F739D9BE}" srcId="{FD8564DD-A490-4FE2-9592-933F548B32E1}" destId="{323E0D42-056F-48D4-A86D-B10F03FF19CA}" srcOrd="1" destOrd="0" parTransId="{6ECF79EC-7344-46BE-8577-88A5DF4B4F3C}" sibTransId="{E21246FC-BB50-4379-8E0D-026D1B1B5361}"/>
    <dgm:cxn modelId="{EDE5B94A-3071-4F75-9418-DAAF5BF340C3}" type="presOf" srcId="{FD8564DD-A490-4FE2-9592-933F548B32E1}" destId="{0329CD71-A10C-4BF4-AAFB-E273F1BDFA45}" srcOrd="0" destOrd="0" presId="urn:microsoft.com/office/officeart/2005/8/layout/hProcess9"/>
    <dgm:cxn modelId="{0325D43B-6A4E-432A-A2E7-6E56D549A58F}" type="presOf" srcId="{1F4C903D-BEC6-48EA-8163-2D7384DC2678}" destId="{363D6241-2960-4C84-87B8-5971DAEB08C7}" srcOrd="0" destOrd="0" presId="urn:microsoft.com/office/officeart/2005/8/layout/hProcess9"/>
    <dgm:cxn modelId="{60B56E6F-E8BF-42FA-95C6-AC90F7238688}" type="presOf" srcId="{E8D02068-131B-4A7A-94A6-E5A46F1D8D4B}" destId="{71DF08C0-1423-46C4-AF68-05C20D9EB086}" srcOrd="0" destOrd="0" presId="urn:microsoft.com/office/officeart/2005/8/layout/hProcess9"/>
    <dgm:cxn modelId="{34ECA19E-56AC-413B-B5F1-99DF9CBC37D2}" type="presParOf" srcId="{0329CD71-A10C-4BF4-AAFB-E273F1BDFA45}" destId="{74765F3E-7065-470A-A386-93CA26B253AE}" srcOrd="0" destOrd="0" presId="urn:microsoft.com/office/officeart/2005/8/layout/hProcess9"/>
    <dgm:cxn modelId="{96E177E6-16E4-475F-9F5E-998E57884DC5}" type="presParOf" srcId="{0329CD71-A10C-4BF4-AAFB-E273F1BDFA45}" destId="{CE636342-B586-4403-A730-D61125DDF4F6}" srcOrd="1" destOrd="0" presId="urn:microsoft.com/office/officeart/2005/8/layout/hProcess9"/>
    <dgm:cxn modelId="{2ACBB65F-D8B0-4922-B5BE-2B464C628721}" type="presParOf" srcId="{CE636342-B586-4403-A730-D61125DDF4F6}" destId="{363D6241-2960-4C84-87B8-5971DAEB08C7}" srcOrd="0" destOrd="0" presId="urn:microsoft.com/office/officeart/2005/8/layout/hProcess9"/>
    <dgm:cxn modelId="{02800463-A01F-4D3E-AF8B-11340A56BDDF}" type="presParOf" srcId="{CE636342-B586-4403-A730-D61125DDF4F6}" destId="{6FF2A3FF-264B-4F6C-A392-D317F906A9BC}" srcOrd="1" destOrd="0" presId="urn:microsoft.com/office/officeart/2005/8/layout/hProcess9"/>
    <dgm:cxn modelId="{5F5DBD29-69FD-42E0-B2B0-85684AA5EBD4}" type="presParOf" srcId="{CE636342-B586-4403-A730-D61125DDF4F6}" destId="{5B36A60C-503B-4ACF-9B5D-F20B11F59A65}" srcOrd="2" destOrd="0" presId="urn:microsoft.com/office/officeart/2005/8/layout/hProcess9"/>
    <dgm:cxn modelId="{324DA91B-5647-4888-A231-6B9BC940FCBE}" type="presParOf" srcId="{CE636342-B586-4403-A730-D61125DDF4F6}" destId="{0494AAC4-6F19-4EB4-8A31-7718B98B6D81}" srcOrd="3" destOrd="0" presId="urn:microsoft.com/office/officeart/2005/8/layout/hProcess9"/>
    <dgm:cxn modelId="{3AD8CF6E-94CE-4354-A182-ED4D75184C5F}" type="presParOf" srcId="{CE636342-B586-4403-A730-D61125DDF4F6}" destId="{71DF08C0-1423-46C4-AF68-05C20D9EB086}" srcOrd="4" destOrd="0" presId="urn:microsoft.com/office/officeart/2005/8/layout/hProcess9"/>
  </dgm:cxnLst>
  <dgm:bg>
    <a:effectLst>
      <a:outerShdw blurRad="50800" dist="38100" dir="18900000" algn="bl" rotWithShape="0">
        <a:prstClr val="black">
          <a:alpha val="40000"/>
        </a:prstClr>
      </a:outerShdw>
    </a:effectLst>
  </dgm:bg>
  <dgm:whole/>
  <dgm:extLst>
    <a:ext uri="{C62137D5-CB1D-491B-B009-E17868A290BF}"/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5" Type="http://schemas.openxmlformats.org/officeDocument/2006/relationships/image" Target="../media/image15.wmf"/><Relationship Id="rId4" Type="http://schemas.openxmlformats.org/officeDocument/2006/relationships/image" Target="../media/image1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2.wmf"/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image" Target="../media/image48.wmf"/><Relationship Id="rId7" Type="http://schemas.openxmlformats.org/officeDocument/2006/relationships/image" Target="../media/image52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51.wmf"/><Relationship Id="rId11" Type="http://schemas.openxmlformats.org/officeDocument/2006/relationships/image" Target="../media/image56.wmf"/><Relationship Id="rId5" Type="http://schemas.openxmlformats.org/officeDocument/2006/relationships/image" Target="../media/image50.wmf"/><Relationship Id="rId10" Type="http://schemas.openxmlformats.org/officeDocument/2006/relationships/image" Target="../media/image55.wmf"/><Relationship Id="rId4" Type="http://schemas.openxmlformats.org/officeDocument/2006/relationships/image" Target="../media/image49.wmf"/><Relationship Id="rId9" Type="http://schemas.openxmlformats.org/officeDocument/2006/relationships/image" Target="../media/image5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7" Type="http://schemas.openxmlformats.org/officeDocument/2006/relationships/image" Target="../media/image67.wmf"/><Relationship Id="rId2" Type="http://schemas.openxmlformats.org/officeDocument/2006/relationships/image" Target="../media/image59.wmf"/><Relationship Id="rId1" Type="http://schemas.openxmlformats.org/officeDocument/2006/relationships/image" Target="../media/image62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image" Target="../media/image70.wmf"/><Relationship Id="rId7" Type="http://schemas.openxmlformats.org/officeDocument/2006/relationships/image" Target="../media/image74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6" Type="http://schemas.openxmlformats.org/officeDocument/2006/relationships/image" Target="../media/image73.wmf"/><Relationship Id="rId5" Type="http://schemas.openxmlformats.org/officeDocument/2006/relationships/image" Target="../media/image72.wmf"/><Relationship Id="rId10" Type="http://schemas.openxmlformats.org/officeDocument/2006/relationships/image" Target="../media/image77.wmf"/><Relationship Id="rId4" Type="http://schemas.openxmlformats.org/officeDocument/2006/relationships/image" Target="../media/image71.wmf"/><Relationship Id="rId9" Type="http://schemas.openxmlformats.org/officeDocument/2006/relationships/image" Target="../media/image76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46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10" Type="http://schemas.openxmlformats.org/officeDocument/2006/relationships/image" Target="../media/image86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drawings/_rels/vmlDrawing17.vml.rels><?xml version="1.0" encoding="UTF-8" standalone="yes"?>
<Relationships xmlns="http://schemas.openxmlformats.org/package/2006/relationships"><Relationship Id="rId8" Type="http://schemas.openxmlformats.org/officeDocument/2006/relationships/image" Target="../media/image93.wmf"/><Relationship Id="rId3" Type="http://schemas.openxmlformats.org/officeDocument/2006/relationships/image" Target="../media/image88.wmf"/><Relationship Id="rId7" Type="http://schemas.openxmlformats.org/officeDocument/2006/relationships/image" Target="../media/image92.wmf"/><Relationship Id="rId12" Type="http://schemas.openxmlformats.org/officeDocument/2006/relationships/image" Target="../media/image96.wmf"/><Relationship Id="rId2" Type="http://schemas.openxmlformats.org/officeDocument/2006/relationships/image" Target="../media/image87.wmf"/><Relationship Id="rId1" Type="http://schemas.openxmlformats.org/officeDocument/2006/relationships/image" Target="../media/image46.wmf"/><Relationship Id="rId6" Type="http://schemas.openxmlformats.org/officeDocument/2006/relationships/image" Target="../media/image91.wmf"/><Relationship Id="rId11" Type="http://schemas.openxmlformats.org/officeDocument/2006/relationships/image" Target="../media/image95.wmf"/><Relationship Id="rId5" Type="http://schemas.openxmlformats.org/officeDocument/2006/relationships/image" Target="../media/image90.wmf"/><Relationship Id="rId10" Type="http://schemas.openxmlformats.org/officeDocument/2006/relationships/image" Target="../media/image94.wmf"/><Relationship Id="rId4" Type="http://schemas.openxmlformats.org/officeDocument/2006/relationships/image" Target="../media/image89.wmf"/><Relationship Id="rId9" Type="http://schemas.openxmlformats.org/officeDocument/2006/relationships/image" Target="../media/image44.wmf"/></Relationships>
</file>

<file path=ppt/drawings/_rels/vmlDrawing18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wmf"/><Relationship Id="rId3" Type="http://schemas.openxmlformats.org/officeDocument/2006/relationships/image" Target="../media/image78.wmf"/><Relationship Id="rId7" Type="http://schemas.openxmlformats.org/officeDocument/2006/relationships/image" Target="../media/image91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Relationship Id="rId6" Type="http://schemas.openxmlformats.org/officeDocument/2006/relationships/image" Target="../media/image99.wmf"/><Relationship Id="rId5" Type="http://schemas.openxmlformats.org/officeDocument/2006/relationships/image" Target="../media/image98.wmf"/><Relationship Id="rId4" Type="http://schemas.openxmlformats.org/officeDocument/2006/relationships/image" Target="../media/image97.wmf"/><Relationship Id="rId9" Type="http://schemas.openxmlformats.org/officeDocument/2006/relationships/image" Target="../media/image92.wmf"/></Relationships>
</file>

<file path=ppt/drawings/_rels/vmlDrawing19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11.wmf"/><Relationship Id="rId3" Type="http://schemas.openxmlformats.org/officeDocument/2006/relationships/image" Target="../media/image101.wmf"/><Relationship Id="rId7" Type="http://schemas.openxmlformats.org/officeDocument/2006/relationships/image" Target="../media/image105.wmf"/><Relationship Id="rId12" Type="http://schemas.openxmlformats.org/officeDocument/2006/relationships/image" Target="../media/image110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104.wmf"/><Relationship Id="rId11" Type="http://schemas.openxmlformats.org/officeDocument/2006/relationships/image" Target="../media/image109.wmf"/><Relationship Id="rId5" Type="http://schemas.openxmlformats.org/officeDocument/2006/relationships/image" Target="../media/image103.wmf"/><Relationship Id="rId15" Type="http://schemas.openxmlformats.org/officeDocument/2006/relationships/image" Target="../media/image113.wmf"/><Relationship Id="rId10" Type="http://schemas.openxmlformats.org/officeDocument/2006/relationships/image" Target="../media/image108.wmf"/><Relationship Id="rId4" Type="http://schemas.openxmlformats.org/officeDocument/2006/relationships/image" Target="../media/image102.wmf"/><Relationship Id="rId9" Type="http://schemas.openxmlformats.org/officeDocument/2006/relationships/image" Target="../media/image107.wmf"/><Relationship Id="rId14" Type="http://schemas.openxmlformats.org/officeDocument/2006/relationships/image" Target="../media/image112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4" Type="http://schemas.openxmlformats.org/officeDocument/2006/relationships/image" Target="../media/image117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wmf"/><Relationship Id="rId2" Type="http://schemas.openxmlformats.org/officeDocument/2006/relationships/image" Target="../media/image104.wmf"/><Relationship Id="rId1" Type="http://schemas.openxmlformats.org/officeDocument/2006/relationships/image" Target="../media/image116.wmf"/><Relationship Id="rId4" Type="http://schemas.openxmlformats.org/officeDocument/2006/relationships/image" Target="../media/image119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37.wmf"/><Relationship Id="rId4" Type="http://schemas.openxmlformats.org/officeDocument/2006/relationships/image" Target="../media/image122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04.wmf"/><Relationship Id="rId1" Type="http://schemas.openxmlformats.org/officeDocument/2006/relationships/image" Target="../media/image123.wmf"/><Relationship Id="rId4" Type="http://schemas.openxmlformats.org/officeDocument/2006/relationships/image" Target="../media/image125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2" Type="http://schemas.openxmlformats.org/officeDocument/2006/relationships/image" Target="../media/image127.wmf"/><Relationship Id="rId1" Type="http://schemas.openxmlformats.org/officeDocument/2006/relationships/image" Target="../media/image126.wmf"/><Relationship Id="rId6" Type="http://schemas.openxmlformats.org/officeDocument/2006/relationships/image" Target="../media/image131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2.w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wmf"/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wmf"/><Relationship Id="rId2" Type="http://schemas.openxmlformats.org/officeDocument/2006/relationships/image" Target="../media/image137.wmf"/><Relationship Id="rId1" Type="http://schemas.openxmlformats.org/officeDocument/2006/relationships/image" Target="../media/image136.wmf"/><Relationship Id="rId4" Type="http://schemas.openxmlformats.org/officeDocument/2006/relationships/image" Target="../media/image13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26.wmf"/><Relationship Id="rId1" Type="http://schemas.openxmlformats.org/officeDocument/2006/relationships/image" Target="../media/image140.wmf"/><Relationship Id="rId6" Type="http://schemas.openxmlformats.org/officeDocument/2006/relationships/image" Target="../media/image144.wmf"/><Relationship Id="rId5" Type="http://schemas.openxmlformats.org/officeDocument/2006/relationships/image" Target="../media/image143.wmf"/><Relationship Id="rId4" Type="http://schemas.openxmlformats.org/officeDocument/2006/relationships/image" Target="../media/image142.wmf"/></Relationships>
</file>

<file path=ppt/drawings/_rels/vmlDrawing3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wmf"/><Relationship Id="rId1" Type="http://schemas.openxmlformats.org/officeDocument/2006/relationships/image" Target="../media/image145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image" Target="../media/image149.wmf"/><Relationship Id="rId7" Type="http://schemas.openxmlformats.org/officeDocument/2006/relationships/image" Target="../media/image153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Relationship Id="rId6" Type="http://schemas.openxmlformats.org/officeDocument/2006/relationships/image" Target="../media/image152.wmf"/><Relationship Id="rId5" Type="http://schemas.openxmlformats.org/officeDocument/2006/relationships/image" Target="../media/image151.wmf"/><Relationship Id="rId4" Type="http://schemas.openxmlformats.org/officeDocument/2006/relationships/image" Target="../media/image150.wmf"/><Relationship Id="rId9" Type="http://schemas.openxmlformats.org/officeDocument/2006/relationships/image" Target="../media/image155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6" Type="http://schemas.openxmlformats.org/officeDocument/2006/relationships/image" Target="../media/image161.wmf"/><Relationship Id="rId5" Type="http://schemas.openxmlformats.org/officeDocument/2006/relationships/image" Target="../media/image160.wmf"/><Relationship Id="rId4" Type="http://schemas.openxmlformats.org/officeDocument/2006/relationships/image" Target="../media/image159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6.wmf"/><Relationship Id="rId7" Type="http://schemas.openxmlformats.org/officeDocument/2006/relationships/image" Target="../media/image170.wmf"/><Relationship Id="rId2" Type="http://schemas.openxmlformats.org/officeDocument/2006/relationships/image" Target="../media/image165.wmf"/><Relationship Id="rId1" Type="http://schemas.openxmlformats.org/officeDocument/2006/relationships/image" Target="../media/image164.wmf"/><Relationship Id="rId6" Type="http://schemas.openxmlformats.org/officeDocument/2006/relationships/image" Target="../media/image169.wmf"/><Relationship Id="rId5" Type="http://schemas.openxmlformats.org/officeDocument/2006/relationships/image" Target="../media/image168.wmf"/><Relationship Id="rId4" Type="http://schemas.openxmlformats.org/officeDocument/2006/relationships/image" Target="../media/image167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wmf"/><Relationship Id="rId2" Type="http://schemas.openxmlformats.org/officeDocument/2006/relationships/image" Target="../media/image182.wmf"/><Relationship Id="rId1" Type="http://schemas.openxmlformats.org/officeDocument/2006/relationships/image" Target="../media/image181.wmf"/><Relationship Id="rId4" Type="http://schemas.openxmlformats.org/officeDocument/2006/relationships/image" Target="../media/image184.wmf"/></Relationships>
</file>

<file path=ppt/drawings/_rels/vmlDrawing3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5.wmf"/></Relationships>
</file>

<file path=ppt/drawings/_rels/vmlDrawing3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6.wmf"/></Relationships>
</file>

<file path=ppt/drawings/_rels/vmlDrawing3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7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wmf"/><Relationship Id="rId2" Type="http://schemas.openxmlformats.org/officeDocument/2006/relationships/image" Target="../media/image189.wmf"/><Relationship Id="rId1" Type="http://schemas.openxmlformats.org/officeDocument/2006/relationships/image" Target="../media/image188.wmf"/><Relationship Id="rId4" Type="http://schemas.openxmlformats.org/officeDocument/2006/relationships/image" Target="../media/image191.wmf"/></Relationships>
</file>

<file path=ppt/drawings/_rels/vmlDrawing4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image" Target="../media/image194.wmf"/><Relationship Id="rId7" Type="http://schemas.openxmlformats.org/officeDocument/2006/relationships/image" Target="../media/image198.wmf"/><Relationship Id="rId2" Type="http://schemas.openxmlformats.org/officeDocument/2006/relationships/image" Target="../media/image193.wmf"/><Relationship Id="rId1" Type="http://schemas.openxmlformats.org/officeDocument/2006/relationships/image" Target="../media/image192.wmf"/><Relationship Id="rId6" Type="http://schemas.openxmlformats.org/officeDocument/2006/relationships/image" Target="../media/image197.wmf"/><Relationship Id="rId5" Type="http://schemas.openxmlformats.org/officeDocument/2006/relationships/image" Target="../media/image196.wmf"/><Relationship Id="rId4" Type="http://schemas.openxmlformats.org/officeDocument/2006/relationships/image" Target="../media/image195.wmf"/><Relationship Id="rId9" Type="http://schemas.openxmlformats.org/officeDocument/2006/relationships/image" Target="../media/image200.wmf"/></Relationships>
</file>

<file path=ppt/drawings/_rels/vmlDrawing4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4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6663" y="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90838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6663" y="9429750"/>
            <a:ext cx="2890837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fld id="{593B4224-4DB8-49AA-A690-D07F9199991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06D8149-742F-4E3E-95D5-D60490CE33A3}" type="datetimeFigureOut">
              <a:rPr lang="zh-CN" altLang="en-US"/>
              <a:pPr>
                <a:defRPr/>
              </a:pPr>
              <a:t>2018-12-28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6750" y="4716463"/>
            <a:ext cx="53355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78250" y="9429750"/>
            <a:ext cx="288925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884A43D-F09E-4A3D-B5CC-1F973657DAB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90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>
                <a:latin typeface="宋体" charset="-122"/>
              </a:rPr>
              <a:t>全体有理数关于加法和乘法</a:t>
            </a:r>
            <a:r>
              <a:rPr lang="zh-CN" altLang="en-US" b="1" smtClean="0"/>
              <a:t>是</a:t>
            </a:r>
            <a:r>
              <a:rPr lang="zh-CN" altLang="en-US" b="1" smtClean="0">
                <a:latin typeface="宋体" charset="-122"/>
              </a:rPr>
              <a:t>域，实数全体是域，</a:t>
            </a:r>
          </a:p>
          <a:p>
            <a:endParaRPr lang="zh-CN" altLang="en-US" smtClean="0"/>
          </a:p>
        </p:txBody>
      </p:sp>
      <p:sp>
        <p:nvSpPr>
          <p:cNvPr id="8909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57C6CFD0-5909-4036-80CC-415DE5518A38}" type="slidenum">
              <a:rPr lang="zh-CN" altLang="en-US" smtClean="0"/>
              <a:pPr/>
              <a:t>4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1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>
                <a:latin typeface="宋体" charset="-122"/>
              </a:rPr>
              <a:t>问题</a:t>
            </a:r>
            <a:r>
              <a:rPr lang="en-US" altLang="zh-CN" b="1" smtClean="0">
                <a:latin typeface="宋体" charset="-122"/>
              </a:rPr>
              <a:t>4</a:t>
            </a:r>
            <a:r>
              <a:rPr lang="zh-CN" altLang="en-US" b="1" smtClean="0">
                <a:latin typeface="宋体" charset="-122"/>
              </a:rPr>
              <a:t>：阶为</a:t>
            </a:r>
            <a:r>
              <a:rPr lang="en-US" altLang="zh-CN" b="1" smtClean="0"/>
              <a:t>11</a:t>
            </a:r>
            <a:r>
              <a:rPr lang="zh-CN" altLang="en-US" b="1" smtClean="0"/>
              <a:t>的域是否存在</a:t>
            </a:r>
            <a:r>
              <a:rPr lang="zh-CN" altLang="en-US" b="1" smtClean="0">
                <a:latin typeface="宋体" charset="-122"/>
              </a:rPr>
              <a:t>？阶为</a:t>
            </a:r>
            <a:r>
              <a:rPr lang="en-US" altLang="zh-CN" b="1" smtClean="0"/>
              <a:t>9</a:t>
            </a:r>
            <a:r>
              <a:rPr lang="zh-CN" altLang="en-US" b="1" smtClean="0"/>
              <a:t>的域是否存在</a:t>
            </a:r>
            <a:r>
              <a:rPr lang="zh-CN" altLang="en-US" b="1" smtClean="0">
                <a:latin typeface="宋体" charset="-122"/>
              </a:rPr>
              <a:t>？阶为</a:t>
            </a:r>
            <a:r>
              <a:rPr lang="en-US" altLang="zh-CN" b="1" smtClean="0"/>
              <a:t>6</a:t>
            </a:r>
            <a:r>
              <a:rPr lang="zh-CN" altLang="en-US" b="1" smtClean="0"/>
              <a:t>的域是否存在</a:t>
            </a:r>
            <a:r>
              <a:rPr lang="zh-CN" altLang="en-US" b="1" smtClean="0">
                <a:latin typeface="宋体" charset="-122"/>
              </a:rPr>
              <a:t>？</a:t>
            </a:r>
          </a:p>
          <a:p>
            <a:endParaRPr lang="zh-CN" altLang="en-US" b="1" smtClean="0"/>
          </a:p>
        </p:txBody>
      </p:sp>
      <p:sp>
        <p:nvSpPr>
          <p:cNvPr id="1617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82A6A89-6B97-4AA8-8B16-74F308CA4AAD}" type="slidenum">
              <a:rPr lang="en-US" altLang="zh-CN" smtClean="0"/>
              <a:pPr/>
              <a:t>5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13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34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smtClean="0"/>
              <a:t>[x^2+sqrt(2)+x*sqrt(sqrt(8))]* [x^2+sqrt(2)-x*sqrt(sqrt(8))]</a:t>
            </a:r>
          </a:p>
          <a:p>
            <a:r>
              <a:rPr lang="zh-CN" altLang="en-US" b="1" smtClean="0"/>
              <a:t>（</a:t>
            </a:r>
            <a:r>
              <a:rPr lang="en-US" altLang="zh-CN" b="1" smtClean="0"/>
              <a:t>x-1</a:t>
            </a:r>
            <a:r>
              <a:rPr lang="zh-CN" altLang="en-US" b="1" smtClean="0"/>
              <a:t>）</a:t>
            </a:r>
            <a:r>
              <a:rPr lang="en-US" altLang="zh-CN" b="1" smtClean="0"/>
              <a:t>(x+1)(x^2+1)</a:t>
            </a:r>
            <a:endParaRPr lang="zh-CN" altLang="en-US" b="1" smtClean="0"/>
          </a:p>
          <a:p>
            <a:endParaRPr lang="zh-CN" altLang="en-US" smtClean="0"/>
          </a:p>
        </p:txBody>
      </p:sp>
      <p:sp>
        <p:nvSpPr>
          <p:cNvPr id="27341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6237962-F43A-4AB5-9745-A874AEDB9BAD}" type="slidenum">
              <a:rPr lang="zh-CN" altLang="en-US" smtClean="0"/>
              <a:pPr/>
              <a:t>22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545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750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7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057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如何定义次数</a:t>
            </a:r>
          </a:p>
        </p:txBody>
      </p:sp>
      <p:sp>
        <p:nvSpPr>
          <p:cNvPr id="280579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03903506-DD1A-4942-885A-2E9BDF5E3BB2}" type="slidenum">
              <a:rPr lang="zh-CN" altLang="en-US" smtClean="0"/>
              <a:pPr/>
              <a:t>26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26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X^2+1  x^3+x^2</a:t>
            </a:r>
            <a:endParaRPr lang="zh-CN" altLang="en-US" smtClean="0"/>
          </a:p>
        </p:txBody>
      </p:sp>
      <p:sp>
        <p:nvSpPr>
          <p:cNvPr id="28262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FDC0E8F-AF19-4B16-A3A9-D7D3C6E808C5}" type="slidenum">
              <a:rPr lang="zh-CN" altLang="en-US" smtClean="0"/>
              <a:pPr/>
              <a:t>27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8467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A4019479-3512-4C57-8E2E-659FFDF81503}" type="slidenum">
              <a:rPr lang="zh-CN" altLang="en-US" smtClean="0"/>
              <a:pPr/>
              <a:t>28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97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问题形式</a:t>
            </a:r>
          </a:p>
        </p:txBody>
      </p:sp>
      <p:sp>
        <p:nvSpPr>
          <p:cNvPr id="28979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C92E6975-F63B-4479-8DA4-5B20CAFD6DD9}" type="slidenum">
              <a:rPr lang="zh-CN" altLang="en-US" smtClean="0"/>
              <a:pPr/>
              <a:t>31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5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286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  <p:sp>
        <p:nvSpPr>
          <p:cNvPr id="292867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73699711-5365-468B-9923-C3E5E1FC87E3}" type="slidenum">
              <a:rPr lang="zh-CN" altLang="en-US" smtClean="0"/>
              <a:pPr/>
              <a:t>32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913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49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这里</a:t>
            </a:r>
            <a:r>
              <a:rPr lang="en-US" altLang="zh-CN" smtClean="0"/>
              <a:t>1</a:t>
            </a:r>
            <a:r>
              <a:rPr lang="zh-CN" altLang="en-US" smtClean="0"/>
              <a:t>是乘法</a:t>
            </a:r>
          </a:p>
        </p:txBody>
      </p:sp>
      <p:sp>
        <p:nvSpPr>
          <p:cNvPr id="294915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2D9898BB-919D-436F-9337-529627E7FF03}" type="slidenum">
              <a:rPr lang="zh-CN" altLang="en-US" smtClean="0"/>
              <a:pPr/>
              <a:t>33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69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 1-2x+x</a:t>
            </a:r>
            <a:r>
              <a:rPr lang="en-US" altLang="zh-CN" baseline="30000" smtClean="0"/>
              <a:t>3</a:t>
            </a:r>
            <a:r>
              <a:rPr lang="zh-CN" altLang="en-US" baseline="30000" smtClean="0"/>
              <a:t>，</a:t>
            </a:r>
            <a:r>
              <a:rPr lang="en-US" altLang="zh-CN" smtClean="0"/>
              <a:t> (1+x)</a:t>
            </a:r>
            <a:r>
              <a:rPr lang="en-US" altLang="zh-CN" baseline="30000" smtClean="0"/>
              <a:t>2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0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90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smtClean="0"/>
              <a:t> PolynomialGCD[(x+1)^3,x^3+x,Modulus-&gt;2]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1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208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=1</a:t>
            </a:r>
            <a:r>
              <a:rPr lang="zh-CN" altLang="en-US" smtClean="0"/>
              <a:t>；</a:t>
            </a:r>
            <a:r>
              <a:rPr lang="zh-CN" altLang="en-US" b="1" smtClean="0"/>
              <a:t>王上台讲课</a:t>
            </a:r>
          </a:p>
        </p:txBody>
      </p:sp>
      <p:sp>
        <p:nvSpPr>
          <p:cNvPr id="302083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49830E14-DE11-406F-A918-3B8BFFA0CB99}" type="slidenum">
              <a:rPr lang="zh-CN" altLang="en-US" smtClean="0"/>
              <a:pPr/>
              <a:t>36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29" name="幻灯片图像占位符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413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(X^3+x)f+</a:t>
            </a:r>
            <a:r>
              <a:rPr lang="zh-CN" altLang="en-US" smtClean="0"/>
              <a:t>（</a:t>
            </a:r>
            <a:r>
              <a:rPr lang="en-US" altLang="zh-CN" smtClean="0"/>
              <a:t>x^5+x^2+1)g</a:t>
            </a:r>
            <a:endParaRPr lang="zh-CN" altLang="en-US" smtClean="0"/>
          </a:p>
        </p:txBody>
      </p:sp>
      <p:sp>
        <p:nvSpPr>
          <p:cNvPr id="3041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1032757-DD73-42CF-9967-B141A8CDC5E8}" type="slidenum">
              <a:rPr lang="zh-CN" altLang="en-US" smtClean="0"/>
              <a:pPr/>
              <a:t>37</a:t>
            </a:fld>
            <a:endParaRPr lang="en-US" altLang="zh-CN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539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zh-CN" smtClean="0"/>
              <a:t>Zp*Zp</a:t>
            </a:r>
            <a:r>
              <a:rPr lang="zh-CN" altLang="en-US" smtClean="0"/>
              <a:t>如何构成有限域？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174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28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如何判断，需要先算余数吗，其实不需要</a:t>
            </a:r>
          </a:p>
        </p:txBody>
      </p:sp>
      <p:sp>
        <p:nvSpPr>
          <p:cNvPr id="33280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C63F3F21-1187-4252-958C-D596C66FD46B}" type="slidenum">
              <a:rPr lang="zh-CN" altLang="en-US" sz="1200"/>
              <a:pPr algn="r" eaLnBrk="0" hangingPunct="0"/>
              <a:t>49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48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如何判断，需要先算余数吗，其实不需要</a:t>
            </a:r>
          </a:p>
        </p:txBody>
      </p:sp>
      <p:sp>
        <p:nvSpPr>
          <p:cNvPr id="33485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391D129-10B9-4C3D-8796-06B626942277}" type="slidenum">
              <a:rPr lang="zh-CN" altLang="en-US" sz="1200"/>
              <a:pPr algn="r" eaLnBrk="0" hangingPunct="0"/>
              <a:t>50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689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如何证明，很容易看出用定理</a:t>
            </a:r>
            <a:r>
              <a:rPr lang="en-US" altLang="zh-CN" b="1" smtClean="0"/>
              <a:t>3.21</a:t>
            </a:r>
          </a:p>
          <a:p>
            <a:r>
              <a:rPr lang="zh-CN" altLang="en-US" b="1" smtClean="0"/>
              <a:t>通过一些例子，来发现规律？</a:t>
            </a:r>
          </a:p>
        </p:txBody>
      </p:sp>
      <p:sp>
        <p:nvSpPr>
          <p:cNvPr id="336899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77AF4D5C-8E56-4FAE-9E3D-8336D1069C62}" type="slidenum">
              <a:rPr lang="zh-CN" altLang="en-US" sz="1200"/>
              <a:pPr algn="r" eaLnBrk="0" hangingPunct="0"/>
              <a:t>51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89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09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这是集合，如何定义运算构成群吗，</a:t>
            </a:r>
          </a:p>
        </p:txBody>
      </p:sp>
      <p:sp>
        <p:nvSpPr>
          <p:cNvPr id="34099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370EAD6D-BD2A-4004-AC00-6EB4E4CB51E9}" type="slidenum">
              <a:rPr lang="zh-CN" altLang="en-US" sz="1200"/>
              <a:pPr algn="r" eaLnBrk="0" hangingPunct="0"/>
              <a:t>53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04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304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加法为群，乘法为半群</a:t>
            </a:r>
            <a:r>
              <a:rPr lang="en-US" altLang="zh-CN" b="1" smtClean="0"/>
              <a:t>,</a:t>
            </a:r>
            <a:r>
              <a:rPr lang="zh-CN" altLang="en-US" b="1" smtClean="0"/>
              <a:t>如果不是什么时候为群</a:t>
            </a:r>
          </a:p>
        </p:txBody>
      </p:sp>
      <p:sp>
        <p:nvSpPr>
          <p:cNvPr id="34304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0148E9D9-8E60-4DCF-82FA-F518611164A2}" type="slidenum">
              <a:rPr lang="zh-CN" altLang="en-US" sz="1200"/>
              <a:pPr algn="r" eaLnBrk="0" hangingPunct="0"/>
              <a:t>54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8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509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>
                <a:latin typeface="宋体" charset="-122"/>
              </a:rPr>
              <a:t>此时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zh-CN" altLang="en-US" b="1" smtClean="0">
                <a:cs typeface="Times New Roman" pitchFamily="18" charset="0"/>
              </a:rPr>
              <a:t>是</a:t>
            </a:r>
            <a:r>
              <a:rPr lang="en-US" altLang="zh-CN" b="1" i="1" smtClean="0">
                <a:cs typeface="Times New Roman" pitchFamily="18" charset="0"/>
              </a:rPr>
              <a:t>f</a:t>
            </a:r>
            <a:r>
              <a:rPr lang="en-US" altLang="zh-CN" b="1" smtClean="0">
                <a:cs typeface="Times New Roman" pitchFamily="18" charset="0"/>
              </a:rPr>
              <a:t>(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smtClean="0">
                <a:cs typeface="Times New Roman" pitchFamily="18" charset="0"/>
              </a:rPr>
              <a:t>)</a:t>
            </a:r>
            <a:r>
              <a:rPr lang="zh-CN" altLang="en-US" b="1" smtClean="0">
                <a:latin typeface="宋体" charset="-122"/>
              </a:rPr>
              <a:t>的根。</a:t>
            </a:r>
            <a:endParaRPr lang="en-US" altLang="zh-CN" b="1" smtClean="0">
              <a:latin typeface="宋体" charset="-122"/>
            </a:endParaRPr>
          </a:p>
          <a:p>
            <a:r>
              <a:rPr lang="zh-CN" altLang="en-US" b="1" smtClean="0"/>
              <a:t>注</a:t>
            </a:r>
            <a:r>
              <a:rPr lang="en-US" altLang="zh-CN" b="1" smtClean="0"/>
              <a:t>3</a:t>
            </a:r>
            <a:r>
              <a:rPr lang="zh-CN" altLang="en-US" b="1" smtClean="0"/>
              <a:t>：任意一个有限域的阶数一定是素数的幂次。</a:t>
            </a:r>
          </a:p>
          <a:p>
            <a:endParaRPr lang="en-US" altLang="zh-CN" b="1" smtClean="0">
              <a:latin typeface="宋体" charset="-122"/>
            </a:endParaRPr>
          </a:p>
          <a:p>
            <a:endParaRPr lang="zh-CN" altLang="en-US" smtClean="0"/>
          </a:p>
        </p:txBody>
      </p:sp>
      <p:sp>
        <p:nvSpPr>
          <p:cNvPr id="34509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3E846E02-AADA-4D4F-9F07-D6EC53C24D5E}" type="slidenum">
              <a:rPr lang="zh-CN" altLang="en-US" sz="1200"/>
              <a:pPr algn="r" eaLnBrk="0" hangingPunct="0"/>
              <a:t>55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6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=(x+1)*(x^4+2x^3+x^2+1)</a:t>
            </a:r>
            <a:endParaRPr lang="zh-CN" altLang="en-US" smtClean="0"/>
          </a:p>
        </p:txBody>
      </p:sp>
      <p:sp>
        <p:nvSpPr>
          <p:cNvPr id="34816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7002928-7BBB-47F6-8CA3-A5FB54AA595C}" type="slidenum">
              <a:rPr lang="zh-CN" altLang="en-US" sz="1200"/>
              <a:pPr algn="r" eaLnBrk="0" hangingPunct="0"/>
              <a:t>56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0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021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>
                <a:latin typeface="宋体" charset="-122"/>
              </a:rPr>
              <a:t>此时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zh-CN" altLang="en-US" b="1" smtClean="0">
                <a:cs typeface="Times New Roman" pitchFamily="18" charset="0"/>
              </a:rPr>
              <a:t>是</a:t>
            </a:r>
            <a:r>
              <a:rPr lang="en-US" altLang="zh-CN" b="1" i="1" smtClean="0">
                <a:cs typeface="Times New Roman" pitchFamily="18" charset="0"/>
              </a:rPr>
              <a:t>f</a:t>
            </a:r>
            <a:r>
              <a:rPr lang="en-US" altLang="zh-CN" b="1" smtClean="0">
                <a:cs typeface="Times New Roman" pitchFamily="18" charset="0"/>
              </a:rPr>
              <a:t>(</a:t>
            </a:r>
            <a:r>
              <a:rPr lang="en-US" altLang="zh-CN" b="1" i="1" smtClean="0">
                <a:cs typeface="Times New Roman" pitchFamily="18" charset="0"/>
              </a:rPr>
              <a:t>x</a:t>
            </a:r>
            <a:r>
              <a:rPr lang="en-US" altLang="zh-CN" b="1" smtClean="0">
                <a:cs typeface="Times New Roman" pitchFamily="18" charset="0"/>
              </a:rPr>
              <a:t>)</a:t>
            </a:r>
            <a:r>
              <a:rPr lang="zh-CN" altLang="en-US" b="1" smtClean="0">
                <a:latin typeface="宋体" charset="-122"/>
              </a:rPr>
              <a:t>的根。</a:t>
            </a:r>
            <a:endParaRPr lang="en-US" altLang="zh-CN" b="1" smtClean="0">
              <a:latin typeface="宋体" charset="-122"/>
            </a:endParaRPr>
          </a:p>
          <a:p>
            <a:r>
              <a:rPr lang="zh-CN" altLang="en-US" b="1" smtClean="0"/>
              <a:t>注</a:t>
            </a:r>
            <a:r>
              <a:rPr lang="en-US" altLang="zh-CN" b="1" smtClean="0"/>
              <a:t>3</a:t>
            </a:r>
            <a:r>
              <a:rPr lang="zh-CN" altLang="en-US" b="1" smtClean="0"/>
              <a:t>：任意一个有限域的阶数一定是素数的幂次。</a:t>
            </a:r>
          </a:p>
          <a:p>
            <a:endParaRPr lang="en-US" altLang="zh-CN" b="1" smtClean="0">
              <a:latin typeface="宋体" charset="-122"/>
            </a:endParaRPr>
          </a:p>
          <a:p>
            <a:endParaRPr lang="zh-CN" altLang="en-US" smtClean="0"/>
          </a:p>
        </p:txBody>
      </p:sp>
      <p:sp>
        <p:nvSpPr>
          <p:cNvPr id="350211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9CAFA3EC-D5C2-4BBA-A59D-A96930BF2DBF}" type="slidenum">
              <a:rPr lang="zh-CN" altLang="en-US" sz="1200"/>
              <a:pPr algn="r" eaLnBrk="0" hangingPunct="0"/>
              <a:t>57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858838" y="746125"/>
            <a:ext cx="4959350" cy="3719513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430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942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b="1" smtClean="0"/>
          </a:p>
        </p:txBody>
      </p:sp>
      <p:sp>
        <p:nvSpPr>
          <p:cNvPr id="359427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F08E662F-2FDA-4DF8-AF2D-FE1B8FB8A506}" type="slidenum">
              <a:rPr lang="zh-CN" altLang="en-US" sz="1200"/>
              <a:pPr algn="r" eaLnBrk="0" hangingPunct="0"/>
              <a:t>62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14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每个小组写上答案，得分最低的惩罚，上课讲解，或多做作业题</a:t>
            </a:r>
            <a:endParaRPr lang="en-US" altLang="zh-CN" b="1" smtClean="0"/>
          </a:p>
          <a:p>
            <a:r>
              <a:rPr lang="zh-CN" altLang="en-US" b="1" smtClean="0"/>
              <a:t>发现规律？</a:t>
            </a:r>
          </a:p>
        </p:txBody>
      </p:sp>
      <p:sp>
        <p:nvSpPr>
          <p:cNvPr id="36147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907ABFA8-30E4-46EF-982F-B75B55E2950F}" type="slidenum">
              <a:rPr lang="zh-CN" altLang="en-US" sz="1200"/>
              <a:pPr algn="r" eaLnBrk="0" hangingPunct="0"/>
              <a:t>63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171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每个小组写上答案，得分最低的惩罚，上课讲解，或多做作业题</a:t>
            </a:r>
            <a:endParaRPr lang="en-US" altLang="zh-CN" b="1" smtClean="0"/>
          </a:p>
          <a:p>
            <a:r>
              <a:rPr lang="zh-CN" altLang="en-US" b="1" smtClean="0"/>
              <a:t>发现规律？</a:t>
            </a:r>
          </a:p>
        </p:txBody>
      </p:sp>
      <p:sp>
        <p:nvSpPr>
          <p:cNvPr id="37171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DE124DC1-6D8E-4753-8266-EDD2161ED033}" type="slidenum">
              <a:rPr lang="zh-CN" altLang="en-US" sz="1200"/>
              <a:pPr algn="r" eaLnBrk="0" hangingPunct="0"/>
              <a:t>71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19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219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smtClean="0"/>
              <a:t>书本定理</a:t>
            </a:r>
            <a:r>
              <a:rPr lang="en-US" altLang="zh-CN" smtClean="0"/>
              <a:t>3.19</a:t>
            </a:r>
            <a:endParaRPr lang="zh-CN" altLang="en-US" smtClean="0"/>
          </a:p>
        </p:txBody>
      </p:sp>
      <p:sp>
        <p:nvSpPr>
          <p:cNvPr id="39219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1ED35FD7-0AAD-4D56-9001-5783CBFFD2DD}" type="slidenum">
              <a:rPr lang="zh-CN" altLang="en-US" sz="1200"/>
              <a:pPr algn="r" eaLnBrk="0" hangingPunct="0"/>
              <a:t>73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4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6050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2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用</a:t>
            </a:r>
            <a:r>
              <a:rPr lang="en-US" altLang="zh-CN" b="1" smtClean="0"/>
              <a:t>magam</a:t>
            </a:r>
            <a:r>
              <a:rPr lang="zh-CN" altLang="en-US" b="1" smtClean="0"/>
              <a:t>计算例题</a:t>
            </a:r>
            <a:r>
              <a:rPr lang="en-US" altLang="zh-CN" b="1" smtClean="0"/>
              <a:t>2</a:t>
            </a:r>
            <a:r>
              <a:rPr lang="zh-CN" altLang="en-US" b="1" smtClean="0"/>
              <a:t>，学生自己计算例题</a:t>
            </a:r>
            <a:r>
              <a:rPr lang="en-US" altLang="zh-CN" b="1" smtClean="0"/>
              <a:t>1</a:t>
            </a:r>
            <a:endParaRPr lang="zh-CN" altLang="en-US" b="1" smtClean="0"/>
          </a:p>
        </p:txBody>
      </p:sp>
      <p:sp>
        <p:nvSpPr>
          <p:cNvPr id="38912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2CCCC18B-6EAA-43F0-8945-7736D8EFE450}" type="slidenum">
              <a:rPr lang="zh-CN" altLang="en-US" sz="1200"/>
              <a:pPr algn="r" eaLnBrk="0" hangingPunct="0"/>
              <a:t>75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1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4002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smtClean="0"/>
              <a:t>X^6=x^2+1;x^4=x^2+x;x5=x^2+x+1</a:t>
            </a:r>
            <a:endParaRPr lang="zh-CN" altLang="en-US" smtClean="0"/>
          </a:p>
        </p:txBody>
      </p:sp>
      <p:sp>
        <p:nvSpPr>
          <p:cNvPr id="384003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EC8995A9-5CAD-4896-8CA4-FB8C59FD74FB}" type="slidenum">
              <a:rPr lang="zh-CN" altLang="en-US" sz="1200"/>
              <a:pPr algn="r" eaLnBrk="0" hangingPunct="0"/>
              <a:t>76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3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7074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生成元的数目</a:t>
            </a:r>
          </a:p>
        </p:txBody>
      </p:sp>
      <p:sp>
        <p:nvSpPr>
          <p:cNvPr id="387075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6486058E-34FF-4759-A76A-76522C546CA2}" type="slidenum">
              <a:rPr lang="zh-CN" altLang="en-US" sz="1200"/>
              <a:pPr algn="r" eaLnBrk="0" hangingPunct="0"/>
              <a:t>77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5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0146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zh-CN" b="1" i="1" smtClean="0"/>
              <a:t>x</a:t>
            </a:r>
            <a:r>
              <a:rPr lang="zh-CN" altLang="en-US" b="1" smtClean="0"/>
              <a:t>不是本原元</a:t>
            </a:r>
            <a:r>
              <a:rPr lang="en-US" altLang="zh-CN" b="1" smtClean="0"/>
              <a:t>, </a:t>
            </a:r>
            <a:r>
              <a:rPr lang="en-US" altLang="zh-CN" b="1" i="1" smtClean="0"/>
              <a:t>x</a:t>
            </a:r>
            <a:r>
              <a:rPr lang="en-US" altLang="zh-CN" b="1" smtClean="0"/>
              <a:t>+1</a:t>
            </a:r>
            <a:r>
              <a:rPr lang="zh-CN" altLang="en-US" b="1" smtClean="0"/>
              <a:t>是本原元</a:t>
            </a:r>
            <a:endParaRPr lang="en-US" altLang="zh-CN" b="1" smtClean="0"/>
          </a:p>
          <a:p>
            <a:endParaRPr lang="zh-CN" altLang="en-US" smtClean="0"/>
          </a:p>
        </p:txBody>
      </p:sp>
      <p:sp>
        <p:nvSpPr>
          <p:cNvPr id="390147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51251844-E249-4191-9899-D4CBFDC3889C}" type="slidenum">
              <a:rPr lang="zh-CN" altLang="en-US" sz="1200"/>
              <a:pPr algn="r" eaLnBrk="0" hangingPunct="0"/>
              <a:t>79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21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321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zh-CN" altLang="en-US" b="1" smtClean="0"/>
              <a:t>生成元的数目</a:t>
            </a:r>
          </a:p>
        </p:txBody>
      </p:sp>
      <p:sp>
        <p:nvSpPr>
          <p:cNvPr id="393219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46C2A544-3ED8-4406-B7F2-6FEAE7E751A5}" type="slidenum">
              <a:rPr lang="zh-CN" altLang="en-US" sz="1200"/>
              <a:pPr algn="r" eaLnBrk="0" hangingPunct="0"/>
              <a:t>80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37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8338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  <p:sp>
        <p:nvSpPr>
          <p:cNvPr id="398339" name="灯片编号占位符 3"/>
          <p:cNvSpPr txBox="1">
            <a:spLocks noGrp="1"/>
          </p:cNvSpPr>
          <p:nvPr/>
        </p:nvSpPr>
        <p:spPr bwMode="auto">
          <a:xfrm>
            <a:off x="377825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0" hangingPunct="0"/>
            <a:fld id="{07BC76E4-EF4D-4007-A135-EA682DE1EC7D}" type="slidenum">
              <a:rPr lang="zh-CN" altLang="en-US" sz="1200"/>
              <a:pPr algn="r" eaLnBrk="0" hangingPunct="0"/>
              <a:t>84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22"/>
          <p:cNvPicPr>
            <a:picLocks noChangeAspect="1" noChangeArrowheads="1"/>
          </p:cNvPicPr>
          <p:nvPr/>
        </p:nvPicPr>
        <p:blipFill>
          <a:blip r:embed="rId2">
            <a:lum bright="30000" contrast="-36000"/>
          </a:blip>
          <a:srcRect/>
          <a:stretch>
            <a:fillRect/>
          </a:stretch>
        </p:blipFill>
        <p:spPr bwMode="auto">
          <a:xfrm>
            <a:off x="0" y="4343400"/>
            <a:ext cx="9144000" cy="252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21" descr="Untitled-5 copy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6988"/>
            <a:ext cx="9144000" cy="2689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19"/>
          <p:cNvGrpSpPr>
            <a:grpSpLocks/>
          </p:cNvGrpSpPr>
          <p:nvPr/>
        </p:nvGrpSpPr>
        <p:grpSpPr bwMode="auto">
          <a:xfrm>
            <a:off x="3184525" y="1300163"/>
            <a:ext cx="5224463" cy="912812"/>
            <a:chOff x="2211" y="819"/>
            <a:chExt cx="3629" cy="575"/>
          </a:xfrm>
        </p:grpSpPr>
        <p:sp>
          <p:nvSpPr>
            <p:cNvPr id="5" name="Oval 10"/>
            <p:cNvSpPr>
              <a:spLocks noChangeArrowheads="1"/>
            </p:cNvSpPr>
            <p:nvPr/>
          </p:nvSpPr>
          <p:spPr bwMode="auto">
            <a:xfrm>
              <a:off x="2211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" name="Oval 11"/>
            <p:cNvSpPr>
              <a:spLocks noChangeArrowheads="1"/>
            </p:cNvSpPr>
            <p:nvPr/>
          </p:nvSpPr>
          <p:spPr bwMode="auto">
            <a:xfrm>
              <a:off x="2328" y="82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" name="Oval 12"/>
            <p:cNvSpPr>
              <a:spLocks noChangeArrowheads="1"/>
            </p:cNvSpPr>
            <p:nvPr/>
          </p:nvSpPr>
          <p:spPr bwMode="auto">
            <a:xfrm>
              <a:off x="2445" y="824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" name="Oval 13"/>
            <p:cNvSpPr>
              <a:spLocks noChangeArrowheads="1"/>
            </p:cNvSpPr>
            <p:nvPr/>
          </p:nvSpPr>
          <p:spPr bwMode="auto">
            <a:xfrm>
              <a:off x="2562" y="822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" name="Oval 14"/>
            <p:cNvSpPr>
              <a:spLocks noChangeArrowheads="1"/>
            </p:cNvSpPr>
            <p:nvPr/>
          </p:nvSpPr>
          <p:spPr bwMode="auto">
            <a:xfrm>
              <a:off x="2679" y="823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" name="Oval 15"/>
            <p:cNvSpPr>
              <a:spLocks noChangeArrowheads="1"/>
            </p:cNvSpPr>
            <p:nvPr/>
          </p:nvSpPr>
          <p:spPr bwMode="auto">
            <a:xfrm>
              <a:off x="2795" y="821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1" name="Oval 16"/>
            <p:cNvSpPr>
              <a:spLocks noChangeArrowheads="1"/>
            </p:cNvSpPr>
            <p:nvPr/>
          </p:nvSpPr>
          <p:spPr bwMode="auto">
            <a:xfrm>
              <a:off x="2920" y="823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2" name="Oval 17"/>
            <p:cNvSpPr>
              <a:spLocks noChangeArrowheads="1"/>
            </p:cNvSpPr>
            <p:nvPr/>
          </p:nvSpPr>
          <p:spPr bwMode="auto">
            <a:xfrm>
              <a:off x="3037" y="821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3" name="Oval 18"/>
            <p:cNvSpPr>
              <a:spLocks noChangeArrowheads="1"/>
            </p:cNvSpPr>
            <p:nvPr/>
          </p:nvSpPr>
          <p:spPr bwMode="auto">
            <a:xfrm>
              <a:off x="3154" y="822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4" name="Oval 19"/>
            <p:cNvSpPr>
              <a:spLocks noChangeArrowheads="1"/>
            </p:cNvSpPr>
            <p:nvPr/>
          </p:nvSpPr>
          <p:spPr bwMode="auto">
            <a:xfrm>
              <a:off x="3270" y="820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5" name="Oval 20"/>
            <p:cNvSpPr>
              <a:spLocks noChangeArrowheads="1"/>
            </p:cNvSpPr>
            <p:nvPr/>
          </p:nvSpPr>
          <p:spPr bwMode="auto">
            <a:xfrm>
              <a:off x="3386" y="821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6" name="Oval 21"/>
            <p:cNvSpPr>
              <a:spLocks noChangeArrowheads="1"/>
            </p:cNvSpPr>
            <p:nvPr/>
          </p:nvSpPr>
          <p:spPr bwMode="auto">
            <a:xfrm>
              <a:off x="3504" y="819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7" name="Oval 22"/>
            <p:cNvSpPr>
              <a:spLocks noChangeArrowheads="1"/>
            </p:cNvSpPr>
            <p:nvPr/>
          </p:nvSpPr>
          <p:spPr bwMode="auto">
            <a:xfrm>
              <a:off x="3629" y="824"/>
              <a:ext cx="92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8" name="Oval 23"/>
            <p:cNvSpPr>
              <a:spLocks noChangeArrowheads="1"/>
            </p:cNvSpPr>
            <p:nvPr/>
          </p:nvSpPr>
          <p:spPr bwMode="auto">
            <a:xfrm>
              <a:off x="3745" y="822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9" name="Oval 24"/>
            <p:cNvSpPr>
              <a:spLocks noChangeArrowheads="1"/>
            </p:cNvSpPr>
            <p:nvPr/>
          </p:nvSpPr>
          <p:spPr bwMode="auto">
            <a:xfrm>
              <a:off x="3862" y="823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0" name="Oval 25"/>
            <p:cNvSpPr>
              <a:spLocks noChangeArrowheads="1"/>
            </p:cNvSpPr>
            <p:nvPr/>
          </p:nvSpPr>
          <p:spPr bwMode="auto">
            <a:xfrm>
              <a:off x="3979" y="821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1" name="Oval 26"/>
            <p:cNvSpPr>
              <a:spLocks noChangeArrowheads="1"/>
            </p:cNvSpPr>
            <p:nvPr/>
          </p:nvSpPr>
          <p:spPr bwMode="auto">
            <a:xfrm>
              <a:off x="4096" y="822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2" name="Oval 27"/>
            <p:cNvSpPr>
              <a:spLocks noChangeArrowheads="1"/>
            </p:cNvSpPr>
            <p:nvPr/>
          </p:nvSpPr>
          <p:spPr bwMode="auto">
            <a:xfrm>
              <a:off x="4214" y="820"/>
              <a:ext cx="97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3" name="Oval 28"/>
            <p:cNvSpPr>
              <a:spLocks noChangeArrowheads="1"/>
            </p:cNvSpPr>
            <p:nvPr/>
          </p:nvSpPr>
          <p:spPr bwMode="auto">
            <a:xfrm>
              <a:off x="4337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4" name="Oval 29"/>
            <p:cNvSpPr>
              <a:spLocks noChangeArrowheads="1"/>
            </p:cNvSpPr>
            <p:nvPr/>
          </p:nvSpPr>
          <p:spPr bwMode="auto">
            <a:xfrm>
              <a:off x="4454" y="823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5" name="Oval 30"/>
            <p:cNvSpPr>
              <a:spLocks noChangeArrowheads="1"/>
            </p:cNvSpPr>
            <p:nvPr/>
          </p:nvSpPr>
          <p:spPr bwMode="auto">
            <a:xfrm>
              <a:off x="4571" y="824"/>
              <a:ext cx="94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6" name="Oval 31"/>
            <p:cNvSpPr>
              <a:spLocks noChangeArrowheads="1"/>
            </p:cNvSpPr>
            <p:nvPr/>
          </p:nvSpPr>
          <p:spPr bwMode="auto">
            <a:xfrm>
              <a:off x="4688" y="822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7" name="Oval 32"/>
            <p:cNvSpPr>
              <a:spLocks noChangeArrowheads="1"/>
            </p:cNvSpPr>
            <p:nvPr/>
          </p:nvSpPr>
          <p:spPr bwMode="auto">
            <a:xfrm>
              <a:off x="4805" y="823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8" name="Oval 33"/>
            <p:cNvSpPr>
              <a:spLocks noChangeArrowheads="1"/>
            </p:cNvSpPr>
            <p:nvPr/>
          </p:nvSpPr>
          <p:spPr bwMode="auto">
            <a:xfrm>
              <a:off x="4923" y="821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29" name="Oval 34"/>
            <p:cNvSpPr>
              <a:spLocks noChangeArrowheads="1"/>
            </p:cNvSpPr>
            <p:nvPr/>
          </p:nvSpPr>
          <p:spPr bwMode="auto">
            <a:xfrm>
              <a:off x="5046" y="826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0" name="Oval 35"/>
            <p:cNvSpPr>
              <a:spLocks noChangeArrowheads="1"/>
            </p:cNvSpPr>
            <p:nvPr/>
          </p:nvSpPr>
          <p:spPr bwMode="auto">
            <a:xfrm>
              <a:off x="5163" y="824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1" name="Oval 36"/>
            <p:cNvSpPr>
              <a:spLocks noChangeArrowheads="1"/>
            </p:cNvSpPr>
            <p:nvPr/>
          </p:nvSpPr>
          <p:spPr bwMode="auto">
            <a:xfrm>
              <a:off x="5280" y="825"/>
              <a:ext cx="93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2" name="Oval 37"/>
            <p:cNvSpPr>
              <a:spLocks noChangeArrowheads="1"/>
            </p:cNvSpPr>
            <p:nvPr/>
          </p:nvSpPr>
          <p:spPr bwMode="auto">
            <a:xfrm>
              <a:off x="5397" y="823"/>
              <a:ext cx="95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3" name="Oval 38"/>
            <p:cNvSpPr>
              <a:spLocks noChangeArrowheads="1"/>
            </p:cNvSpPr>
            <p:nvPr/>
          </p:nvSpPr>
          <p:spPr bwMode="auto">
            <a:xfrm>
              <a:off x="5514" y="824"/>
              <a:ext cx="96" cy="84"/>
            </a:xfrm>
            <a:prstGeom prst="ellipse">
              <a:avLst/>
            </a:prstGeom>
            <a:solidFill>
              <a:srgbClr val="3D76C1">
                <a:alpha val="79999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4" name="Oval 39"/>
            <p:cNvSpPr>
              <a:spLocks noChangeArrowheads="1"/>
            </p:cNvSpPr>
            <p:nvPr/>
          </p:nvSpPr>
          <p:spPr bwMode="auto">
            <a:xfrm>
              <a:off x="2211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5" name="Oval 40"/>
            <p:cNvSpPr>
              <a:spLocks noChangeArrowheads="1"/>
            </p:cNvSpPr>
            <p:nvPr/>
          </p:nvSpPr>
          <p:spPr bwMode="auto">
            <a:xfrm>
              <a:off x="2328" y="94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6" name="Oval 41"/>
            <p:cNvSpPr>
              <a:spLocks noChangeArrowheads="1"/>
            </p:cNvSpPr>
            <p:nvPr/>
          </p:nvSpPr>
          <p:spPr bwMode="auto">
            <a:xfrm>
              <a:off x="2445" y="944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7" name="Oval 42"/>
            <p:cNvSpPr>
              <a:spLocks noChangeArrowheads="1"/>
            </p:cNvSpPr>
            <p:nvPr/>
          </p:nvSpPr>
          <p:spPr bwMode="auto">
            <a:xfrm>
              <a:off x="2562" y="942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8" name="Oval 43"/>
            <p:cNvSpPr>
              <a:spLocks noChangeArrowheads="1"/>
            </p:cNvSpPr>
            <p:nvPr/>
          </p:nvSpPr>
          <p:spPr bwMode="auto">
            <a:xfrm>
              <a:off x="2679" y="943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39" name="Oval 44"/>
            <p:cNvSpPr>
              <a:spLocks noChangeArrowheads="1"/>
            </p:cNvSpPr>
            <p:nvPr/>
          </p:nvSpPr>
          <p:spPr bwMode="auto">
            <a:xfrm>
              <a:off x="2795" y="941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0" name="Oval 45"/>
            <p:cNvSpPr>
              <a:spLocks noChangeArrowheads="1"/>
            </p:cNvSpPr>
            <p:nvPr/>
          </p:nvSpPr>
          <p:spPr bwMode="auto">
            <a:xfrm>
              <a:off x="2920" y="943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1" name="Oval 46"/>
            <p:cNvSpPr>
              <a:spLocks noChangeArrowheads="1"/>
            </p:cNvSpPr>
            <p:nvPr/>
          </p:nvSpPr>
          <p:spPr bwMode="auto">
            <a:xfrm>
              <a:off x="3037" y="941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2" name="Oval 47"/>
            <p:cNvSpPr>
              <a:spLocks noChangeArrowheads="1"/>
            </p:cNvSpPr>
            <p:nvPr/>
          </p:nvSpPr>
          <p:spPr bwMode="auto">
            <a:xfrm>
              <a:off x="3154" y="942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3" name="Oval 48"/>
            <p:cNvSpPr>
              <a:spLocks noChangeArrowheads="1"/>
            </p:cNvSpPr>
            <p:nvPr/>
          </p:nvSpPr>
          <p:spPr bwMode="auto">
            <a:xfrm>
              <a:off x="3270" y="940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4" name="Oval 49"/>
            <p:cNvSpPr>
              <a:spLocks noChangeArrowheads="1"/>
            </p:cNvSpPr>
            <p:nvPr/>
          </p:nvSpPr>
          <p:spPr bwMode="auto">
            <a:xfrm>
              <a:off x="3386" y="941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5" name="Oval 50"/>
            <p:cNvSpPr>
              <a:spLocks noChangeArrowheads="1"/>
            </p:cNvSpPr>
            <p:nvPr/>
          </p:nvSpPr>
          <p:spPr bwMode="auto">
            <a:xfrm>
              <a:off x="3504" y="939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6" name="Oval 51"/>
            <p:cNvSpPr>
              <a:spLocks noChangeArrowheads="1"/>
            </p:cNvSpPr>
            <p:nvPr/>
          </p:nvSpPr>
          <p:spPr bwMode="auto">
            <a:xfrm>
              <a:off x="3629" y="944"/>
              <a:ext cx="92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7" name="Oval 52"/>
            <p:cNvSpPr>
              <a:spLocks noChangeArrowheads="1"/>
            </p:cNvSpPr>
            <p:nvPr/>
          </p:nvSpPr>
          <p:spPr bwMode="auto">
            <a:xfrm>
              <a:off x="3745" y="942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8" name="Oval 53"/>
            <p:cNvSpPr>
              <a:spLocks noChangeArrowheads="1"/>
            </p:cNvSpPr>
            <p:nvPr/>
          </p:nvSpPr>
          <p:spPr bwMode="auto">
            <a:xfrm>
              <a:off x="3862" y="943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49" name="Oval 54"/>
            <p:cNvSpPr>
              <a:spLocks noChangeArrowheads="1"/>
            </p:cNvSpPr>
            <p:nvPr/>
          </p:nvSpPr>
          <p:spPr bwMode="auto">
            <a:xfrm>
              <a:off x="3979" y="941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0" name="Oval 55"/>
            <p:cNvSpPr>
              <a:spLocks noChangeArrowheads="1"/>
            </p:cNvSpPr>
            <p:nvPr/>
          </p:nvSpPr>
          <p:spPr bwMode="auto">
            <a:xfrm>
              <a:off x="4096" y="942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1" name="Oval 56"/>
            <p:cNvSpPr>
              <a:spLocks noChangeArrowheads="1"/>
            </p:cNvSpPr>
            <p:nvPr/>
          </p:nvSpPr>
          <p:spPr bwMode="auto">
            <a:xfrm>
              <a:off x="4214" y="940"/>
              <a:ext cx="97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2" name="Oval 57"/>
            <p:cNvSpPr>
              <a:spLocks noChangeArrowheads="1"/>
            </p:cNvSpPr>
            <p:nvPr/>
          </p:nvSpPr>
          <p:spPr bwMode="auto">
            <a:xfrm>
              <a:off x="4337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3" name="Oval 58"/>
            <p:cNvSpPr>
              <a:spLocks noChangeArrowheads="1"/>
            </p:cNvSpPr>
            <p:nvPr/>
          </p:nvSpPr>
          <p:spPr bwMode="auto">
            <a:xfrm>
              <a:off x="4454" y="943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4" name="Oval 59"/>
            <p:cNvSpPr>
              <a:spLocks noChangeArrowheads="1"/>
            </p:cNvSpPr>
            <p:nvPr/>
          </p:nvSpPr>
          <p:spPr bwMode="auto">
            <a:xfrm>
              <a:off x="4571" y="944"/>
              <a:ext cx="94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5" name="Oval 60"/>
            <p:cNvSpPr>
              <a:spLocks noChangeArrowheads="1"/>
            </p:cNvSpPr>
            <p:nvPr/>
          </p:nvSpPr>
          <p:spPr bwMode="auto">
            <a:xfrm>
              <a:off x="4688" y="942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6" name="Oval 61"/>
            <p:cNvSpPr>
              <a:spLocks noChangeArrowheads="1"/>
            </p:cNvSpPr>
            <p:nvPr/>
          </p:nvSpPr>
          <p:spPr bwMode="auto">
            <a:xfrm>
              <a:off x="4805" y="943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7" name="Oval 62"/>
            <p:cNvSpPr>
              <a:spLocks noChangeArrowheads="1"/>
            </p:cNvSpPr>
            <p:nvPr/>
          </p:nvSpPr>
          <p:spPr bwMode="auto">
            <a:xfrm>
              <a:off x="4923" y="941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8" name="Oval 63"/>
            <p:cNvSpPr>
              <a:spLocks noChangeArrowheads="1"/>
            </p:cNvSpPr>
            <p:nvPr/>
          </p:nvSpPr>
          <p:spPr bwMode="auto">
            <a:xfrm>
              <a:off x="5046" y="946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59" name="Oval 64"/>
            <p:cNvSpPr>
              <a:spLocks noChangeArrowheads="1"/>
            </p:cNvSpPr>
            <p:nvPr/>
          </p:nvSpPr>
          <p:spPr bwMode="auto">
            <a:xfrm>
              <a:off x="5163" y="944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0" name="Oval 65"/>
            <p:cNvSpPr>
              <a:spLocks noChangeArrowheads="1"/>
            </p:cNvSpPr>
            <p:nvPr/>
          </p:nvSpPr>
          <p:spPr bwMode="auto">
            <a:xfrm>
              <a:off x="5280" y="945"/>
              <a:ext cx="93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1" name="Oval 66"/>
            <p:cNvSpPr>
              <a:spLocks noChangeArrowheads="1"/>
            </p:cNvSpPr>
            <p:nvPr/>
          </p:nvSpPr>
          <p:spPr bwMode="auto">
            <a:xfrm>
              <a:off x="5397" y="943"/>
              <a:ext cx="95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2" name="Oval 67"/>
            <p:cNvSpPr>
              <a:spLocks noChangeArrowheads="1"/>
            </p:cNvSpPr>
            <p:nvPr/>
          </p:nvSpPr>
          <p:spPr bwMode="auto">
            <a:xfrm>
              <a:off x="5514" y="944"/>
              <a:ext cx="96" cy="84"/>
            </a:xfrm>
            <a:prstGeom prst="ellipse">
              <a:avLst/>
            </a:prstGeom>
            <a:solidFill>
              <a:srgbClr val="3D76C1">
                <a:alpha val="50195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3" name="Oval 68"/>
            <p:cNvSpPr>
              <a:spLocks noChangeArrowheads="1"/>
            </p:cNvSpPr>
            <p:nvPr/>
          </p:nvSpPr>
          <p:spPr bwMode="auto">
            <a:xfrm>
              <a:off x="2445" y="1074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4" name="Oval 69"/>
            <p:cNvSpPr>
              <a:spLocks noChangeArrowheads="1"/>
            </p:cNvSpPr>
            <p:nvPr/>
          </p:nvSpPr>
          <p:spPr bwMode="auto">
            <a:xfrm>
              <a:off x="2562" y="1072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5" name="Oval 70"/>
            <p:cNvSpPr>
              <a:spLocks noChangeArrowheads="1"/>
            </p:cNvSpPr>
            <p:nvPr/>
          </p:nvSpPr>
          <p:spPr bwMode="auto">
            <a:xfrm>
              <a:off x="2679" y="1073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6" name="Oval 71"/>
            <p:cNvSpPr>
              <a:spLocks noChangeArrowheads="1"/>
            </p:cNvSpPr>
            <p:nvPr/>
          </p:nvSpPr>
          <p:spPr bwMode="auto">
            <a:xfrm>
              <a:off x="2795" y="1071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7" name="Oval 72"/>
            <p:cNvSpPr>
              <a:spLocks noChangeArrowheads="1"/>
            </p:cNvSpPr>
            <p:nvPr/>
          </p:nvSpPr>
          <p:spPr bwMode="auto">
            <a:xfrm>
              <a:off x="2912" y="1072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3029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69" name="Oval 74"/>
            <p:cNvSpPr>
              <a:spLocks noChangeArrowheads="1"/>
            </p:cNvSpPr>
            <p:nvPr/>
          </p:nvSpPr>
          <p:spPr bwMode="auto">
            <a:xfrm>
              <a:off x="3154" y="1072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0" name="Oval 75"/>
            <p:cNvSpPr>
              <a:spLocks noChangeArrowheads="1"/>
            </p:cNvSpPr>
            <p:nvPr/>
          </p:nvSpPr>
          <p:spPr bwMode="auto">
            <a:xfrm>
              <a:off x="3270" y="1070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1" name="Oval 76"/>
            <p:cNvSpPr>
              <a:spLocks noChangeArrowheads="1"/>
            </p:cNvSpPr>
            <p:nvPr/>
          </p:nvSpPr>
          <p:spPr bwMode="auto">
            <a:xfrm>
              <a:off x="3386" y="1071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2" name="Oval 77"/>
            <p:cNvSpPr>
              <a:spLocks noChangeArrowheads="1"/>
            </p:cNvSpPr>
            <p:nvPr/>
          </p:nvSpPr>
          <p:spPr bwMode="auto">
            <a:xfrm>
              <a:off x="3504" y="1069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3" name="Oval 78"/>
            <p:cNvSpPr>
              <a:spLocks noChangeArrowheads="1"/>
            </p:cNvSpPr>
            <p:nvPr/>
          </p:nvSpPr>
          <p:spPr bwMode="auto">
            <a:xfrm>
              <a:off x="3621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4" name="Oval 79"/>
            <p:cNvSpPr>
              <a:spLocks noChangeArrowheads="1"/>
            </p:cNvSpPr>
            <p:nvPr/>
          </p:nvSpPr>
          <p:spPr bwMode="auto">
            <a:xfrm>
              <a:off x="3738" y="1068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5" name="Oval 80"/>
            <p:cNvSpPr>
              <a:spLocks noChangeArrowheads="1"/>
            </p:cNvSpPr>
            <p:nvPr/>
          </p:nvSpPr>
          <p:spPr bwMode="auto">
            <a:xfrm>
              <a:off x="3862" y="1073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6" name="Oval 81"/>
            <p:cNvSpPr>
              <a:spLocks noChangeArrowheads="1"/>
            </p:cNvSpPr>
            <p:nvPr/>
          </p:nvSpPr>
          <p:spPr bwMode="auto">
            <a:xfrm>
              <a:off x="3979" y="1071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7" name="Oval 82"/>
            <p:cNvSpPr>
              <a:spLocks noChangeArrowheads="1"/>
            </p:cNvSpPr>
            <p:nvPr/>
          </p:nvSpPr>
          <p:spPr bwMode="auto">
            <a:xfrm>
              <a:off x="4096" y="1072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8" name="Oval 83"/>
            <p:cNvSpPr>
              <a:spLocks noChangeArrowheads="1"/>
            </p:cNvSpPr>
            <p:nvPr/>
          </p:nvSpPr>
          <p:spPr bwMode="auto">
            <a:xfrm>
              <a:off x="4214" y="1070"/>
              <a:ext cx="97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79" name="Oval 84"/>
            <p:cNvSpPr>
              <a:spLocks noChangeArrowheads="1"/>
            </p:cNvSpPr>
            <p:nvPr/>
          </p:nvSpPr>
          <p:spPr bwMode="auto">
            <a:xfrm>
              <a:off x="4330" y="1071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0" name="Oval 85"/>
            <p:cNvSpPr>
              <a:spLocks noChangeArrowheads="1"/>
            </p:cNvSpPr>
            <p:nvPr/>
          </p:nvSpPr>
          <p:spPr bwMode="auto">
            <a:xfrm>
              <a:off x="4447" y="1069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1" name="Oval 86"/>
            <p:cNvSpPr>
              <a:spLocks noChangeArrowheads="1"/>
            </p:cNvSpPr>
            <p:nvPr/>
          </p:nvSpPr>
          <p:spPr bwMode="auto">
            <a:xfrm>
              <a:off x="4571" y="1074"/>
              <a:ext cx="94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2" name="Oval 87"/>
            <p:cNvSpPr>
              <a:spLocks noChangeArrowheads="1"/>
            </p:cNvSpPr>
            <p:nvPr/>
          </p:nvSpPr>
          <p:spPr bwMode="auto">
            <a:xfrm>
              <a:off x="4688" y="1072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3" name="Oval 88"/>
            <p:cNvSpPr>
              <a:spLocks noChangeArrowheads="1"/>
            </p:cNvSpPr>
            <p:nvPr/>
          </p:nvSpPr>
          <p:spPr bwMode="auto">
            <a:xfrm>
              <a:off x="4805" y="1073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4" name="Oval 89"/>
            <p:cNvSpPr>
              <a:spLocks noChangeArrowheads="1"/>
            </p:cNvSpPr>
            <p:nvPr/>
          </p:nvSpPr>
          <p:spPr bwMode="auto">
            <a:xfrm>
              <a:off x="4923" y="1071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5" name="Oval 90"/>
            <p:cNvSpPr>
              <a:spLocks noChangeArrowheads="1"/>
            </p:cNvSpPr>
            <p:nvPr/>
          </p:nvSpPr>
          <p:spPr bwMode="auto">
            <a:xfrm>
              <a:off x="5039" y="1072"/>
              <a:ext cx="92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6" name="Oval 91"/>
            <p:cNvSpPr>
              <a:spLocks noChangeArrowheads="1"/>
            </p:cNvSpPr>
            <p:nvPr/>
          </p:nvSpPr>
          <p:spPr bwMode="auto">
            <a:xfrm>
              <a:off x="5155" y="1070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7" name="Oval 92"/>
            <p:cNvSpPr>
              <a:spLocks noChangeArrowheads="1"/>
            </p:cNvSpPr>
            <p:nvPr/>
          </p:nvSpPr>
          <p:spPr bwMode="auto">
            <a:xfrm>
              <a:off x="5280" y="1075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8" name="Oval 93"/>
            <p:cNvSpPr>
              <a:spLocks noChangeArrowheads="1"/>
            </p:cNvSpPr>
            <p:nvPr/>
          </p:nvSpPr>
          <p:spPr bwMode="auto">
            <a:xfrm>
              <a:off x="5397" y="1073"/>
              <a:ext cx="95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89" name="Oval 94"/>
            <p:cNvSpPr>
              <a:spLocks noChangeArrowheads="1"/>
            </p:cNvSpPr>
            <p:nvPr/>
          </p:nvSpPr>
          <p:spPr bwMode="auto">
            <a:xfrm>
              <a:off x="5514" y="1074"/>
              <a:ext cx="96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0" name="Oval 95"/>
            <p:cNvSpPr>
              <a:spLocks noChangeArrowheads="1"/>
            </p:cNvSpPr>
            <p:nvPr/>
          </p:nvSpPr>
          <p:spPr bwMode="auto">
            <a:xfrm>
              <a:off x="5630" y="1072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1" name="Oval 96"/>
            <p:cNvSpPr>
              <a:spLocks noChangeArrowheads="1"/>
            </p:cNvSpPr>
            <p:nvPr/>
          </p:nvSpPr>
          <p:spPr bwMode="auto">
            <a:xfrm>
              <a:off x="5747" y="1073"/>
              <a:ext cx="93" cy="84"/>
            </a:xfrm>
            <a:prstGeom prst="ellipse">
              <a:avLst/>
            </a:prstGeom>
            <a:solidFill>
              <a:srgbClr val="3D76C1">
                <a:alpha val="3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2" name="Oval 97"/>
            <p:cNvSpPr>
              <a:spLocks noChangeArrowheads="1"/>
            </p:cNvSpPr>
            <p:nvPr/>
          </p:nvSpPr>
          <p:spPr bwMode="auto">
            <a:xfrm>
              <a:off x="2687" y="1190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3" name="Oval 98"/>
            <p:cNvSpPr>
              <a:spLocks noChangeArrowheads="1"/>
            </p:cNvSpPr>
            <p:nvPr/>
          </p:nvSpPr>
          <p:spPr bwMode="auto">
            <a:xfrm>
              <a:off x="2804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4" name="Oval 99"/>
            <p:cNvSpPr>
              <a:spLocks noChangeArrowheads="1"/>
            </p:cNvSpPr>
            <p:nvPr/>
          </p:nvSpPr>
          <p:spPr bwMode="auto">
            <a:xfrm>
              <a:off x="2921" y="1189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5" name="Oval 100"/>
            <p:cNvSpPr>
              <a:spLocks noChangeArrowheads="1"/>
            </p:cNvSpPr>
            <p:nvPr/>
          </p:nvSpPr>
          <p:spPr bwMode="auto">
            <a:xfrm>
              <a:off x="3038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6" name="Oval 101"/>
            <p:cNvSpPr>
              <a:spLocks noChangeArrowheads="1"/>
            </p:cNvSpPr>
            <p:nvPr/>
          </p:nvSpPr>
          <p:spPr bwMode="auto">
            <a:xfrm>
              <a:off x="3155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7" name="Oval 102"/>
            <p:cNvSpPr>
              <a:spLocks noChangeArrowheads="1"/>
            </p:cNvSpPr>
            <p:nvPr/>
          </p:nvSpPr>
          <p:spPr bwMode="auto">
            <a:xfrm>
              <a:off x="3271" y="1186"/>
              <a:ext cx="95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8" name="Oval 103"/>
            <p:cNvSpPr>
              <a:spLocks noChangeArrowheads="1"/>
            </p:cNvSpPr>
            <p:nvPr/>
          </p:nvSpPr>
          <p:spPr bwMode="auto">
            <a:xfrm>
              <a:off x="3396" y="1188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99" name="Oval 104"/>
            <p:cNvSpPr>
              <a:spLocks noChangeArrowheads="1"/>
            </p:cNvSpPr>
            <p:nvPr/>
          </p:nvSpPr>
          <p:spPr bwMode="auto">
            <a:xfrm>
              <a:off x="3513" y="1186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0" name="Oval 105"/>
            <p:cNvSpPr>
              <a:spLocks noChangeArrowheads="1"/>
            </p:cNvSpPr>
            <p:nvPr/>
          </p:nvSpPr>
          <p:spPr bwMode="auto">
            <a:xfrm>
              <a:off x="3630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1" name="Oval 106"/>
            <p:cNvSpPr>
              <a:spLocks noChangeArrowheads="1"/>
            </p:cNvSpPr>
            <p:nvPr/>
          </p:nvSpPr>
          <p:spPr bwMode="auto">
            <a:xfrm>
              <a:off x="3747" y="1185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2" name="Oval 107"/>
            <p:cNvSpPr>
              <a:spLocks noChangeArrowheads="1"/>
            </p:cNvSpPr>
            <p:nvPr/>
          </p:nvSpPr>
          <p:spPr bwMode="auto">
            <a:xfrm>
              <a:off x="3863" y="1186"/>
              <a:ext cx="93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3" name="Oval 108"/>
            <p:cNvSpPr>
              <a:spLocks noChangeArrowheads="1"/>
            </p:cNvSpPr>
            <p:nvPr/>
          </p:nvSpPr>
          <p:spPr bwMode="auto">
            <a:xfrm>
              <a:off x="3980" y="1184"/>
              <a:ext cx="94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4" name="Oval 109"/>
            <p:cNvSpPr>
              <a:spLocks noChangeArrowheads="1"/>
            </p:cNvSpPr>
            <p:nvPr/>
          </p:nvSpPr>
          <p:spPr bwMode="auto">
            <a:xfrm>
              <a:off x="4105" y="1189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5" name="Oval 110"/>
            <p:cNvSpPr>
              <a:spLocks noChangeArrowheads="1"/>
            </p:cNvSpPr>
            <p:nvPr/>
          </p:nvSpPr>
          <p:spPr bwMode="auto">
            <a:xfrm>
              <a:off x="4222" y="1187"/>
              <a:ext cx="92" cy="84"/>
            </a:xfrm>
            <a:prstGeom prst="ellipse">
              <a:avLst/>
            </a:prstGeom>
            <a:solidFill>
              <a:srgbClr val="3D76C1">
                <a:alpha val="20000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6" name="Oval 111"/>
            <p:cNvSpPr>
              <a:spLocks noChangeArrowheads="1"/>
            </p:cNvSpPr>
            <p:nvPr/>
          </p:nvSpPr>
          <p:spPr bwMode="auto">
            <a:xfrm>
              <a:off x="2696" y="1310"/>
              <a:ext cx="93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7" name="Oval 112"/>
            <p:cNvSpPr>
              <a:spLocks noChangeArrowheads="1"/>
            </p:cNvSpPr>
            <p:nvPr/>
          </p:nvSpPr>
          <p:spPr bwMode="auto">
            <a:xfrm>
              <a:off x="2813" y="1308"/>
              <a:ext cx="92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8" name="Oval 113"/>
            <p:cNvSpPr>
              <a:spLocks noChangeArrowheads="1"/>
            </p:cNvSpPr>
            <p:nvPr/>
          </p:nvSpPr>
          <p:spPr bwMode="auto">
            <a:xfrm>
              <a:off x="3271" y="1305"/>
              <a:ext cx="95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  <p:sp>
          <p:nvSpPr>
            <p:cNvPr id="109" name="Oval 114"/>
            <p:cNvSpPr>
              <a:spLocks noChangeArrowheads="1"/>
            </p:cNvSpPr>
            <p:nvPr/>
          </p:nvSpPr>
          <p:spPr bwMode="auto">
            <a:xfrm>
              <a:off x="3411" y="1304"/>
              <a:ext cx="94" cy="84"/>
            </a:xfrm>
            <a:prstGeom prst="ellipse">
              <a:avLst/>
            </a:prstGeom>
            <a:solidFill>
              <a:srgbClr val="3D9CCD">
                <a:alpha val="10196"/>
              </a:srgbClr>
            </a:solidFill>
            <a:ln w="9525" algn="ctr">
              <a:noFill/>
              <a:round/>
              <a:headEnd/>
              <a:tailEnd/>
            </a:ln>
          </p:spPr>
          <p:txBody>
            <a:bodyPr wrap="none" anchor="ctr"/>
            <a:lstStyle/>
            <a:p>
              <a:pPr latinLnBrk="1">
                <a:defRPr/>
              </a:pPr>
              <a:endParaRPr lang="zh-TW" altLang="zh-TW" sz="1800">
                <a:ea typeface="Gulim" pitchFamily="34" charset="-127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920" y="1600205"/>
            <a:ext cx="8229601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881" y="4406905"/>
            <a:ext cx="777168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881" y="2906713"/>
            <a:ext cx="7771681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922" y="1600205"/>
            <a:ext cx="4044961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1123" y="1600205"/>
            <a:ext cx="40464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920" y="1535113"/>
            <a:ext cx="403920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920" y="2174875"/>
            <a:ext cx="403920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442" y="1535113"/>
            <a:ext cx="4042081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442" y="2174875"/>
            <a:ext cx="4042081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15313" y="6429375"/>
            <a:ext cx="928687" cy="428625"/>
          </a:xfr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fld id="{77D1C4A8-558D-427A-8728-22F7F1A4D8C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15313" y="6429375"/>
            <a:ext cx="928687" cy="428625"/>
          </a:xfrm>
        </p:spPr>
        <p:txBody>
          <a:bodyPr/>
          <a:lstStyle>
            <a:lvl1pPr>
              <a:defRPr sz="2000"/>
            </a:lvl1pPr>
          </a:lstStyle>
          <a:p>
            <a:pPr>
              <a:defRPr/>
            </a:pPr>
            <a:fld id="{5B863836-1B88-4816-9645-8A49CEE4561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2" y="273050"/>
            <a:ext cx="3008161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521" y="273055"/>
            <a:ext cx="511200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922" y="1435103"/>
            <a:ext cx="3008161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802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802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802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920" y="274638"/>
            <a:ext cx="8229601" cy="1143000"/>
          </a:xfrm>
          <a:prstGeom prst="rect">
            <a:avLst/>
          </a:prstGeo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920" y="1600205"/>
            <a:ext cx="8229601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31203" y="274643"/>
            <a:ext cx="205632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922" y="274643"/>
            <a:ext cx="6035041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920" y="-26988"/>
            <a:ext cx="8229601" cy="114300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922" y="1268418"/>
            <a:ext cx="4044961" cy="5113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1123" y="1268418"/>
            <a:ext cx="4046400" cy="51133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pull dir="r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441" y="2130430"/>
            <a:ext cx="777312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2323" y="3886200"/>
            <a:ext cx="6400799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  <p:transition>
    <p:pull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rotWithShape="0">
          <a:gsLst>
            <a:gs pos="0">
              <a:schemeClr val="bg1"/>
            </a:gs>
            <a:gs pos="100000">
              <a:srgbClr val="FFFFFF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ubbar"/>
          <p:cNvPicPr>
            <a:picLocks noChangeAspect="1" noChangeArrowheads="1"/>
          </p:cNvPicPr>
          <p:nvPr/>
        </p:nvPicPr>
        <p:blipFill>
          <a:blip r:embed="rId15">
            <a:lum bright="-36000"/>
          </a:blip>
          <a:srcRect l="189" r="267"/>
          <a:stretch>
            <a:fillRect/>
          </a:stretch>
        </p:blipFill>
        <p:spPr bwMode="auto">
          <a:xfrm>
            <a:off x="0" y="0"/>
            <a:ext cx="9144000" cy="102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Line 3"/>
          <p:cNvSpPr>
            <a:spLocks noChangeShapeType="1"/>
          </p:cNvSpPr>
          <p:nvPr/>
        </p:nvSpPr>
        <p:spPr bwMode="auto">
          <a:xfrm>
            <a:off x="0" y="1066800"/>
            <a:ext cx="9144000" cy="1588"/>
          </a:xfrm>
          <a:prstGeom prst="line">
            <a:avLst/>
          </a:prstGeom>
          <a:noFill/>
          <a:ln w="28575">
            <a:solidFill>
              <a:srgbClr val="236485"/>
            </a:solidFill>
            <a:round/>
            <a:headEnd/>
            <a:tailEnd/>
          </a:ln>
          <a:effectLst>
            <a:outerShdw dist="35921" dir="2700000" algn="ctr" rotWithShape="0">
              <a:srgbClr val="90C060">
                <a:alpha val="50000"/>
              </a:srgbClr>
            </a:outerShdw>
          </a:effectLst>
        </p:spPr>
        <p:txBody>
          <a:bodyPr/>
          <a:lstStyle/>
          <a:p>
            <a:pPr>
              <a:defRPr/>
            </a:pPr>
            <a:endParaRPr lang="zh-CN" altLang="en-US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68413"/>
            <a:ext cx="8229600" cy="5113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-26988"/>
            <a:ext cx="8229600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4"/>
          </p:nvPr>
        </p:nvSpPr>
        <p:spPr>
          <a:xfrm>
            <a:off x="8572500" y="6429375"/>
            <a:ext cx="571500" cy="42862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11855950-1543-45A1-82B8-65421D6DF49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</p:sldLayoutIdLst>
  <p:transition>
    <p:pull dir="ru"/>
  </p:transition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黑体" pitchFamily="2" charset="-122"/>
          <a:ea typeface="黑体" pitchFamily="2" charset="-122"/>
          <a:cs typeface="Tahoma" pitchFamily="34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3600" b="1">
          <a:solidFill>
            <a:schemeClr val="tx2"/>
          </a:solidFill>
          <a:latin typeface="굴림" pitchFamily="50" charset="-127"/>
          <a:ea typeface="굴림" pitchFamily="50" charset="-127"/>
          <a:cs typeface="Tahoma" pitchFamily="34" charset="0"/>
        </a:defRPr>
      </a:lvl9pPr>
    </p:titleStyle>
    <p:bodyStyle>
      <a:lvl1pPr marL="447675" indent="-447675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Font typeface="Wingdings" pitchFamily="2" charset="2"/>
        <a:buChar char="Ø"/>
        <a:defRPr kumimoji="1" sz="32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1pPr>
      <a:lvl2pPr marL="889000" indent="-439738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itchFamily="18" charset="2"/>
        <a:buBlip>
          <a:blip r:embed="rId16"/>
        </a:buBlip>
        <a:defRPr kumimoji="1" sz="28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2pPr>
      <a:lvl3pPr marL="1293813" indent="-403225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5000"/>
        <a:buFont typeface="Wingdings" pitchFamily="2" charset="2"/>
        <a:buChar char="l"/>
        <a:defRPr kumimoji="1" sz="24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3pPr>
      <a:lvl4pPr marL="1681163" indent="-385763" algn="l" rtl="0" eaLnBrk="0" fontAlgn="base" latinLnBrk="1" hangingPunct="0">
        <a:spcBef>
          <a:spcPct val="20000"/>
        </a:spcBef>
        <a:spcAft>
          <a:spcPct val="0"/>
        </a:spcAft>
        <a:buClr>
          <a:srgbClr val="000099"/>
        </a:buClr>
        <a:buSzPct val="70000"/>
        <a:buFont typeface="Wingdings" pitchFamily="2" charset="2"/>
        <a:buChar char="u"/>
        <a:defRPr kumimoji="1" sz="20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4pPr>
      <a:lvl5pPr marL="2070100" indent="-387350" algn="l" rtl="0" eaLnBrk="0" fontAlgn="base" latinLnBrk="1" hangingPunct="0">
        <a:spcBef>
          <a:spcPct val="20000"/>
        </a:spcBef>
        <a:spcAft>
          <a:spcPct val="0"/>
        </a:spcAft>
        <a:buClr>
          <a:srgbClr val="6699FF"/>
        </a:buClr>
        <a:buFont typeface="Wingdings 2" pitchFamily="18" charset="2"/>
        <a:buChar char="ò"/>
        <a:defRPr kumimoji="1" sz="2000">
          <a:solidFill>
            <a:srgbClr val="333399"/>
          </a:solidFill>
          <a:latin typeface="黑体" pitchFamily="2" charset="-122"/>
          <a:ea typeface="黑体" pitchFamily="2" charset="-122"/>
          <a:cs typeface="+mn-cs"/>
        </a:defRPr>
      </a:lvl5pPr>
      <a:lvl6pPr marL="25273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6pPr>
      <a:lvl7pPr marL="29845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7pPr>
      <a:lvl8pPr marL="34417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8pPr>
      <a:lvl9pPr marL="3898900" indent="-387350" algn="l" rtl="0" fontAlgn="base" latinLnBrk="1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" pitchFamily="2" charset="2"/>
        <a:buChar char="v"/>
        <a:defRPr kumimoji="1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7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1.bin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6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4" Type="http://schemas.openxmlformats.org/officeDocument/2006/relationships/oleObject" Target="../embeddings/oleObject18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21.bin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4.bin"/><Relationship Id="rId5" Type="http://schemas.openxmlformats.org/officeDocument/2006/relationships/oleObject" Target="../embeddings/oleObject23.bin"/><Relationship Id="rId4" Type="http://schemas.openxmlformats.org/officeDocument/2006/relationships/oleObject" Target="../embeddings/oleObject22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4.bin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28.bin"/><Relationship Id="rId12" Type="http://schemas.openxmlformats.org/officeDocument/2006/relationships/oleObject" Target="../embeddings/oleObject33.bin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7.bin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27.bin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6.bin"/><Relationship Id="rId15" Type="http://schemas.openxmlformats.org/officeDocument/2006/relationships/oleObject" Target="../embeddings/oleObject36.bin"/><Relationship Id="rId10" Type="http://schemas.openxmlformats.org/officeDocument/2006/relationships/oleObject" Target="../embeddings/oleObject31.bin"/><Relationship Id="rId4" Type="http://schemas.openxmlformats.org/officeDocument/2006/relationships/oleObject" Target="../embeddings/oleObject25.bin"/><Relationship Id="rId9" Type="http://schemas.openxmlformats.org/officeDocument/2006/relationships/oleObject" Target="../embeddings/oleObject30.bin"/><Relationship Id="rId14" Type="http://schemas.openxmlformats.org/officeDocument/2006/relationships/oleObject" Target="../embeddings/oleObject35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4.bin"/><Relationship Id="rId13" Type="http://schemas.openxmlformats.org/officeDocument/2006/relationships/oleObject" Target="../embeddings/oleObject49.bin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3.bin"/><Relationship Id="rId12" Type="http://schemas.openxmlformats.org/officeDocument/2006/relationships/oleObject" Target="../embeddings/oleObject4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42.bin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51.bin"/><Relationship Id="rId10" Type="http://schemas.openxmlformats.org/officeDocument/2006/relationships/oleObject" Target="../embeddings/oleObject46.bin"/><Relationship Id="rId4" Type="http://schemas.openxmlformats.org/officeDocument/2006/relationships/oleObject" Target="../embeddings/oleObject40.bin"/><Relationship Id="rId9" Type="http://schemas.openxmlformats.org/officeDocument/2006/relationships/oleObject" Target="../embeddings/oleObject45.bin"/><Relationship Id="rId14" Type="http://schemas.openxmlformats.org/officeDocument/2006/relationships/oleObject" Target="../embeddings/oleObject50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6.bin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54.bin"/><Relationship Id="rId5" Type="http://schemas.openxmlformats.org/officeDocument/2006/relationships/oleObject" Target="../embeddings/oleObject53.bin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2.bin"/><Relationship Id="rId9" Type="http://schemas.openxmlformats.org/officeDocument/2006/relationships/oleObject" Target="../embeddings/oleObject57.bin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3.bin"/><Relationship Id="rId13" Type="http://schemas.openxmlformats.org/officeDocument/2006/relationships/oleObject" Target="../embeddings/oleObject68.bin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62.bin"/><Relationship Id="rId12" Type="http://schemas.openxmlformats.org/officeDocument/2006/relationships/oleObject" Target="../embeddings/oleObject67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71.bin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61.bin"/><Relationship Id="rId11" Type="http://schemas.openxmlformats.org/officeDocument/2006/relationships/oleObject" Target="../embeddings/oleObject66.bin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70.bin"/><Relationship Id="rId10" Type="http://schemas.openxmlformats.org/officeDocument/2006/relationships/oleObject" Target="../embeddings/oleObject65.bin"/><Relationship Id="rId4" Type="http://schemas.openxmlformats.org/officeDocument/2006/relationships/oleObject" Target="../embeddings/oleObject59.bin"/><Relationship Id="rId9" Type="http://schemas.openxmlformats.org/officeDocument/2006/relationships/oleObject" Target="../embeddings/oleObject64.bin"/><Relationship Id="rId14" Type="http://schemas.openxmlformats.org/officeDocument/2006/relationships/oleObject" Target="../embeddings/oleObject69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13" Type="http://schemas.openxmlformats.org/officeDocument/2006/relationships/oleObject" Target="../embeddings/oleObject81.bin"/><Relationship Id="rId18" Type="http://schemas.openxmlformats.org/officeDocument/2006/relationships/oleObject" Target="../embeddings/oleObject86.bin"/><Relationship Id="rId3" Type="http://schemas.openxmlformats.org/officeDocument/2006/relationships/notesSlide" Target="../notesSlides/notesSlide15.xml"/><Relationship Id="rId21" Type="http://schemas.openxmlformats.org/officeDocument/2006/relationships/oleObject" Target="../embeddings/oleObject89.bin"/><Relationship Id="rId7" Type="http://schemas.openxmlformats.org/officeDocument/2006/relationships/oleObject" Target="../embeddings/oleObject75.bin"/><Relationship Id="rId12" Type="http://schemas.openxmlformats.org/officeDocument/2006/relationships/oleObject" Target="../embeddings/oleObject80.bin"/><Relationship Id="rId17" Type="http://schemas.openxmlformats.org/officeDocument/2006/relationships/oleObject" Target="../embeddings/oleObject85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84.bin"/><Relationship Id="rId20" Type="http://schemas.openxmlformats.org/officeDocument/2006/relationships/oleObject" Target="../embeddings/oleObject88.bin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74.bin"/><Relationship Id="rId11" Type="http://schemas.openxmlformats.org/officeDocument/2006/relationships/oleObject" Target="../embeddings/oleObject79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83.bin"/><Relationship Id="rId10" Type="http://schemas.openxmlformats.org/officeDocument/2006/relationships/oleObject" Target="../embeddings/oleObject78.bin"/><Relationship Id="rId19" Type="http://schemas.openxmlformats.org/officeDocument/2006/relationships/oleObject" Target="../embeddings/oleObject87.bin"/><Relationship Id="rId4" Type="http://schemas.openxmlformats.org/officeDocument/2006/relationships/oleObject" Target="../embeddings/oleObject72.bin"/><Relationship Id="rId9" Type="http://schemas.openxmlformats.org/officeDocument/2006/relationships/oleObject" Target="../embeddings/oleObject77.bin"/><Relationship Id="rId14" Type="http://schemas.openxmlformats.org/officeDocument/2006/relationships/oleObject" Target="../embeddings/oleObject82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13" Type="http://schemas.openxmlformats.org/officeDocument/2006/relationships/oleObject" Target="../embeddings/oleObject99.bin"/><Relationship Id="rId3" Type="http://schemas.openxmlformats.org/officeDocument/2006/relationships/notesSlide" Target="../notesSlides/notesSlide18.xml"/><Relationship Id="rId7" Type="http://schemas.openxmlformats.org/officeDocument/2006/relationships/oleObject" Target="../embeddings/oleObject93.bin"/><Relationship Id="rId12" Type="http://schemas.openxmlformats.org/officeDocument/2006/relationships/oleObject" Target="../embeddings/oleObject9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92.bin"/><Relationship Id="rId11" Type="http://schemas.openxmlformats.org/officeDocument/2006/relationships/oleObject" Target="../embeddings/oleObject97.bin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101.bin"/><Relationship Id="rId10" Type="http://schemas.openxmlformats.org/officeDocument/2006/relationships/oleObject" Target="../embeddings/oleObject96.bin"/><Relationship Id="rId4" Type="http://schemas.openxmlformats.org/officeDocument/2006/relationships/oleObject" Target="../embeddings/oleObject90.bin"/><Relationship Id="rId9" Type="http://schemas.openxmlformats.org/officeDocument/2006/relationships/oleObject" Target="../embeddings/oleObject95.bin"/><Relationship Id="rId14" Type="http://schemas.openxmlformats.org/officeDocument/2006/relationships/oleObject" Target="../embeddings/oleObject100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6.bin"/><Relationship Id="rId13" Type="http://schemas.openxmlformats.org/officeDocument/2006/relationships/oleObject" Target="../embeddings/oleObject111.bin"/><Relationship Id="rId3" Type="http://schemas.openxmlformats.org/officeDocument/2006/relationships/notesSlide" Target="../notesSlides/notesSlide19.xml"/><Relationship Id="rId7" Type="http://schemas.openxmlformats.org/officeDocument/2006/relationships/oleObject" Target="../embeddings/oleObject105.bin"/><Relationship Id="rId12" Type="http://schemas.openxmlformats.org/officeDocument/2006/relationships/oleObject" Target="../embeddings/oleObject1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104.bin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3.bin"/><Relationship Id="rId15" Type="http://schemas.openxmlformats.org/officeDocument/2006/relationships/oleObject" Target="../embeddings/oleObject113.bin"/><Relationship Id="rId10" Type="http://schemas.openxmlformats.org/officeDocument/2006/relationships/oleObject" Target="../embeddings/oleObject108.bin"/><Relationship Id="rId4" Type="http://schemas.openxmlformats.org/officeDocument/2006/relationships/oleObject" Target="../embeddings/oleObject102.bin"/><Relationship Id="rId9" Type="http://schemas.openxmlformats.org/officeDocument/2006/relationships/oleObject" Target="../embeddings/oleObject107.bin"/><Relationship Id="rId14" Type="http://schemas.openxmlformats.org/officeDocument/2006/relationships/oleObject" Target="../embeddings/oleObject112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9.bin"/><Relationship Id="rId13" Type="http://schemas.openxmlformats.org/officeDocument/2006/relationships/oleObject" Target="../embeddings/oleObject124.bin"/><Relationship Id="rId18" Type="http://schemas.openxmlformats.org/officeDocument/2006/relationships/oleObject" Target="../embeddings/oleObject129.bin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8.bin"/><Relationship Id="rId12" Type="http://schemas.openxmlformats.org/officeDocument/2006/relationships/oleObject" Target="../embeddings/oleObject123.bin"/><Relationship Id="rId17" Type="http://schemas.openxmlformats.org/officeDocument/2006/relationships/oleObject" Target="../embeddings/oleObject12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27.bin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117.bin"/><Relationship Id="rId11" Type="http://schemas.openxmlformats.org/officeDocument/2006/relationships/oleObject" Target="../embeddings/oleObject122.bin"/><Relationship Id="rId5" Type="http://schemas.openxmlformats.org/officeDocument/2006/relationships/oleObject" Target="../embeddings/oleObject116.bin"/><Relationship Id="rId15" Type="http://schemas.openxmlformats.org/officeDocument/2006/relationships/oleObject" Target="../embeddings/oleObject126.bin"/><Relationship Id="rId10" Type="http://schemas.openxmlformats.org/officeDocument/2006/relationships/oleObject" Target="../embeddings/oleObject121.bin"/><Relationship Id="rId4" Type="http://schemas.openxmlformats.org/officeDocument/2006/relationships/oleObject" Target="../embeddings/oleObject115.bin"/><Relationship Id="rId9" Type="http://schemas.openxmlformats.org/officeDocument/2006/relationships/oleObject" Target="../embeddings/oleObject120.bin"/><Relationship Id="rId14" Type="http://schemas.openxmlformats.org/officeDocument/2006/relationships/oleObject" Target="../embeddings/oleObject125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133.bin"/><Relationship Id="rId5" Type="http://schemas.openxmlformats.org/officeDocument/2006/relationships/oleObject" Target="../embeddings/oleObject132.bin"/><Relationship Id="rId4" Type="http://schemas.openxmlformats.org/officeDocument/2006/relationships/oleObject" Target="../embeddings/oleObject131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4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39.bin"/><Relationship Id="rId5" Type="http://schemas.openxmlformats.org/officeDocument/2006/relationships/oleObject" Target="../embeddings/oleObject138.bin"/><Relationship Id="rId4" Type="http://schemas.openxmlformats.org/officeDocument/2006/relationships/oleObject" Target="../embeddings/oleObject137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2.vml"/><Relationship Id="rId6" Type="http://schemas.openxmlformats.org/officeDocument/2006/relationships/oleObject" Target="../embeddings/oleObject144.bin"/><Relationship Id="rId5" Type="http://schemas.openxmlformats.org/officeDocument/2006/relationships/oleObject" Target="../embeddings/oleObject143.bin"/><Relationship Id="rId4" Type="http://schemas.openxmlformats.org/officeDocument/2006/relationships/oleObject" Target="../embeddings/oleObject142.bin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3.vml"/><Relationship Id="rId6" Type="http://schemas.openxmlformats.org/officeDocument/2006/relationships/oleObject" Target="../embeddings/oleObject148.bin"/><Relationship Id="rId5" Type="http://schemas.openxmlformats.org/officeDocument/2006/relationships/oleObject" Target="../embeddings/oleObject147.bin"/><Relationship Id="rId4" Type="http://schemas.openxmlformats.org/officeDocument/2006/relationships/oleObject" Target="../embeddings/oleObject146.bin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4.bin"/><Relationship Id="rId3" Type="http://schemas.openxmlformats.org/officeDocument/2006/relationships/oleObject" Target="../embeddings/oleObject149.bin"/><Relationship Id="rId7" Type="http://schemas.openxmlformats.org/officeDocument/2006/relationships/oleObject" Target="../embeddings/oleObject15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4.vml"/><Relationship Id="rId6" Type="http://schemas.openxmlformats.org/officeDocument/2006/relationships/oleObject" Target="../embeddings/oleObject152.bin"/><Relationship Id="rId5" Type="http://schemas.openxmlformats.org/officeDocument/2006/relationships/oleObject" Target="../embeddings/oleObject151.bin"/><Relationship Id="rId4" Type="http://schemas.openxmlformats.org/officeDocument/2006/relationships/oleObject" Target="../embeddings/oleObject150.bin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5.v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5" Type="http://schemas.openxmlformats.org/officeDocument/2006/relationships/oleObject" Target="../embeddings/oleObject157.bin"/><Relationship Id="rId4" Type="http://schemas.openxmlformats.org/officeDocument/2006/relationships/oleObject" Target="../embeddings/oleObject156.bin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7.vml"/><Relationship Id="rId6" Type="http://schemas.openxmlformats.org/officeDocument/2006/relationships/oleObject" Target="../embeddings/oleObject160.bin"/><Relationship Id="rId5" Type="http://schemas.openxmlformats.org/officeDocument/2006/relationships/oleObject" Target="../embeddings/oleObject159.bin"/><Relationship Id="rId4" Type="http://schemas.openxmlformats.org/officeDocument/2006/relationships/oleObject" Target="../embeddings/oleObject158.bin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7" Type="http://schemas.openxmlformats.org/officeDocument/2006/relationships/oleObject" Target="../embeddings/oleObject16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163.bin"/><Relationship Id="rId5" Type="http://schemas.openxmlformats.org/officeDocument/2006/relationships/oleObject" Target="../embeddings/oleObject162.bin"/><Relationship Id="rId4" Type="http://schemas.openxmlformats.org/officeDocument/2006/relationships/oleObject" Target="../embeddings/oleObject161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9.bin"/><Relationship Id="rId3" Type="http://schemas.openxmlformats.org/officeDocument/2006/relationships/notesSlide" Target="../notesSlides/notesSlide27.xml"/><Relationship Id="rId7" Type="http://schemas.openxmlformats.org/officeDocument/2006/relationships/oleObject" Target="../embeddings/oleObject16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9.vml"/><Relationship Id="rId6" Type="http://schemas.openxmlformats.org/officeDocument/2006/relationships/oleObject" Target="../embeddings/oleObject167.bin"/><Relationship Id="rId11" Type="http://schemas.openxmlformats.org/officeDocument/2006/relationships/oleObject" Target="../embeddings/oleObject172.bin"/><Relationship Id="rId5" Type="http://schemas.openxmlformats.org/officeDocument/2006/relationships/oleObject" Target="../embeddings/oleObject166.bin"/><Relationship Id="rId10" Type="http://schemas.openxmlformats.org/officeDocument/2006/relationships/oleObject" Target="../embeddings/oleObject171.bin"/><Relationship Id="rId4" Type="http://schemas.openxmlformats.org/officeDocument/2006/relationships/oleObject" Target="../embeddings/oleObject165.bin"/><Relationship Id="rId9" Type="http://schemas.openxmlformats.org/officeDocument/2006/relationships/oleObject" Target="../embeddings/oleObject170.bin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7.bin"/><Relationship Id="rId3" Type="http://schemas.openxmlformats.org/officeDocument/2006/relationships/notesSlide" Target="../notesSlides/notesSlide28.xml"/><Relationship Id="rId7" Type="http://schemas.openxmlformats.org/officeDocument/2006/relationships/oleObject" Target="../embeddings/oleObject1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0.vml"/><Relationship Id="rId6" Type="http://schemas.openxmlformats.org/officeDocument/2006/relationships/oleObject" Target="../embeddings/oleObject175.bin"/><Relationship Id="rId11" Type="http://schemas.openxmlformats.org/officeDocument/2006/relationships/oleObject" Target="../embeddings/oleObject180.bin"/><Relationship Id="rId5" Type="http://schemas.openxmlformats.org/officeDocument/2006/relationships/oleObject" Target="../embeddings/oleObject174.bin"/><Relationship Id="rId10" Type="http://schemas.openxmlformats.org/officeDocument/2006/relationships/oleObject" Target="../embeddings/oleObject179.bin"/><Relationship Id="rId4" Type="http://schemas.openxmlformats.org/officeDocument/2006/relationships/oleObject" Target="../embeddings/oleObject173.bin"/><Relationship Id="rId9" Type="http://schemas.openxmlformats.org/officeDocument/2006/relationships/oleObject" Target="../embeddings/oleObject178.bin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5.bin"/><Relationship Id="rId13" Type="http://schemas.openxmlformats.org/officeDocument/2006/relationships/oleObject" Target="../embeddings/oleObject190.bin"/><Relationship Id="rId3" Type="http://schemas.openxmlformats.org/officeDocument/2006/relationships/notesSlide" Target="../notesSlides/notesSlide29.xml"/><Relationship Id="rId7" Type="http://schemas.openxmlformats.org/officeDocument/2006/relationships/oleObject" Target="../embeddings/oleObject184.bin"/><Relationship Id="rId12" Type="http://schemas.openxmlformats.org/officeDocument/2006/relationships/oleObject" Target="../embeddings/oleObject18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1.vml"/><Relationship Id="rId6" Type="http://schemas.openxmlformats.org/officeDocument/2006/relationships/oleObject" Target="../embeddings/oleObject183.bin"/><Relationship Id="rId11" Type="http://schemas.openxmlformats.org/officeDocument/2006/relationships/oleObject" Target="../embeddings/oleObject188.bin"/><Relationship Id="rId5" Type="http://schemas.openxmlformats.org/officeDocument/2006/relationships/oleObject" Target="../embeddings/oleObject182.bin"/><Relationship Id="rId15" Type="http://schemas.openxmlformats.org/officeDocument/2006/relationships/oleObject" Target="../embeddings/oleObject192.bin"/><Relationship Id="rId10" Type="http://schemas.openxmlformats.org/officeDocument/2006/relationships/oleObject" Target="../embeddings/oleObject187.bin"/><Relationship Id="rId4" Type="http://schemas.openxmlformats.org/officeDocument/2006/relationships/oleObject" Target="../embeddings/oleObject181.bin"/><Relationship Id="rId9" Type="http://schemas.openxmlformats.org/officeDocument/2006/relationships/oleObject" Target="../embeddings/oleObject186.bin"/><Relationship Id="rId14" Type="http://schemas.openxmlformats.org/officeDocument/2006/relationships/oleObject" Target="../embeddings/oleObject191.bin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7.bin"/><Relationship Id="rId3" Type="http://schemas.openxmlformats.org/officeDocument/2006/relationships/notesSlide" Target="../notesSlides/notesSlide30.xml"/><Relationship Id="rId7" Type="http://schemas.openxmlformats.org/officeDocument/2006/relationships/oleObject" Target="../embeddings/oleObject19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2.vml"/><Relationship Id="rId6" Type="http://schemas.openxmlformats.org/officeDocument/2006/relationships/oleObject" Target="../embeddings/oleObject195.bin"/><Relationship Id="rId5" Type="http://schemas.openxmlformats.org/officeDocument/2006/relationships/oleObject" Target="../embeddings/oleObject194.bin"/><Relationship Id="rId10" Type="http://schemas.openxmlformats.org/officeDocument/2006/relationships/oleObject" Target="../embeddings/oleObject199.bin"/><Relationship Id="rId4" Type="http://schemas.openxmlformats.org/officeDocument/2006/relationships/oleObject" Target="../embeddings/oleObject193.bin"/><Relationship Id="rId9" Type="http://schemas.openxmlformats.org/officeDocument/2006/relationships/oleObject" Target="../embeddings/oleObject198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4.bin"/><Relationship Id="rId3" Type="http://schemas.openxmlformats.org/officeDocument/2006/relationships/notesSlide" Target="../notesSlides/notesSlide33.xml"/><Relationship Id="rId7" Type="http://schemas.openxmlformats.org/officeDocument/2006/relationships/oleObject" Target="../embeddings/oleObject203.bin"/><Relationship Id="rId12" Type="http://schemas.openxmlformats.org/officeDocument/2006/relationships/oleObject" Target="../embeddings/oleObject20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202.bin"/><Relationship Id="rId11" Type="http://schemas.openxmlformats.org/officeDocument/2006/relationships/oleObject" Target="../embeddings/oleObject207.bin"/><Relationship Id="rId5" Type="http://schemas.openxmlformats.org/officeDocument/2006/relationships/oleObject" Target="../embeddings/oleObject201.bin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0.bin"/><Relationship Id="rId9" Type="http://schemas.openxmlformats.org/officeDocument/2006/relationships/oleObject" Target="../embeddings/oleObject205.bin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4.vml"/><Relationship Id="rId5" Type="http://schemas.openxmlformats.org/officeDocument/2006/relationships/oleObject" Target="../embeddings/oleObject209.bin"/><Relationship Id="rId4" Type="http://schemas.openxmlformats.org/officeDocument/2006/relationships/image" Target="../media/image17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5.vml"/><Relationship Id="rId6" Type="http://schemas.openxmlformats.org/officeDocument/2006/relationships/oleObject" Target="../embeddings/oleObject213.bin"/><Relationship Id="rId5" Type="http://schemas.openxmlformats.org/officeDocument/2006/relationships/oleObject" Target="../embeddings/oleObject212.bin"/><Relationship Id="rId4" Type="http://schemas.openxmlformats.org/officeDocument/2006/relationships/oleObject" Target="../embeddings/oleObject211.bin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6.vml"/><Relationship Id="rId4" Type="http://schemas.openxmlformats.org/officeDocument/2006/relationships/oleObject" Target="../embeddings/oleObject214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7.vml"/><Relationship Id="rId4" Type="http://schemas.openxmlformats.org/officeDocument/2006/relationships/oleObject" Target="../embeddings/oleObject215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8.vml"/><Relationship Id="rId4" Type="http://schemas.openxmlformats.org/officeDocument/2006/relationships/oleObject" Target="../embeddings/oleObject216.bin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oleObject" Target="../embeddings/oleObject2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9.vml"/><Relationship Id="rId6" Type="http://schemas.openxmlformats.org/officeDocument/2006/relationships/oleObject" Target="../embeddings/oleObject219.bin"/><Relationship Id="rId5" Type="http://schemas.openxmlformats.org/officeDocument/2006/relationships/oleObject" Target="../embeddings/oleObject218.bin"/><Relationship Id="rId4" Type="http://schemas.openxmlformats.org/officeDocument/2006/relationships/oleObject" Target="../embeddings/oleObject217.bin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5.bin"/><Relationship Id="rId13" Type="http://schemas.openxmlformats.org/officeDocument/2006/relationships/oleObject" Target="../embeddings/oleObject230.bin"/><Relationship Id="rId3" Type="http://schemas.openxmlformats.org/officeDocument/2006/relationships/notesSlide" Target="../notesSlides/notesSlide42.xml"/><Relationship Id="rId7" Type="http://schemas.openxmlformats.org/officeDocument/2006/relationships/oleObject" Target="../embeddings/oleObject224.bin"/><Relationship Id="rId12" Type="http://schemas.openxmlformats.org/officeDocument/2006/relationships/oleObject" Target="../embeddings/oleObject229.bin"/><Relationship Id="rId17" Type="http://schemas.openxmlformats.org/officeDocument/2006/relationships/oleObject" Target="../embeddings/oleObject234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233.bin"/><Relationship Id="rId1" Type="http://schemas.openxmlformats.org/officeDocument/2006/relationships/vmlDrawing" Target="../drawings/vmlDrawing40.vml"/><Relationship Id="rId6" Type="http://schemas.openxmlformats.org/officeDocument/2006/relationships/oleObject" Target="../embeddings/oleObject223.bin"/><Relationship Id="rId11" Type="http://schemas.openxmlformats.org/officeDocument/2006/relationships/oleObject" Target="../embeddings/oleObject228.bin"/><Relationship Id="rId5" Type="http://schemas.openxmlformats.org/officeDocument/2006/relationships/oleObject" Target="../embeddings/oleObject222.bin"/><Relationship Id="rId15" Type="http://schemas.openxmlformats.org/officeDocument/2006/relationships/oleObject" Target="../embeddings/oleObject232.bin"/><Relationship Id="rId10" Type="http://schemas.openxmlformats.org/officeDocument/2006/relationships/oleObject" Target="../embeddings/oleObject227.bin"/><Relationship Id="rId4" Type="http://schemas.openxmlformats.org/officeDocument/2006/relationships/oleObject" Target="../embeddings/oleObject221.bin"/><Relationship Id="rId9" Type="http://schemas.openxmlformats.org/officeDocument/2006/relationships/oleObject" Target="../embeddings/oleObject226.bin"/><Relationship Id="rId14" Type="http://schemas.openxmlformats.org/officeDocument/2006/relationships/oleObject" Target="../embeddings/oleObject231.bin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png"/><Relationship Id="rId2" Type="http://schemas.openxmlformats.org/officeDocument/2006/relationships/image" Target="../media/image20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5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9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1.vml"/><Relationship Id="rId6" Type="http://schemas.openxmlformats.org/officeDocument/2006/relationships/oleObject" Target="../embeddings/oleObject236.bin"/><Relationship Id="rId5" Type="http://schemas.openxmlformats.org/officeDocument/2006/relationships/oleObject" Target="../embeddings/oleObject235.bin"/><Relationship Id="rId4" Type="http://schemas.openxmlformats.org/officeDocument/2006/relationships/image" Target="../media/image214.png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8.png"/><Relationship Id="rId2" Type="http://schemas.openxmlformats.org/officeDocument/2006/relationships/image" Target="../media/image217.png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9.png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2.png"/><Relationship Id="rId2" Type="http://schemas.openxmlformats.org/officeDocument/2006/relationships/image" Target="../media/image22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3.png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5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ChangeArrowheads="1"/>
          </p:cNvSpPr>
          <p:nvPr/>
        </p:nvSpPr>
        <p:spPr bwMode="auto">
          <a:xfrm>
            <a:off x="0" y="-26988"/>
            <a:ext cx="7543800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zh-CN" altLang="en-US" sz="44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第三节 域</a:t>
            </a:r>
          </a:p>
        </p:txBody>
      </p:sp>
      <p:sp>
        <p:nvSpPr>
          <p:cNvPr id="17410" name="Rectangle 5"/>
          <p:cNvSpPr>
            <a:spLocks noRot="1" noChangeArrowheads="1"/>
          </p:cNvSpPr>
          <p:nvPr/>
        </p:nvSpPr>
        <p:spPr bwMode="auto">
          <a:xfrm>
            <a:off x="395288" y="1339850"/>
            <a:ext cx="7777162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交换的除环（</a:t>
            </a:r>
            <a:r>
              <a:rPr lang="zh-CN" altLang="en-US" sz="3200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体</a:t>
            </a:r>
            <a:r>
              <a:rPr lang="zh-CN" altLang="en-US" sz="3200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）称为域</a:t>
            </a:r>
            <a:endParaRPr lang="zh-CN" altLang="en-US" sz="320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889000" lvl="1" indent="-439738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</a:pP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有单位元、无零因子、交换环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；</a:t>
            </a:r>
          </a:p>
          <a:p>
            <a:pPr marL="889000" lvl="1" indent="-439738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33CC"/>
              </a:buClr>
              <a:buFont typeface="Wingdings" pitchFamily="2" charset="2"/>
              <a:buChar char="Ø"/>
            </a:pPr>
            <a:r>
              <a:rPr lang="zh-CN" altLang="en-US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在域上不仅可以进行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加、减、乘法</a:t>
            </a:r>
            <a:r>
              <a:rPr lang="zh-CN" altLang="en-US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运算，而且可以进行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除法</a:t>
            </a:r>
            <a:r>
              <a:rPr lang="zh-CN" altLang="en-US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运算，因此域的应用比环更为广泛。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第三节 域</a:t>
            </a:r>
          </a:p>
        </p:txBody>
      </p:sp>
      <p:grpSp>
        <p:nvGrpSpPr>
          <p:cNvPr id="18434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18459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8460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8463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64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65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8461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域的定义与基本性质</a:t>
              </a:r>
            </a:p>
          </p:txBody>
        </p:sp>
        <p:sp>
          <p:nvSpPr>
            <p:cNvPr id="18462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18435" name="Group 11"/>
          <p:cNvGrpSpPr>
            <a:grpSpLocks/>
          </p:cNvGrpSpPr>
          <p:nvPr/>
        </p:nvGrpSpPr>
        <p:grpSpPr bwMode="auto">
          <a:xfrm>
            <a:off x="661988" y="2435225"/>
            <a:ext cx="7502525" cy="841375"/>
            <a:chOff x="385" y="1162"/>
            <a:chExt cx="4309" cy="389"/>
          </a:xfrm>
        </p:grpSpPr>
        <p:sp>
          <p:nvSpPr>
            <p:cNvPr id="18452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8453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8456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57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58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8454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域上的多项式</a:t>
              </a:r>
            </a:p>
          </p:txBody>
        </p:sp>
        <p:sp>
          <p:nvSpPr>
            <p:cNvPr id="18455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18436" name="Group 27"/>
          <p:cNvGrpSpPr>
            <a:grpSpLocks/>
          </p:cNvGrpSpPr>
          <p:nvPr/>
        </p:nvGrpSpPr>
        <p:grpSpPr bwMode="auto">
          <a:xfrm>
            <a:off x="690563" y="4387850"/>
            <a:ext cx="7502525" cy="841375"/>
            <a:chOff x="385" y="1162"/>
            <a:chExt cx="4309" cy="389"/>
          </a:xfrm>
        </p:grpSpPr>
        <p:sp>
          <p:nvSpPr>
            <p:cNvPr id="18445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8446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8449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50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51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8447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有限域的特性</a:t>
              </a:r>
            </a:p>
          </p:txBody>
        </p:sp>
        <p:sp>
          <p:nvSpPr>
            <p:cNvPr id="18448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18437" name="Group 27"/>
          <p:cNvGrpSpPr>
            <a:grpSpLocks/>
          </p:cNvGrpSpPr>
          <p:nvPr/>
        </p:nvGrpSpPr>
        <p:grpSpPr bwMode="auto">
          <a:xfrm>
            <a:off x="661988" y="3402013"/>
            <a:ext cx="7502525" cy="841375"/>
            <a:chOff x="385" y="1162"/>
            <a:chExt cx="4309" cy="389"/>
          </a:xfrm>
        </p:grpSpPr>
        <p:sp>
          <p:nvSpPr>
            <p:cNvPr id="18438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18439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18442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43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18444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18440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有限域的构造</a:t>
              </a:r>
              <a:endParaRPr lang="zh-CN" altLang="en-US" sz="3200" b="1">
                <a:solidFill>
                  <a:srgbClr val="C00000"/>
                </a:solidFill>
                <a:ea typeface="楷体_GB2312" pitchFamily="49" charset="-122"/>
              </a:endParaRPr>
            </a:p>
          </p:txBody>
        </p:sp>
        <p:sp>
          <p:nvSpPr>
            <p:cNvPr id="18441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</p:spTree>
  </p:cSld>
  <p:clrMapOvr>
    <a:masterClrMapping/>
  </p:clrMapOvr>
  <p:transition spd="slow" advTm="2861">
    <p:strips dir="r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/>
        </p:nvGraphicFramePr>
        <p:xfrm>
          <a:off x="357158" y="1571613"/>
          <a:ext cx="7929618" cy="3339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48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本节学习目标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E50839-C84B-4167-B6A0-BB526CB0E793}" type="slidenum">
              <a:rPr lang="en-US" altLang="zh-CN" sz="1800" smtClean="0"/>
              <a:pPr>
                <a:defRPr/>
              </a:pPr>
              <a:t>3</a:t>
            </a:fld>
            <a:endParaRPr lang="en-US" altLang="zh-CN" sz="1800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50" name="矩形 4"/>
          <p:cNvSpPr>
            <a:spLocks noChangeArrowheads="1"/>
          </p:cNvSpPr>
          <p:nvPr/>
        </p:nvSpPr>
        <p:spPr bwMode="auto">
          <a:xfrm>
            <a:off x="428625" y="1285875"/>
            <a:ext cx="828675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环</a:t>
            </a:r>
            <a:r>
              <a:rPr kumimoji="0" lang="zh-CN" altLang="en-US" i="1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的所有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非零元关于乘法构成一个交换群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，则称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为域，简称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为域。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88148" name="Object 84"/>
          <p:cNvGraphicFramePr>
            <a:graphicFrameLocks noChangeAspect="1"/>
          </p:cNvGraphicFramePr>
          <p:nvPr/>
        </p:nvGraphicFramePr>
        <p:xfrm>
          <a:off x="2714625" y="1936750"/>
          <a:ext cx="1200150" cy="492125"/>
        </p:xfrm>
        <a:graphic>
          <a:graphicData uri="http://schemas.openxmlformats.org/presentationml/2006/ole">
            <p:oleObj spid="_x0000_s88148" name="Equation" r:id="rId4" imgW="494870" imgH="203024" progId="">
              <p:embed/>
            </p:oleObj>
          </a:graphicData>
        </a:graphic>
      </p:graphicFrame>
      <p:graphicFrame>
        <p:nvGraphicFramePr>
          <p:cNvPr id="88149" name="Object 85"/>
          <p:cNvGraphicFramePr>
            <a:graphicFrameLocks noChangeAspect="1"/>
          </p:cNvGraphicFramePr>
          <p:nvPr/>
        </p:nvGraphicFramePr>
        <p:xfrm>
          <a:off x="2363788" y="1416050"/>
          <a:ext cx="1200150" cy="492125"/>
        </p:xfrm>
        <a:graphic>
          <a:graphicData uri="http://schemas.openxmlformats.org/presentationml/2006/ole">
            <p:oleObj spid="_x0000_s88149" name="Equation" r:id="rId5" imgW="494870" imgH="203024" progId="">
              <p:embed/>
            </p:oleObj>
          </a:graphicData>
        </a:graphic>
      </p:graphicFrame>
      <p:sp>
        <p:nvSpPr>
          <p:cNvPr id="8815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C8901C0-1F4A-432A-B8CA-3688B6A6EDD8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  <p:sp>
        <p:nvSpPr>
          <p:cNvPr id="88153" name="矩形 15"/>
          <p:cNvSpPr>
            <a:spLocks noChangeArrowheads="1"/>
          </p:cNvSpPr>
          <p:nvPr/>
        </p:nvSpPr>
        <p:spPr bwMode="auto">
          <a:xfrm>
            <a:off x="428625" y="4184650"/>
            <a:ext cx="8535988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若域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有无限个元素，则称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无限域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；否则称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有限域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，并把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元素个数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。若</a:t>
            </a:r>
            <a:r>
              <a:rPr kumimoji="0"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的阶为</a:t>
            </a:r>
            <a:r>
              <a:rPr kumimoji="0" lang="en-US" altLang="zh-CN" b="1" i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，记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GF(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88154" name="矩形 17"/>
          <p:cNvSpPr>
            <a:spLocks noChangeArrowheads="1"/>
          </p:cNvSpPr>
          <p:nvPr/>
        </p:nvSpPr>
        <p:spPr bwMode="auto">
          <a:xfrm>
            <a:off x="458788" y="270827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：全体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实数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关于加法和乘法是域。</a:t>
            </a:r>
          </a:p>
        </p:txBody>
      </p:sp>
      <p:sp>
        <p:nvSpPr>
          <p:cNvPr id="88155" name="矩形 17"/>
          <p:cNvSpPr>
            <a:spLocks noChangeArrowheads="1"/>
          </p:cNvSpPr>
          <p:nvPr/>
        </p:nvSpPr>
        <p:spPr bwMode="auto">
          <a:xfrm>
            <a:off x="458788" y="3414713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：全体</a:t>
            </a:r>
            <a:r>
              <a:rPr kumimoji="0"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整数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关于加法和乘法不是域。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153" grpId="0"/>
      <p:bldP spid="88154" grpId="0"/>
      <p:bldP spid="8815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B00C0F3-BE53-470B-BD43-30D93A71964B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160863" name="Text Box 15"/>
          <p:cNvSpPr txBox="1">
            <a:spLocks noChangeArrowheads="1"/>
          </p:cNvSpPr>
          <p:nvPr/>
        </p:nvSpPr>
        <p:spPr bwMode="auto">
          <a:xfrm>
            <a:off x="419100" y="2205038"/>
            <a:ext cx="840105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257300" indent="-1257300">
              <a:lnSpc>
                <a:spcPct val="130000"/>
              </a:lnSpc>
              <a:spcBef>
                <a:spcPts val="100"/>
              </a:spcBef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9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9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={0,1,2,3,4,5,6,7,8}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，是不是域？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为什么？</a:t>
            </a:r>
            <a:endParaRPr lang="zh-CN" altLang="en-US">
              <a:solidFill>
                <a:srgbClr val="00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0864" name="Text Box 15"/>
          <p:cNvSpPr txBox="1">
            <a:spLocks noChangeArrowheads="1"/>
          </p:cNvSpPr>
          <p:nvPr/>
        </p:nvSpPr>
        <p:spPr bwMode="auto">
          <a:xfrm>
            <a:off x="357188" y="3284538"/>
            <a:ext cx="8401050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257300" indent="-1257300">
              <a:lnSpc>
                <a:spcPct val="130000"/>
              </a:lnSpc>
              <a:spcBef>
                <a:spcPts val="100"/>
              </a:spcBef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7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={0,1,2,3,4,5,6}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，是不是域？</a:t>
            </a:r>
            <a:r>
              <a:rPr kumimoji="0" lang="zh-CN" altLang="en-US" b="1">
                <a:solidFill>
                  <a:srgbClr val="0033CC"/>
                </a:solidFill>
                <a:ea typeface="楷体_GB2312" pitchFamily="49" charset="-122"/>
              </a:rPr>
              <a:t>为什么？</a:t>
            </a:r>
          </a:p>
        </p:txBody>
      </p:sp>
      <p:sp>
        <p:nvSpPr>
          <p:cNvPr id="16086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0866" name="矩形 7"/>
          <p:cNvSpPr>
            <a:spLocks noChangeArrowheads="1"/>
          </p:cNvSpPr>
          <p:nvPr/>
        </p:nvSpPr>
        <p:spPr bwMode="auto">
          <a:xfrm>
            <a:off x="428625" y="1643063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         是不是域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?</a:t>
            </a:r>
            <a:endParaRPr kumimoji="0"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0859" name="Object 91"/>
          <p:cNvGraphicFramePr>
            <a:graphicFrameLocks noChangeAspect="1"/>
          </p:cNvGraphicFramePr>
          <p:nvPr/>
        </p:nvGraphicFramePr>
        <p:xfrm>
          <a:off x="1827213" y="1733550"/>
          <a:ext cx="1536700" cy="444500"/>
        </p:xfrm>
        <a:graphic>
          <a:graphicData uri="http://schemas.openxmlformats.org/presentationml/2006/ole">
            <p:oleObj spid="_x0000_s160859" name="Equation" r:id="rId4" imgW="1536033" imgH="444307" progId="">
              <p:embed/>
            </p:oleObj>
          </a:graphicData>
        </a:graphic>
      </p:graphicFrame>
      <p:sp>
        <p:nvSpPr>
          <p:cNvPr id="160867" name="矩形 17"/>
          <p:cNvSpPr>
            <a:spLocks noChangeArrowheads="1"/>
          </p:cNvSpPr>
          <p:nvPr/>
        </p:nvSpPr>
        <p:spPr bwMode="auto">
          <a:xfrm>
            <a:off x="395288" y="442277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：全体</a:t>
            </a:r>
            <a:r>
              <a:rPr kumimoji="0"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有理数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关于加法和乘法是不是域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?</a:t>
            </a:r>
            <a:endParaRPr kumimoji="0"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0868" name="矩形 9"/>
          <p:cNvSpPr>
            <a:spLocks noChangeArrowheads="1"/>
          </p:cNvSpPr>
          <p:nvPr/>
        </p:nvSpPr>
        <p:spPr bwMode="auto">
          <a:xfrm>
            <a:off x="385763" y="5008563"/>
            <a:ext cx="84343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：实数域  上</a:t>
            </a:r>
            <a:r>
              <a:rPr lang="en-US" altLang="zh-CN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阶方阵环  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是不是域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?</a:t>
            </a:r>
            <a:endParaRPr kumimoji="0"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0860" name="Object 92"/>
          <p:cNvGraphicFramePr>
            <a:graphicFrameLocks noChangeAspect="1"/>
          </p:cNvGraphicFramePr>
          <p:nvPr/>
        </p:nvGraphicFramePr>
        <p:xfrm>
          <a:off x="2752725" y="5084763"/>
          <a:ext cx="369888" cy="400050"/>
        </p:xfrm>
        <a:graphic>
          <a:graphicData uri="http://schemas.openxmlformats.org/presentationml/2006/ole">
            <p:oleObj spid="_x0000_s160860" name="Equation" r:id="rId5" imgW="152268" imgH="164957" progId="">
              <p:embed/>
            </p:oleObj>
          </a:graphicData>
        </a:graphic>
      </p:graphicFrame>
      <p:graphicFrame>
        <p:nvGraphicFramePr>
          <p:cNvPr id="160861" name="Object 93"/>
          <p:cNvGraphicFramePr>
            <a:graphicFrameLocks noChangeAspect="1"/>
          </p:cNvGraphicFramePr>
          <p:nvPr/>
        </p:nvGraphicFramePr>
        <p:xfrm>
          <a:off x="5137150" y="4964113"/>
          <a:ext cx="1666875" cy="552450"/>
        </p:xfrm>
        <a:graphic>
          <a:graphicData uri="http://schemas.openxmlformats.org/presentationml/2006/ole">
            <p:oleObj spid="_x0000_s160861" name="Equation" r:id="rId6" imgW="685800" imgH="22860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域的概念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>
          <a:xfrm>
            <a:off x="8215313" y="6369050"/>
            <a:ext cx="928687" cy="428625"/>
          </a:xfrm>
        </p:spPr>
        <p:txBody>
          <a:bodyPr/>
          <a:lstStyle/>
          <a:p>
            <a:pPr>
              <a:defRPr/>
            </a:pPr>
            <a:fld id="{1C8ABEE3-3B29-46DB-890D-1112B27F7134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  <p:sp>
        <p:nvSpPr>
          <p:cNvPr id="174142" name="矩形 17"/>
          <p:cNvSpPr>
            <a:spLocks noChangeArrowheads="1"/>
          </p:cNvSpPr>
          <p:nvPr/>
        </p:nvSpPr>
        <p:spPr bwMode="auto">
          <a:xfrm>
            <a:off x="539750" y="184467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：全体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有理数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关于加法和乘法是域</a:t>
            </a:r>
          </a:p>
        </p:txBody>
      </p:sp>
      <p:sp>
        <p:nvSpPr>
          <p:cNvPr id="174143" name="矩形 17"/>
          <p:cNvSpPr>
            <a:spLocks noChangeArrowheads="1"/>
          </p:cNvSpPr>
          <p:nvPr/>
        </p:nvSpPr>
        <p:spPr bwMode="auto">
          <a:xfrm>
            <a:off x="539750" y="2636838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：全体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复数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关于加法和乘法是域</a:t>
            </a:r>
          </a:p>
        </p:txBody>
      </p:sp>
      <p:sp>
        <p:nvSpPr>
          <p:cNvPr id="174144" name="矩形 7"/>
          <p:cNvSpPr>
            <a:spLocks noChangeArrowheads="1"/>
          </p:cNvSpPr>
          <p:nvPr/>
        </p:nvSpPr>
        <p:spPr bwMode="auto">
          <a:xfrm>
            <a:off x="530225" y="3500438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         是域，这里</a:t>
            </a:r>
            <a:r>
              <a:rPr kumimoji="0" lang="en-US" altLang="zh-CN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是素数。</a:t>
            </a:r>
          </a:p>
        </p:txBody>
      </p:sp>
      <p:graphicFrame>
        <p:nvGraphicFramePr>
          <p:cNvPr id="174138" name="Object 58"/>
          <p:cNvGraphicFramePr>
            <a:graphicFrameLocks noChangeAspect="1"/>
          </p:cNvGraphicFramePr>
          <p:nvPr/>
        </p:nvGraphicFramePr>
        <p:xfrm>
          <a:off x="1530350" y="3565525"/>
          <a:ext cx="1549400" cy="495300"/>
        </p:xfrm>
        <a:graphic>
          <a:graphicData uri="http://schemas.openxmlformats.org/presentationml/2006/ole">
            <p:oleObj spid="_x0000_s174138" name="Equation" r:id="rId3" imgW="1548728" imgH="495085" progId="">
              <p:embed/>
            </p:oleObj>
          </a:graphicData>
        </a:graphic>
      </p:graphicFrame>
      <p:sp>
        <p:nvSpPr>
          <p:cNvPr id="174145" name="矩形 11"/>
          <p:cNvSpPr>
            <a:spLocks noChangeArrowheads="1"/>
          </p:cNvSpPr>
          <p:nvPr/>
        </p:nvSpPr>
        <p:spPr bwMode="auto">
          <a:xfrm>
            <a:off x="539750" y="434022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：当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n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为合数时，         不是域。</a:t>
            </a:r>
          </a:p>
        </p:txBody>
      </p:sp>
      <p:graphicFrame>
        <p:nvGraphicFramePr>
          <p:cNvPr id="174139" name="Object 59"/>
          <p:cNvGraphicFramePr>
            <a:graphicFrameLocks noChangeAspect="1"/>
          </p:cNvGraphicFramePr>
          <p:nvPr/>
        </p:nvGraphicFramePr>
        <p:xfrm>
          <a:off x="3863975" y="4424363"/>
          <a:ext cx="1524000" cy="444500"/>
        </p:xfrm>
        <a:graphic>
          <a:graphicData uri="http://schemas.openxmlformats.org/presentationml/2006/ole">
            <p:oleObj spid="_x0000_s174139" name="Equation" r:id="rId4" imgW="1523880" imgH="44424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24" name="矩形 4"/>
          <p:cNvSpPr>
            <a:spLocks noChangeArrowheads="1"/>
          </p:cNvSpPr>
          <p:nvPr/>
        </p:nvSpPr>
        <p:spPr bwMode="auto">
          <a:xfrm>
            <a:off x="428625" y="1285875"/>
            <a:ext cx="8286750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如果        为域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具有如下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性质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 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0325" name="矩形 10"/>
          <p:cNvSpPr>
            <a:spLocks noChangeArrowheads="1"/>
          </p:cNvSpPr>
          <p:nvPr/>
        </p:nvSpPr>
        <p:spPr bwMode="auto">
          <a:xfrm>
            <a:off x="1071563" y="2357438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宋体" charset="-122"/>
              </a:rPr>
              <a:t>(1)                   </a:t>
            </a:r>
          </a:p>
        </p:txBody>
      </p:sp>
      <p:sp>
        <p:nvSpPr>
          <p:cNvPr id="90326" name="矩形 13"/>
          <p:cNvSpPr>
            <a:spLocks noChangeArrowheads="1"/>
          </p:cNvSpPr>
          <p:nvPr/>
        </p:nvSpPr>
        <p:spPr bwMode="auto">
          <a:xfrm>
            <a:off x="1071563" y="3071813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宋体" charset="-122"/>
              </a:rPr>
              <a:t>(2) </a:t>
            </a:r>
            <a:r>
              <a:rPr kumimoji="0" lang="zh-CN" altLang="en-US" b="1">
                <a:latin typeface="宋体" charset="-122"/>
              </a:rPr>
              <a:t>    </a:t>
            </a:r>
          </a:p>
        </p:txBody>
      </p:sp>
      <p:sp>
        <p:nvSpPr>
          <p:cNvPr id="90327" name="矩形 15"/>
          <p:cNvSpPr>
            <a:spLocks noChangeArrowheads="1"/>
          </p:cNvSpPr>
          <p:nvPr/>
        </p:nvSpPr>
        <p:spPr bwMode="auto">
          <a:xfrm>
            <a:off x="1071563" y="385762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宋体" charset="-122"/>
              </a:rPr>
              <a:t>(3)     </a:t>
            </a:r>
          </a:p>
        </p:txBody>
      </p:sp>
      <p:sp>
        <p:nvSpPr>
          <p:cNvPr id="90328" name="矩形 17"/>
          <p:cNvSpPr>
            <a:spLocks noChangeArrowheads="1"/>
          </p:cNvSpPr>
          <p:nvPr/>
        </p:nvSpPr>
        <p:spPr bwMode="auto">
          <a:xfrm>
            <a:off x="1071563" y="4695825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宋体" charset="-122"/>
              </a:rPr>
              <a:t>(4)     </a:t>
            </a:r>
          </a:p>
        </p:txBody>
      </p:sp>
      <p:graphicFrame>
        <p:nvGraphicFramePr>
          <p:cNvPr id="90319" name="Object 207"/>
          <p:cNvGraphicFramePr>
            <a:graphicFrameLocks noChangeAspect="1"/>
          </p:cNvGraphicFramePr>
          <p:nvPr/>
        </p:nvGraphicFramePr>
        <p:xfrm>
          <a:off x="2743200" y="1773238"/>
          <a:ext cx="1323975" cy="492125"/>
        </p:xfrm>
        <a:graphic>
          <a:graphicData uri="http://schemas.openxmlformats.org/presentationml/2006/ole">
            <p:oleObj spid="_x0000_s90319" name="Equation" r:id="rId3" imgW="545626" imgH="203024" progId="">
              <p:embed/>
            </p:oleObj>
          </a:graphicData>
        </a:graphic>
      </p:graphicFrame>
      <p:graphicFrame>
        <p:nvGraphicFramePr>
          <p:cNvPr id="90320" name="Object 208"/>
          <p:cNvGraphicFramePr>
            <a:graphicFrameLocks noChangeAspect="1"/>
          </p:cNvGraphicFramePr>
          <p:nvPr/>
        </p:nvGraphicFramePr>
        <p:xfrm>
          <a:off x="1835150" y="2454275"/>
          <a:ext cx="3378200" cy="406400"/>
        </p:xfrm>
        <a:graphic>
          <a:graphicData uri="http://schemas.openxmlformats.org/presentationml/2006/ole">
            <p:oleObj spid="_x0000_s90320" name="Equation" r:id="rId4" imgW="3378200" imgH="406400" progId="">
              <p:embed/>
            </p:oleObj>
          </a:graphicData>
        </a:graphic>
      </p:graphicFrame>
      <p:graphicFrame>
        <p:nvGraphicFramePr>
          <p:cNvPr id="90321" name="Object 209"/>
          <p:cNvGraphicFramePr>
            <a:graphicFrameLocks noChangeAspect="1"/>
          </p:cNvGraphicFramePr>
          <p:nvPr/>
        </p:nvGraphicFramePr>
        <p:xfrm>
          <a:off x="1857375" y="3190875"/>
          <a:ext cx="4191000" cy="381000"/>
        </p:xfrm>
        <a:graphic>
          <a:graphicData uri="http://schemas.openxmlformats.org/presentationml/2006/ole">
            <p:oleObj spid="_x0000_s90321" name="Equation" r:id="rId5" imgW="4191000" imgH="381000" progId="">
              <p:embed/>
            </p:oleObj>
          </a:graphicData>
        </a:graphic>
      </p:graphicFrame>
      <p:graphicFrame>
        <p:nvGraphicFramePr>
          <p:cNvPr id="90322" name="Object 210"/>
          <p:cNvGraphicFramePr>
            <a:graphicFrameLocks noChangeAspect="1"/>
          </p:cNvGraphicFramePr>
          <p:nvPr/>
        </p:nvGraphicFramePr>
        <p:xfrm>
          <a:off x="1979613" y="4727575"/>
          <a:ext cx="5600700" cy="482600"/>
        </p:xfrm>
        <a:graphic>
          <a:graphicData uri="http://schemas.openxmlformats.org/presentationml/2006/ole">
            <p:oleObj spid="_x0000_s90322" name="Equation" r:id="rId6" imgW="5600700" imgH="482600" progId="">
              <p:embed/>
            </p:oleObj>
          </a:graphicData>
        </a:graphic>
      </p:graphicFrame>
      <p:graphicFrame>
        <p:nvGraphicFramePr>
          <p:cNvPr id="90323" name="Object 211"/>
          <p:cNvGraphicFramePr>
            <a:graphicFrameLocks noChangeAspect="1"/>
          </p:cNvGraphicFramePr>
          <p:nvPr/>
        </p:nvGraphicFramePr>
        <p:xfrm>
          <a:off x="1857375" y="3963988"/>
          <a:ext cx="6426200" cy="406400"/>
        </p:xfrm>
        <a:graphic>
          <a:graphicData uri="http://schemas.openxmlformats.org/presentationml/2006/ole">
            <p:oleObj spid="_x0000_s90323" name="Equation" r:id="rId7" imgW="6426200" imgH="406400" progId="">
              <p:embed/>
            </p:oleObj>
          </a:graphicData>
        </a:graphic>
      </p:graphicFrame>
      <p:sp>
        <p:nvSpPr>
          <p:cNvPr id="9032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域的性质</a:t>
            </a: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BFBFC4-A1A1-4E53-86F5-EF97CEA8B789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29" name="矩形 17"/>
          <p:cNvSpPr>
            <a:spLocks noChangeArrowheads="1"/>
          </p:cNvSpPr>
          <p:nvPr/>
        </p:nvSpPr>
        <p:spPr bwMode="auto">
          <a:xfrm>
            <a:off x="369888" y="1557338"/>
            <a:ext cx="7515225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3.4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任何域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和它子域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有相同的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，且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加法子群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\{0}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F\{0}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的乘法子群。</a:t>
            </a:r>
            <a:endParaRPr kumimoji="0"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613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域的性质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AC1E0E2-10EC-4895-9514-DFD5C6F4AA64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4"/>
          <p:cNvSpPr>
            <a:spLocks noRot="1" noChangeArrowheads="1"/>
          </p:cNvSpPr>
          <p:nvPr/>
        </p:nvSpPr>
        <p:spPr bwMode="auto">
          <a:xfrm>
            <a:off x="323850" y="1125538"/>
            <a:ext cx="1963738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26214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844675"/>
            <a:ext cx="6769100" cy="223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2147" name="Text Box 6"/>
          <p:cNvSpPr txBox="1">
            <a:spLocks noChangeArrowheads="1"/>
          </p:cNvSpPr>
          <p:nvPr/>
        </p:nvSpPr>
        <p:spPr bwMode="auto">
          <a:xfrm>
            <a:off x="395288" y="4076700"/>
            <a:ext cx="10795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注：</a:t>
            </a:r>
          </a:p>
        </p:txBody>
      </p:sp>
      <p:pic>
        <p:nvPicPr>
          <p:cNvPr id="262148" name="Picture 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4652963"/>
            <a:ext cx="8353425" cy="144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214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分式域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84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2133600"/>
            <a:ext cx="7777162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184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分式域</a:t>
            </a:r>
          </a:p>
        </p:txBody>
      </p:sp>
      <p:sp>
        <p:nvSpPr>
          <p:cNvPr id="291843" name="Rectangle 4"/>
          <p:cNvSpPr>
            <a:spLocks noRot="1" noChangeArrowheads="1"/>
          </p:cNvSpPr>
          <p:nvPr/>
        </p:nvSpPr>
        <p:spPr bwMode="auto">
          <a:xfrm>
            <a:off x="323850" y="1484313"/>
            <a:ext cx="1871663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05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773238"/>
            <a:ext cx="8353425" cy="287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105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4941888"/>
            <a:ext cx="8353425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105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分式域</a:t>
            </a:r>
          </a:p>
        </p:txBody>
      </p:sp>
      <p:sp>
        <p:nvSpPr>
          <p:cNvPr id="301060" name="Rectangle 4"/>
          <p:cNvSpPr>
            <a:spLocks noRot="1" noChangeArrowheads="1"/>
          </p:cNvSpPr>
          <p:nvPr/>
        </p:nvSpPr>
        <p:spPr bwMode="auto">
          <a:xfrm>
            <a:off x="179388" y="1125538"/>
            <a:ext cx="1944687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例如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105" name="Rectangle 4"/>
          <p:cNvSpPr>
            <a:spLocks noRot="1" noChangeArrowheads="1"/>
          </p:cNvSpPr>
          <p:nvPr/>
        </p:nvSpPr>
        <p:spPr bwMode="auto">
          <a:xfrm>
            <a:off x="611188" y="1052513"/>
            <a:ext cx="41941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3.5</a:t>
            </a:r>
            <a:endParaRPr lang="en-US" altLang="zh-CN" b="1">
              <a:solidFill>
                <a:schemeClr val="hlink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6010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213" y="1620838"/>
            <a:ext cx="8208962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010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9750" y="2924175"/>
            <a:ext cx="8208963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0108" name="Text Box 7"/>
          <p:cNvSpPr txBox="1">
            <a:spLocks noChangeArrowheads="1"/>
          </p:cNvSpPr>
          <p:nvPr/>
        </p:nvSpPr>
        <p:spPr bwMode="auto">
          <a:xfrm>
            <a:off x="468313" y="2203450"/>
            <a:ext cx="16557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证明要点：</a:t>
            </a:r>
          </a:p>
        </p:txBody>
      </p:sp>
      <p:graphicFrame>
        <p:nvGraphicFramePr>
          <p:cNvPr id="260104" name="Object 8"/>
          <p:cNvGraphicFramePr>
            <a:graphicFrameLocks noChangeAspect="1"/>
          </p:cNvGraphicFramePr>
          <p:nvPr/>
        </p:nvGraphicFramePr>
        <p:xfrm>
          <a:off x="5940425" y="5156200"/>
          <a:ext cx="1681163" cy="434975"/>
        </p:xfrm>
        <a:graphic>
          <a:graphicData uri="http://schemas.openxmlformats.org/presentationml/2006/ole">
            <p:oleObj spid="_x0000_s260104" name="公式" r:id="rId5" imgW="736560" imgH="190440" progId="Equation.3">
              <p:embed/>
            </p:oleObj>
          </a:graphicData>
        </a:graphic>
      </p:graphicFrame>
      <p:sp>
        <p:nvSpPr>
          <p:cNvPr id="26010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分式域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0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69" name="矩形 4"/>
          <p:cNvSpPr>
            <a:spLocks noChangeArrowheads="1"/>
          </p:cNvSpPr>
          <p:nvPr/>
        </p:nvSpPr>
        <p:spPr bwMode="auto">
          <a:xfrm>
            <a:off x="179388" y="1196975"/>
            <a:ext cx="8964612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3.5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若域</a:t>
            </a:r>
            <a:r>
              <a:rPr kumimoji="0" lang="zh-CN" altLang="en-US" i="1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的子环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关于加法与乘法构成域，则称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子域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称为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0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扩域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7168" name="Object 16"/>
          <p:cNvGraphicFramePr>
            <a:graphicFrameLocks noChangeAspect="1"/>
          </p:cNvGraphicFramePr>
          <p:nvPr/>
        </p:nvGraphicFramePr>
        <p:xfrm>
          <a:off x="2452688" y="1322388"/>
          <a:ext cx="1331912" cy="492125"/>
        </p:xfrm>
        <a:graphic>
          <a:graphicData uri="http://schemas.openxmlformats.org/presentationml/2006/ole">
            <p:oleObj spid="_x0000_s177168" name="Equation" r:id="rId3" imgW="494870" imgH="203024" progId="">
              <p:embed/>
            </p:oleObj>
          </a:graphicData>
        </a:graphic>
      </p:graphicFrame>
      <p:sp>
        <p:nvSpPr>
          <p:cNvPr id="177170" name="矩形 17"/>
          <p:cNvSpPr>
            <a:spLocks noChangeArrowheads="1"/>
          </p:cNvSpPr>
          <p:nvPr/>
        </p:nvSpPr>
        <p:spPr bwMode="auto">
          <a:xfrm>
            <a:off x="179388" y="2349500"/>
            <a:ext cx="8640762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6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有理数域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实数域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的子域，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实数域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复数域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的子域；反过来，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复数域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C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实数域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的扩域，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实数域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有理数域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的扩域。</a:t>
            </a:r>
          </a:p>
        </p:txBody>
      </p:sp>
      <p:sp>
        <p:nvSpPr>
          <p:cNvPr id="17717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7E82F15-22E8-41D0-8844-480E132D7ABF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177174" name="Rectangle 22"/>
          <p:cNvSpPr>
            <a:spLocks noChangeArrowheads="1"/>
          </p:cNvSpPr>
          <p:nvPr/>
        </p:nvSpPr>
        <p:spPr bwMode="auto">
          <a:xfrm>
            <a:off x="250825" y="4238625"/>
            <a:ext cx="85693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任何一个域都是其子域的扩张</a:t>
            </a:r>
            <a:endParaRPr kumimoji="0" lang="zh-CN" altLang="en-US">
              <a:latin typeface="Arial" charset="0"/>
              <a:ea typeface="楷体_GB2312" pitchFamily="49" charset="-122"/>
            </a:endParaRPr>
          </a:p>
          <a:p>
            <a:pPr marL="723900" lvl="1" indent="-266700">
              <a:lnSpc>
                <a:spcPct val="120000"/>
              </a:lnSpc>
              <a:buFont typeface="Wingdings" pitchFamily="2" charset="2"/>
              <a:buChar char="ü"/>
            </a:pPr>
            <a:r>
              <a:rPr kumimoji="0" lang="zh-CN" altLang="en-US">
                <a:latin typeface="Arial" charset="0"/>
                <a:ea typeface="楷体_GB2312" pitchFamily="49" charset="-122"/>
              </a:rPr>
              <a:t>或者说</a:t>
            </a: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任何一个域都可以从其子域通过扩张得到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。</a:t>
            </a:r>
          </a:p>
          <a:p>
            <a:pPr>
              <a:lnSpc>
                <a:spcPct val="120000"/>
              </a:lnSpc>
              <a:buFont typeface="Wingdings" pitchFamily="2" charset="2"/>
              <a:buChar char="Ø"/>
            </a:pPr>
            <a:r>
              <a:rPr kumimoji="0" lang="zh-CN" altLang="en-US">
                <a:latin typeface="Arial" charset="0"/>
                <a:ea typeface="楷体_GB2312" pitchFamily="49" charset="-122"/>
              </a:rPr>
              <a:t>如果能弄清楚</a:t>
            </a: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扩张的结构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以及</a:t>
            </a:r>
            <a:r>
              <a:rPr kumimoji="0" lang="zh-CN" altLang="en-US" b="1">
                <a:solidFill>
                  <a:srgbClr val="FF3300"/>
                </a:solidFill>
                <a:latin typeface="Arial" charset="0"/>
                <a:ea typeface="楷体_GB2312" pitchFamily="49" charset="-122"/>
              </a:rPr>
              <a:t>最小域的结构</a:t>
            </a:r>
          </a:p>
          <a:p>
            <a:pPr marL="723900" lvl="1" indent="-266700">
              <a:lnSpc>
                <a:spcPct val="120000"/>
              </a:lnSpc>
              <a:buFont typeface="Wingdings" pitchFamily="2" charset="2"/>
              <a:buChar char="ü"/>
            </a:pPr>
            <a:r>
              <a:rPr kumimoji="0" lang="zh-CN" altLang="en-US" b="1">
                <a:latin typeface="Arial" charset="0"/>
                <a:ea typeface="楷体_GB2312" pitchFamily="49" charset="-122"/>
              </a:rPr>
              <a:t>那么任一个域的结构从理论上将都可以弄清楚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71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17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69" name="Rectangle 5"/>
          <p:cNvSpPr>
            <a:spLocks noRot="1" noChangeArrowheads="1"/>
          </p:cNvSpPr>
          <p:nvPr/>
        </p:nvSpPr>
        <p:spPr bwMode="auto">
          <a:xfrm>
            <a:off x="323850" y="1196975"/>
            <a:ext cx="8208963" cy="65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：如果一个域不含真子域，则称之为</a:t>
            </a:r>
            <a:r>
              <a:rPr lang="zh-CN" altLang="en-US" b="1">
                <a:solidFill>
                  <a:srgbClr val="FF3300"/>
                </a:solidFill>
                <a:latin typeface="楷体_GB2312" pitchFamily="49" charset="-122"/>
                <a:ea typeface="楷体_GB2312" pitchFamily="49" charset="-122"/>
              </a:rPr>
              <a:t>素域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pSp>
        <p:nvGrpSpPr>
          <p:cNvPr id="238598" name="Group 6"/>
          <p:cNvGrpSpPr>
            <a:grpSpLocks/>
          </p:cNvGrpSpPr>
          <p:nvPr/>
        </p:nvGrpSpPr>
        <p:grpSpPr bwMode="auto">
          <a:xfrm>
            <a:off x="352425" y="1628775"/>
            <a:ext cx="8540750" cy="2305050"/>
            <a:chOff x="176" y="1524"/>
            <a:chExt cx="5380" cy="1452"/>
          </a:xfrm>
        </p:grpSpPr>
        <p:sp>
          <p:nvSpPr>
            <p:cNvPr id="263172" name="Rectangle 7"/>
            <p:cNvSpPr>
              <a:spLocks noRot="1" noChangeArrowheads="1"/>
            </p:cNvSpPr>
            <p:nvPr/>
          </p:nvSpPr>
          <p:spPr bwMode="auto">
            <a:xfrm>
              <a:off x="176" y="1524"/>
              <a:ext cx="5380" cy="4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55600" indent="-355600" eaLnBrk="0" latinLnBrk="1" hangingPunct="0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itchFamily="2" charset="2"/>
                <a:buChar char="Ø"/>
              </a:pPr>
              <a:r>
                <a:rPr lang="zh-CN" altLang="en-US" b="1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定理</a:t>
              </a:r>
              <a:r>
                <a:rPr lang="en-US" altLang="zh-CN" b="1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3.6</a:t>
              </a:r>
              <a:r>
                <a:rPr lang="en-US" altLang="zh-CN" sz="3200">
                  <a:solidFill>
                    <a:srgbClr val="333399"/>
                  </a:solidFill>
                  <a:latin typeface="黑体" pitchFamily="2" charset="-122"/>
                  <a:ea typeface="黑体" pitchFamily="2" charset="-122"/>
                </a:rPr>
                <a:t> </a:t>
              </a:r>
            </a:p>
          </p:txBody>
        </p:sp>
        <p:pic>
          <p:nvPicPr>
            <p:cNvPr id="263173" name="Picture 8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233" y="1932"/>
              <a:ext cx="5262" cy="10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6317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129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1196975"/>
            <a:ext cx="8208962" cy="2160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1130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66725" y="3716338"/>
            <a:ext cx="8353425" cy="26654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61131" name="Group 16"/>
          <p:cNvGrpSpPr>
            <a:grpSpLocks/>
          </p:cNvGrpSpPr>
          <p:nvPr/>
        </p:nvGrpSpPr>
        <p:grpSpPr bwMode="auto">
          <a:xfrm>
            <a:off x="5364163" y="4267200"/>
            <a:ext cx="2330450" cy="457200"/>
            <a:chOff x="3379" y="2723"/>
            <a:chExt cx="1468" cy="288"/>
          </a:xfrm>
        </p:grpSpPr>
        <p:sp>
          <p:nvSpPr>
            <p:cNvPr id="261134" name="Text Box 7"/>
            <p:cNvSpPr txBox="1">
              <a:spLocks noChangeArrowheads="1"/>
            </p:cNvSpPr>
            <p:nvPr/>
          </p:nvSpPr>
          <p:spPr bwMode="auto">
            <a:xfrm>
              <a:off x="3379" y="2723"/>
              <a:ext cx="146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2400" b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因为  同构映射</a:t>
              </a:r>
            </a:p>
          </p:txBody>
        </p:sp>
        <p:graphicFrame>
          <p:nvGraphicFramePr>
            <p:cNvPr id="261128" name="Object 8"/>
            <p:cNvGraphicFramePr>
              <a:graphicFrameLocks noChangeAspect="1"/>
            </p:cNvGraphicFramePr>
            <p:nvPr/>
          </p:nvGraphicFramePr>
          <p:xfrm>
            <a:off x="3822" y="2779"/>
            <a:ext cx="192" cy="227"/>
          </p:xfrm>
          <a:graphic>
            <a:graphicData uri="http://schemas.openxmlformats.org/presentationml/2006/ole">
              <p:oleObj spid="_x0000_s261128" name="公式" r:id="rId5" imgW="139680" imgH="164880" progId="Equation.3">
                <p:embed/>
              </p:oleObj>
            </a:graphicData>
          </a:graphic>
        </p:graphicFrame>
      </p:grpSp>
      <p:sp>
        <p:nvSpPr>
          <p:cNvPr id="26113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  <p:sp>
        <p:nvSpPr>
          <p:cNvPr id="261133" name="Text Box 15"/>
          <p:cNvSpPr txBox="1">
            <a:spLocks noChangeArrowheads="1"/>
          </p:cNvSpPr>
          <p:nvPr/>
        </p:nvSpPr>
        <p:spPr bwMode="auto">
          <a:xfrm>
            <a:off x="5795963" y="2205038"/>
            <a:ext cx="32210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R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无零因子，可交换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217" name="Group 13"/>
          <p:cNvGrpSpPr>
            <a:grpSpLocks/>
          </p:cNvGrpSpPr>
          <p:nvPr/>
        </p:nvGrpSpPr>
        <p:grpSpPr bwMode="auto">
          <a:xfrm>
            <a:off x="304800" y="1557338"/>
            <a:ext cx="8540750" cy="1087437"/>
            <a:chOff x="192" y="2659"/>
            <a:chExt cx="5380" cy="685"/>
          </a:xfrm>
        </p:grpSpPr>
        <p:sp>
          <p:nvSpPr>
            <p:cNvPr id="265220" name="Rectangle 10"/>
            <p:cNvSpPr>
              <a:spLocks noRot="1" noChangeArrowheads="1"/>
            </p:cNvSpPr>
            <p:nvPr/>
          </p:nvSpPr>
          <p:spPr bwMode="auto">
            <a:xfrm>
              <a:off x="192" y="2659"/>
              <a:ext cx="5380" cy="4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55600" indent="-355600" eaLnBrk="0" latinLnBrk="1" hangingPunct="0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itchFamily="2" charset="2"/>
                <a:buChar char="Ø"/>
              </a:pPr>
              <a:r>
                <a:rPr lang="zh-CN" altLang="en-US" b="1">
                  <a:solidFill>
                    <a:srgbClr val="CC0000"/>
                  </a:solidFill>
                  <a:latin typeface="楷体_GB2312" pitchFamily="49" charset="-122"/>
                  <a:ea typeface="楷体_GB2312" pitchFamily="49" charset="-122"/>
                </a:rPr>
                <a:t>推论</a:t>
              </a:r>
              <a:r>
                <a:rPr lang="zh-CN" altLang="en-US">
                  <a:solidFill>
                    <a:srgbClr val="333399"/>
                  </a:solidFill>
                  <a:latin typeface="楷体_GB2312" pitchFamily="49" charset="-122"/>
                  <a:ea typeface="楷体_GB2312" pitchFamily="49" charset="-122"/>
                </a:rPr>
                <a:t>：</a:t>
              </a:r>
            </a:p>
          </p:txBody>
        </p:sp>
        <p:pic>
          <p:nvPicPr>
            <p:cNvPr id="265221" name="Picture 11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31" y="3022"/>
              <a:ext cx="5080" cy="3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238604" name="Picture 1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6013" y="2997200"/>
            <a:ext cx="7056437" cy="1560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521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8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4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9750" y="1268413"/>
            <a:ext cx="8280400" cy="187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4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284538"/>
            <a:ext cx="8280400" cy="2808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624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265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42988" y="1412875"/>
            <a:ext cx="72009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7266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2276475"/>
            <a:ext cx="8208963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726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89" name="Rectangle 4"/>
          <p:cNvSpPr>
            <a:spLocks noRot="1" noChangeArrowheads="1"/>
          </p:cNvSpPr>
          <p:nvPr/>
        </p:nvSpPr>
        <p:spPr bwMode="auto">
          <a:xfrm>
            <a:off x="495300" y="1125538"/>
            <a:ext cx="738981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CC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268290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773238"/>
            <a:ext cx="80645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8291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1188" y="3789363"/>
            <a:ext cx="7993062" cy="2663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8292" name="Text Box 7"/>
          <p:cNvSpPr txBox="1">
            <a:spLocks noChangeArrowheads="1"/>
          </p:cNvSpPr>
          <p:nvPr/>
        </p:nvSpPr>
        <p:spPr bwMode="auto">
          <a:xfrm>
            <a:off x="539750" y="3141663"/>
            <a:ext cx="10795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证明：</a:t>
            </a:r>
          </a:p>
        </p:txBody>
      </p:sp>
      <p:sp>
        <p:nvSpPr>
          <p:cNvPr id="26829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31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2708275"/>
            <a:ext cx="8280400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9314" name="Rectangle 5"/>
          <p:cNvSpPr>
            <a:spLocks noRot="1" noChangeArrowheads="1"/>
          </p:cNvSpPr>
          <p:nvPr/>
        </p:nvSpPr>
        <p:spPr bwMode="auto">
          <a:xfrm>
            <a:off x="395288" y="1773238"/>
            <a:ext cx="1746250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eaLnBrk="0" latinLnBrk="1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推论：</a:t>
            </a:r>
          </a:p>
        </p:txBody>
      </p:sp>
      <p:sp>
        <p:nvSpPr>
          <p:cNvPr id="26931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3.1.4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小节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DAAAD8-FC6A-4E3B-8E92-6A9765F48482}" type="slidenum">
              <a:rPr lang="en-US" altLang="zh-CN" sz="1800" smtClean="0"/>
              <a:pPr>
                <a:defRPr/>
              </a:pPr>
              <a:t>21</a:t>
            </a:fld>
            <a:endParaRPr lang="en-US" altLang="zh-CN" sz="1800" dirty="0"/>
          </a:p>
        </p:txBody>
      </p:sp>
      <p:sp>
        <p:nvSpPr>
          <p:cNvPr id="270339" name="矩形 2"/>
          <p:cNvSpPr>
            <a:spLocks noChangeArrowheads="1"/>
          </p:cNvSpPr>
          <p:nvPr/>
        </p:nvSpPr>
        <p:spPr bwMode="auto">
          <a:xfrm>
            <a:off x="357188" y="1571625"/>
            <a:ext cx="7929562" cy="334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域的概念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常见的域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域性质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子域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分式域</a:t>
            </a:r>
          </a:p>
          <a:p>
            <a:pPr>
              <a:lnSpc>
                <a:spcPct val="15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域的扩张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8" name="内容占位符 2"/>
          <p:cNvSpPr txBox="1">
            <a:spLocks/>
          </p:cNvSpPr>
          <p:nvPr/>
        </p:nvSpPr>
        <p:spPr bwMode="auto">
          <a:xfrm>
            <a:off x="571500" y="1428750"/>
            <a:ext cx="8286750" cy="920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问：     是不可约多项式吗？若是给出分解。</a:t>
            </a:r>
          </a:p>
        </p:txBody>
      </p:sp>
      <p:graphicFrame>
        <p:nvGraphicFramePr>
          <p:cNvPr id="182277" name="Object 5"/>
          <p:cNvGraphicFramePr>
            <a:graphicFrameLocks noChangeAspect="1"/>
          </p:cNvGraphicFramePr>
          <p:nvPr/>
        </p:nvGraphicFramePr>
        <p:xfrm>
          <a:off x="1284288" y="1550988"/>
          <a:ext cx="927100" cy="406400"/>
        </p:xfrm>
        <a:graphic>
          <a:graphicData uri="http://schemas.openxmlformats.org/presentationml/2006/ole">
            <p:oleObj spid="_x0000_s182277" name="Equation" r:id="rId4" imgW="926698" imgH="406224" progId="">
              <p:embed/>
            </p:oleObj>
          </a:graphicData>
        </a:graphic>
      </p:graphicFrame>
      <p:sp>
        <p:nvSpPr>
          <p:cNvPr id="18227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引入</a:t>
            </a: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175A70-14DE-4911-BF4E-E9B6F8C530B8}" type="slidenum">
              <a:rPr lang="en-US" altLang="zh-CN" smtClean="0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457200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第三节 域</a:t>
            </a:r>
          </a:p>
        </p:txBody>
      </p:sp>
      <p:grpSp>
        <p:nvGrpSpPr>
          <p:cNvPr id="274434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274460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74461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74464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65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66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74462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域的定义与基本性质</a:t>
              </a:r>
            </a:p>
          </p:txBody>
        </p:sp>
        <p:sp>
          <p:nvSpPr>
            <p:cNvPr id="274463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274435" name="Group 11"/>
          <p:cNvGrpSpPr>
            <a:grpSpLocks/>
          </p:cNvGrpSpPr>
          <p:nvPr/>
        </p:nvGrpSpPr>
        <p:grpSpPr bwMode="auto">
          <a:xfrm>
            <a:off x="661988" y="2435225"/>
            <a:ext cx="7502525" cy="841375"/>
            <a:chOff x="385" y="1162"/>
            <a:chExt cx="4309" cy="389"/>
          </a:xfrm>
        </p:grpSpPr>
        <p:sp>
          <p:nvSpPr>
            <p:cNvPr id="274453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74454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74457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58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59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74455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域上的多项式</a:t>
              </a:r>
            </a:p>
          </p:txBody>
        </p:sp>
        <p:sp>
          <p:nvSpPr>
            <p:cNvPr id="274456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274436" name="Group 27"/>
          <p:cNvGrpSpPr>
            <a:grpSpLocks/>
          </p:cNvGrpSpPr>
          <p:nvPr/>
        </p:nvGrpSpPr>
        <p:grpSpPr bwMode="auto">
          <a:xfrm>
            <a:off x="690563" y="4387850"/>
            <a:ext cx="7502525" cy="841375"/>
            <a:chOff x="385" y="1162"/>
            <a:chExt cx="4309" cy="389"/>
          </a:xfrm>
        </p:grpSpPr>
        <p:sp>
          <p:nvSpPr>
            <p:cNvPr id="274446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74447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74450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51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52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74448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有限域上的本原多项式</a:t>
              </a:r>
            </a:p>
          </p:txBody>
        </p:sp>
        <p:sp>
          <p:nvSpPr>
            <p:cNvPr id="274449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274437" name="Group 27"/>
          <p:cNvGrpSpPr>
            <a:grpSpLocks/>
          </p:cNvGrpSpPr>
          <p:nvPr/>
        </p:nvGrpSpPr>
        <p:grpSpPr bwMode="auto">
          <a:xfrm>
            <a:off x="661988" y="3402013"/>
            <a:ext cx="7502525" cy="841375"/>
            <a:chOff x="385" y="1162"/>
            <a:chExt cx="4309" cy="389"/>
          </a:xfrm>
        </p:grpSpPr>
        <p:sp>
          <p:nvSpPr>
            <p:cNvPr id="274439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274440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274443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44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274445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274441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有限域的特性</a:t>
              </a:r>
            </a:p>
          </p:txBody>
        </p:sp>
        <p:sp>
          <p:nvSpPr>
            <p:cNvPr id="274442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  <p:sp>
        <p:nvSpPr>
          <p:cNvPr id="43" name="灯片编号占位符 4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50BB7EE-0939-49AA-988D-7D3C0C5CCA11}" type="slidenum">
              <a:rPr lang="en-US" altLang="zh-CN" smtClean="0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  <p:transition spd="slow" advTm="2861">
    <p:strips dir="rd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1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1235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域的多项式环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的概念</a:t>
            </a:r>
          </a:p>
          <a:p>
            <a:pPr>
              <a:lnSpc>
                <a:spcPct val="125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能解释域上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多项式的带余除法</a:t>
            </a:r>
          </a:p>
        </p:txBody>
      </p:sp>
      <p:sp>
        <p:nvSpPr>
          <p:cNvPr id="27648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第一小节学习目标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5031-2706-4612-9A70-649090CD2BA5}" type="slidenum">
              <a:rPr lang="en-US" altLang="zh-CN" sz="1800" smtClean="0"/>
              <a:pPr>
                <a:defRPr/>
              </a:pPr>
              <a:t>24</a:t>
            </a:fld>
            <a:endParaRPr lang="en-US" altLang="zh-CN" sz="1800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50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357188" y="1412875"/>
            <a:ext cx="8786812" cy="2447925"/>
          </a:xfrm>
        </p:spPr>
        <p:txBody>
          <a:bodyPr/>
          <a:lstStyle/>
          <a:p>
            <a:pPr eaLnBrk="1" hangingPunct="1">
              <a:buClr>
                <a:srgbClr val="CC0000"/>
              </a:buClr>
              <a:buSzPct val="90000"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中的任意两个多项式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endParaRPr lang="zh-CN" altLang="en-US" sz="2800" b="1" i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lnSpc>
                <a:spcPct val="120000"/>
              </a:lnSpc>
              <a:buFont typeface="Wingdings" pitchFamily="2" charset="2"/>
              <a:buNone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g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i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i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</a:t>
            </a:r>
            <a:r>
              <a:rPr lang="en-US" altLang="zh-CN" sz="2800" b="1" baseline="30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smtClean="0">
                <a:solidFill>
                  <a:schemeClr val="tx1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800" b="1" baseline="-25000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j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</a:p>
          <a:p>
            <a:pPr eaLnBrk="1" hangingPunct="1">
              <a:spcBef>
                <a:spcPct val="35000"/>
              </a:spcBef>
              <a:buClr>
                <a:srgbClr val="CC0000"/>
              </a:buClr>
              <a:buSzPct val="90000"/>
            </a:pP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800" b="1" i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]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上的加法和乘法分别如下：</a:t>
            </a:r>
            <a:endParaRPr lang="zh-CN" altLang="en-US" sz="2400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026" name="Object 84"/>
          <p:cNvGraphicFramePr>
            <a:graphicFrameLocks noChangeAspect="1"/>
          </p:cNvGraphicFramePr>
          <p:nvPr/>
        </p:nvGraphicFramePr>
        <p:xfrm>
          <a:off x="1831975" y="3806825"/>
          <a:ext cx="4660900" cy="990600"/>
        </p:xfrm>
        <a:graphic>
          <a:graphicData uri="http://schemas.openxmlformats.org/presentationml/2006/ole">
            <p:oleObj spid="_x0000_s164948" name="Equation" r:id="rId3" imgW="4660900" imgH="990600" progId="">
              <p:embed/>
            </p:oleObj>
          </a:graphicData>
        </a:graphic>
      </p:graphicFrame>
      <p:graphicFrame>
        <p:nvGraphicFramePr>
          <p:cNvPr id="1027" name="Object 85"/>
          <p:cNvGraphicFramePr>
            <a:graphicFrameLocks noChangeAspect="1"/>
          </p:cNvGraphicFramePr>
          <p:nvPr/>
        </p:nvGraphicFramePr>
        <p:xfrm>
          <a:off x="1911350" y="4705350"/>
          <a:ext cx="4356100" cy="1028700"/>
        </p:xfrm>
        <a:graphic>
          <a:graphicData uri="http://schemas.openxmlformats.org/presentationml/2006/ole">
            <p:oleObj spid="_x0000_s164949" name="Equation" r:id="rId4" imgW="4356100" imgH="1028700" progId="">
              <p:embed/>
            </p:oleObj>
          </a:graphicData>
        </a:graphic>
      </p:graphicFrame>
      <p:sp>
        <p:nvSpPr>
          <p:cNvPr id="16495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域上的多项式除法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57CC037-15BC-4F90-BF90-ACE6FB78F425}" type="slidenum">
              <a:rPr lang="en-US" altLang="zh-CN" smtClean="0"/>
              <a:pPr>
                <a:defRPr/>
              </a:pPr>
              <a:t>25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028" name="矩形 4"/>
          <p:cNvSpPr>
            <a:spLocks noChangeArrowheads="1"/>
          </p:cNvSpPr>
          <p:nvPr/>
        </p:nvSpPr>
        <p:spPr bwMode="auto">
          <a:xfrm>
            <a:off x="428625" y="1470025"/>
            <a:ext cx="8215313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3.7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设  为一个域，    关于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的多项式全体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关于多项式加法和乘法为有单位元的整环。 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6025" name="Object 137"/>
          <p:cNvGraphicFramePr>
            <a:graphicFrameLocks noChangeAspect="1"/>
          </p:cNvGraphicFramePr>
          <p:nvPr/>
        </p:nvGraphicFramePr>
        <p:xfrm>
          <a:off x="2301875" y="1541463"/>
          <a:ext cx="401638" cy="400050"/>
        </p:xfrm>
        <a:graphic>
          <a:graphicData uri="http://schemas.openxmlformats.org/presentationml/2006/ole">
            <p:oleObj spid="_x0000_s166025" name="Equation" r:id="rId4" imgW="164885" imgH="164885" progId="">
              <p:embed/>
            </p:oleObj>
          </a:graphicData>
        </a:graphic>
      </p:graphicFrame>
      <p:graphicFrame>
        <p:nvGraphicFramePr>
          <p:cNvPr id="166026" name="Object 138"/>
          <p:cNvGraphicFramePr>
            <a:graphicFrameLocks noChangeAspect="1"/>
          </p:cNvGraphicFramePr>
          <p:nvPr/>
        </p:nvGraphicFramePr>
        <p:xfrm>
          <a:off x="4381500" y="1508125"/>
          <a:ext cx="800100" cy="492125"/>
        </p:xfrm>
        <a:graphic>
          <a:graphicData uri="http://schemas.openxmlformats.org/presentationml/2006/ole">
            <p:oleObj spid="_x0000_s166026" name="Equation" r:id="rId5" imgW="330057" imgH="203112" progId="">
              <p:embed/>
            </p:oleObj>
          </a:graphicData>
        </a:graphic>
      </p:graphicFrame>
      <p:graphicFrame>
        <p:nvGraphicFramePr>
          <p:cNvPr id="166027" name="Object 139"/>
          <p:cNvGraphicFramePr>
            <a:graphicFrameLocks noChangeAspect="1"/>
          </p:cNvGraphicFramePr>
          <p:nvPr/>
        </p:nvGraphicFramePr>
        <p:xfrm>
          <a:off x="1285875" y="2028825"/>
          <a:ext cx="6369050" cy="584200"/>
        </p:xfrm>
        <a:graphic>
          <a:graphicData uri="http://schemas.openxmlformats.org/presentationml/2006/ole">
            <p:oleObj spid="_x0000_s166027" name="Equation" r:id="rId6" imgW="2628900" imgH="241300" progId="">
              <p:embed/>
            </p:oleObj>
          </a:graphicData>
        </a:graphic>
      </p:graphicFrame>
      <p:sp>
        <p:nvSpPr>
          <p:cNvPr id="16602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3.2.1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域上的多项式除法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8CBBEC6-8095-42DB-B11A-A2C971517AAA}" type="slidenum">
              <a:rPr lang="en-US" altLang="zh-CN" smtClean="0"/>
              <a:pPr>
                <a:defRPr/>
              </a:pPr>
              <a:t>26</a:t>
            </a:fld>
            <a:endParaRPr lang="en-US" altLang="zh-CN" dirty="0"/>
          </a:p>
        </p:txBody>
      </p:sp>
      <p:sp>
        <p:nvSpPr>
          <p:cNvPr id="166031" name="矩形 1"/>
          <p:cNvSpPr>
            <a:spLocks noChangeArrowheads="1"/>
          </p:cNvSpPr>
          <p:nvPr/>
        </p:nvSpPr>
        <p:spPr bwMode="auto">
          <a:xfrm>
            <a:off x="569913" y="4083050"/>
            <a:ext cx="7818437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令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R=F[x],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则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R[y]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关于多项式加法和乘法也是交换整环。</a:t>
            </a:r>
            <a:endParaRPr lang="zh-CN" altLang="en-US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10" name="矩形 4"/>
          <p:cNvSpPr>
            <a:spLocks noChangeArrowheads="1"/>
          </p:cNvSpPr>
          <p:nvPr/>
        </p:nvSpPr>
        <p:spPr bwMode="auto">
          <a:xfrm>
            <a:off x="571500" y="1285875"/>
            <a:ext cx="7858125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：设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上两个多项式，则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                            </a:t>
            </a:r>
            <a:endParaRPr kumimoji="0"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4102" name="矩形 21"/>
          <p:cNvSpPr>
            <a:spLocks noChangeArrowheads="1"/>
          </p:cNvSpPr>
          <p:nvPr/>
        </p:nvSpPr>
        <p:spPr bwMode="auto">
          <a:xfrm>
            <a:off x="642938" y="3716338"/>
            <a:ext cx="79708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：如果上例中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与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g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上两个多项式，则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83307" name="Object 11"/>
          <p:cNvGraphicFramePr>
            <a:graphicFrameLocks noChangeAspect="1"/>
          </p:cNvGraphicFramePr>
          <p:nvPr/>
        </p:nvGraphicFramePr>
        <p:xfrm>
          <a:off x="2051050" y="1290638"/>
          <a:ext cx="5956300" cy="482600"/>
        </p:xfrm>
        <a:graphic>
          <a:graphicData uri="http://schemas.openxmlformats.org/presentationml/2006/ole">
            <p:oleObj spid="_x0000_s183307" name="Equation" r:id="rId4" imgW="5956300" imgH="482600" progId="">
              <p:embed/>
            </p:oleObj>
          </a:graphicData>
        </a:graphic>
      </p:graphicFrame>
      <p:graphicFrame>
        <p:nvGraphicFramePr>
          <p:cNvPr id="4099" name="Object 12"/>
          <p:cNvGraphicFramePr>
            <a:graphicFrameLocks noChangeAspect="1"/>
          </p:cNvGraphicFramePr>
          <p:nvPr/>
        </p:nvGraphicFramePr>
        <p:xfrm>
          <a:off x="2124075" y="2276475"/>
          <a:ext cx="4851400" cy="482600"/>
        </p:xfrm>
        <a:graphic>
          <a:graphicData uri="http://schemas.openxmlformats.org/presentationml/2006/ole">
            <p:oleObj spid="_x0000_s183308" name="Equation" r:id="rId5" imgW="4851400" imgH="482600" progId="">
              <p:embed/>
            </p:oleObj>
          </a:graphicData>
        </a:graphic>
      </p:graphicFrame>
      <p:graphicFrame>
        <p:nvGraphicFramePr>
          <p:cNvPr id="4100" name="Object 13"/>
          <p:cNvGraphicFramePr>
            <a:graphicFrameLocks noChangeAspect="1"/>
          </p:cNvGraphicFramePr>
          <p:nvPr/>
        </p:nvGraphicFramePr>
        <p:xfrm>
          <a:off x="1979613" y="4365625"/>
          <a:ext cx="5245100" cy="482600"/>
        </p:xfrm>
        <a:graphic>
          <a:graphicData uri="http://schemas.openxmlformats.org/presentationml/2006/ole">
            <p:oleObj spid="_x0000_s183309" name="Equation" r:id="rId6" imgW="5245100" imgH="482600" progId="">
              <p:embed/>
            </p:oleObj>
          </a:graphicData>
        </a:graphic>
      </p:graphicFrame>
      <p:sp>
        <p:nvSpPr>
          <p:cNvPr id="18331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域上的多项式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除法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513C77-6C9D-44EB-823C-FDEA0BA2A7EA}" type="slidenum">
              <a:rPr lang="en-US" altLang="zh-CN" smtClean="0"/>
              <a:pPr>
                <a:defRPr/>
              </a:pPr>
              <a:t>27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44" name="矩形 4"/>
          <p:cNvSpPr>
            <a:spLocks noChangeArrowheads="1"/>
          </p:cNvSpPr>
          <p:nvPr/>
        </p:nvSpPr>
        <p:spPr bwMode="auto">
          <a:xfrm>
            <a:off x="428625" y="1285875"/>
            <a:ext cx="8001000" cy="2227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3.8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设    ，         ，      ，则存在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唯一两个多项式    ，   ，使得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其中       或                    。 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                            </a:t>
            </a:r>
            <a:endParaRPr kumimoji="0"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7530" name="Object 618"/>
          <p:cNvGraphicFramePr>
            <a:graphicFrameLocks noChangeAspect="1"/>
          </p:cNvGraphicFramePr>
          <p:nvPr/>
        </p:nvGraphicFramePr>
        <p:xfrm>
          <a:off x="2428875" y="1365250"/>
          <a:ext cx="762000" cy="449263"/>
        </p:xfrm>
        <a:graphic>
          <a:graphicData uri="http://schemas.openxmlformats.org/presentationml/2006/ole">
            <p:oleObj spid="_x0000_s167530" name="Equation" r:id="rId4" imgW="342751" imgH="203112" progId="">
              <p:embed/>
            </p:oleObj>
          </a:graphicData>
        </a:graphic>
      </p:graphicFrame>
      <p:graphicFrame>
        <p:nvGraphicFramePr>
          <p:cNvPr id="167531" name="Object 619"/>
          <p:cNvGraphicFramePr>
            <a:graphicFrameLocks noChangeAspect="1"/>
          </p:cNvGraphicFramePr>
          <p:nvPr/>
        </p:nvGraphicFramePr>
        <p:xfrm>
          <a:off x="3286125" y="1357313"/>
          <a:ext cx="1785938" cy="474662"/>
        </p:xfrm>
        <a:graphic>
          <a:graphicData uri="http://schemas.openxmlformats.org/presentationml/2006/ole">
            <p:oleObj spid="_x0000_s167531" name="Equation" r:id="rId5" imgW="761669" imgH="203112" progId="">
              <p:embed/>
            </p:oleObj>
          </a:graphicData>
        </a:graphic>
      </p:graphicFrame>
      <p:graphicFrame>
        <p:nvGraphicFramePr>
          <p:cNvPr id="167532" name="Object 620"/>
          <p:cNvGraphicFramePr>
            <a:graphicFrameLocks noChangeAspect="1"/>
          </p:cNvGraphicFramePr>
          <p:nvPr/>
        </p:nvGraphicFramePr>
        <p:xfrm>
          <a:off x="5286375" y="1365250"/>
          <a:ext cx="1285875" cy="465138"/>
        </p:xfrm>
        <a:graphic>
          <a:graphicData uri="http://schemas.openxmlformats.org/presentationml/2006/ole">
            <p:oleObj spid="_x0000_s167532" name="Equation" r:id="rId6" imgW="558558" imgH="203112" progId="">
              <p:embed/>
            </p:oleObj>
          </a:graphicData>
        </a:graphic>
      </p:graphicFrame>
      <p:graphicFrame>
        <p:nvGraphicFramePr>
          <p:cNvPr id="167533" name="Object 621"/>
          <p:cNvGraphicFramePr>
            <a:graphicFrameLocks noChangeAspect="1"/>
          </p:cNvGraphicFramePr>
          <p:nvPr/>
        </p:nvGraphicFramePr>
        <p:xfrm>
          <a:off x="3071813" y="1773238"/>
          <a:ext cx="700087" cy="446087"/>
        </p:xfrm>
        <a:graphic>
          <a:graphicData uri="http://schemas.openxmlformats.org/presentationml/2006/ole">
            <p:oleObj spid="_x0000_s167533" name="Equation" r:id="rId7" imgW="317225" imgH="203024" progId="">
              <p:embed/>
            </p:oleObj>
          </a:graphicData>
        </a:graphic>
      </p:graphicFrame>
      <p:graphicFrame>
        <p:nvGraphicFramePr>
          <p:cNvPr id="167534" name="Object 622"/>
          <p:cNvGraphicFramePr>
            <a:graphicFrameLocks noChangeAspect="1"/>
          </p:cNvGraphicFramePr>
          <p:nvPr/>
        </p:nvGraphicFramePr>
        <p:xfrm>
          <a:off x="3929063" y="1773238"/>
          <a:ext cx="714375" cy="474662"/>
        </p:xfrm>
        <a:graphic>
          <a:graphicData uri="http://schemas.openxmlformats.org/presentationml/2006/ole">
            <p:oleObj spid="_x0000_s167534" name="Equation" r:id="rId8" imgW="304536" imgH="203024" progId="">
              <p:embed/>
            </p:oleObj>
          </a:graphicData>
        </a:graphic>
      </p:graphicFrame>
      <p:graphicFrame>
        <p:nvGraphicFramePr>
          <p:cNvPr id="167535" name="Object 623"/>
          <p:cNvGraphicFramePr>
            <a:graphicFrameLocks noChangeAspect="1"/>
          </p:cNvGraphicFramePr>
          <p:nvPr/>
        </p:nvGraphicFramePr>
        <p:xfrm>
          <a:off x="2771775" y="2384425"/>
          <a:ext cx="3386138" cy="473075"/>
        </p:xfrm>
        <a:graphic>
          <a:graphicData uri="http://schemas.openxmlformats.org/presentationml/2006/ole">
            <p:oleObj spid="_x0000_s167535" name="Equation" r:id="rId9" imgW="1447172" imgH="203112" progId="">
              <p:embed/>
            </p:oleObj>
          </a:graphicData>
        </a:graphic>
      </p:graphicFrame>
      <p:graphicFrame>
        <p:nvGraphicFramePr>
          <p:cNvPr id="167536" name="Object 624"/>
          <p:cNvGraphicFramePr>
            <a:graphicFrameLocks noChangeAspect="1"/>
          </p:cNvGraphicFramePr>
          <p:nvPr/>
        </p:nvGraphicFramePr>
        <p:xfrm>
          <a:off x="1285875" y="3071813"/>
          <a:ext cx="1214438" cy="460375"/>
        </p:xfrm>
        <a:graphic>
          <a:graphicData uri="http://schemas.openxmlformats.org/presentationml/2006/ole">
            <p:oleObj spid="_x0000_s167536" name="Equation" r:id="rId10" imgW="533169" imgH="203112" progId="">
              <p:embed/>
            </p:oleObj>
          </a:graphicData>
        </a:graphic>
      </p:graphicFrame>
      <p:graphicFrame>
        <p:nvGraphicFramePr>
          <p:cNvPr id="167537" name="Object 625"/>
          <p:cNvGraphicFramePr>
            <a:graphicFrameLocks noChangeAspect="1"/>
          </p:cNvGraphicFramePr>
          <p:nvPr/>
        </p:nvGraphicFramePr>
        <p:xfrm>
          <a:off x="3090863" y="3000375"/>
          <a:ext cx="3409950" cy="592138"/>
        </p:xfrm>
        <a:graphic>
          <a:graphicData uri="http://schemas.openxmlformats.org/presentationml/2006/ole">
            <p:oleObj spid="_x0000_s167537" name="Equation" r:id="rId11" imgW="1459866" imgH="253890" progId="">
              <p:embed/>
            </p:oleObj>
          </a:graphicData>
        </a:graphic>
      </p:graphicFrame>
      <p:sp>
        <p:nvSpPr>
          <p:cNvPr id="167545" name="矩形 13"/>
          <p:cNvSpPr>
            <a:spLocks noChangeArrowheads="1"/>
          </p:cNvSpPr>
          <p:nvPr/>
        </p:nvSpPr>
        <p:spPr bwMode="auto">
          <a:xfrm>
            <a:off x="571500" y="3702050"/>
            <a:ext cx="78581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 称为    除    的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商式；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7538" name="Object 626"/>
          <p:cNvGraphicFramePr>
            <a:graphicFrameLocks noChangeAspect="1"/>
          </p:cNvGraphicFramePr>
          <p:nvPr/>
        </p:nvGraphicFramePr>
        <p:xfrm>
          <a:off x="1071563" y="3779838"/>
          <a:ext cx="700087" cy="446087"/>
        </p:xfrm>
        <a:graphic>
          <a:graphicData uri="http://schemas.openxmlformats.org/presentationml/2006/ole">
            <p:oleObj spid="_x0000_s167538" name="Equation" r:id="rId12" imgW="317225" imgH="203024" progId="">
              <p:embed/>
            </p:oleObj>
          </a:graphicData>
        </a:graphic>
      </p:graphicFrame>
      <p:graphicFrame>
        <p:nvGraphicFramePr>
          <p:cNvPr id="167539" name="Object 627"/>
          <p:cNvGraphicFramePr>
            <a:graphicFrameLocks noChangeAspect="1"/>
          </p:cNvGraphicFramePr>
          <p:nvPr/>
        </p:nvGraphicFramePr>
        <p:xfrm>
          <a:off x="2500313" y="3779838"/>
          <a:ext cx="728662" cy="446087"/>
        </p:xfrm>
        <a:graphic>
          <a:graphicData uri="http://schemas.openxmlformats.org/presentationml/2006/ole">
            <p:oleObj spid="_x0000_s167539" name="Equation" r:id="rId13" imgW="330057" imgH="203112" progId="">
              <p:embed/>
            </p:oleObj>
          </a:graphicData>
        </a:graphic>
      </p:graphicFrame>
      <p:graphicFrame>
        <p:nvGraphicFramePr>
          <p:cNvPr id="167540" name="Object 628"/>
          <p:cNvGraphicFramePr>
            <a:graphicFrameLocks noChangeAspect="1"/>
          </p:cNvGraphicFramePr>
          <p:nvPr/>
        </p:nvGraphicFramePr>
        <p:xfrm>
          <a:off x="3571875" y="3779838"/>
          <a:ext cx="755650" cy="446087"/>
        </p:xfrm>
        <a:graphic>
          <a:graphicData uri="http://schemas.openxmlformats.org/presentationml/2006/ole">
            <p:oleObj spid="_x0000_s167540" name="Equation" r:id="rId14" imgW="342751" imgH="203112" progId="">
              <p:embed/>
            </p:oleObj>
          </a:graphicData>
        </a:graphic>
      </p:graphicFrame>
      <p:sp>
        <p:nvSpPr>
          <p:cNvPr id="167546" name="矩形 17"/>
          <p:cNvSpPr>
            <a:spLocks noChangeArrowheads="1"/>
          </p:cNvSpPr>
          <p:nvPr/>
        </p:nvSpPr>
        <p:spPr bwMode="auto">
          <a:xfrm>
            <a:off x="571500" y="4278313"/>
            <a:ext cx="78581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 称为    除    的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余式；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7541" name="Object 629"/>
          <p:cNvGraphicFramePr>
            <a:graphicFrameLocks noChangeAspect="1"/>
          </p:cNvGraphicFramePr>
          <p:nvPr/>
        </p:nvGraphicFramePr>
        <p:xfrm>
          <a:off x="1071563" y="4351338"/>
          <a:ext cx="673100" cy="446087"/>
        </p:xfrm>
        <a:graphic>
          <a:graphicData uri="http://schemas.openxmlformats.org/presentationml/2006/ole">
            <p:oleObj spid="_x0000_s167541" name="Equation" r:id="rId15" imgW="304536" imgH="203024" progId="">
              <p:embed/>
            </p:oleObj>
          </a:graphicData>
        </a:graphic>
      </p:graphicFrame>
      <p:graphicFrame>
        <p:nvGraphicFramePr>
          <p:cNvPr id="167542" name="Object 630"/>
          <p:cNvGraphicFramePr>
            <a:graphicFrameLocks noChangeAspect="1"/>
          </p:cNvGraphicFramePr>
          <p:nvPr/>
        </p:nvGraphicFramePr>
        <p:xfrm>
          <a:off x="2343150" y="4351338"/>
          <a:ext cx="728663" cy="446087"/>
        </p:xfrm>
        <a:graphic>
          <a:graphicData uri="http://schemas.openxmlformats.org/presentationml/2006/ole">
            <p:oleObj spid="_x0000_s167542" name="Equation" r:id="rId16" imgW="330057" imgH="203112" progId="">
              <p:embed/>
            </p:oleObj>
          </a:graphicData>
        </a:graphic>
      </p:graphicFrame>
      <p:graphicFrame>
        <p:nvGraphicFramePr>
          <p:cNvPr id="167543" name="Object 631"/>
          <p:cNvGraphicFramePr>
            <a:graphicFrameLocks noChangeAspect="1"/>
          </p:cNvGraphicFramePr>
          <p:nvPr/>
        </p:nvGraphicFramePr>
        <p:xfrm>
          <a:off x="3500438" y="4351338"/>
          <a:ext cx="755650" cy="446087"/>
        </p:xfrm>
        <a:graphic>
          <a:graphicData uri="http://schemas.openxmlformats.org/presentationml/2006/ole">
            <p:oleObj spid="_x0000_s167543" name="Equation" r:id="rId17" imgW="342751" imgH="203112" progId="">
              <p:embed/>
            </p:oleObj>
          </a:graphicData>
        </a:graphic>
      </p:graphicFrame>
      <p:sp>
        <p:nvSpPr>
          <p:cNvPr id="167547" name="矩形 21"/>
          <p:cNvSpPr>
            <a:spLocks noChangeArrowheads="1"/>
          </p:cNvSpPr>
          <p:nvPr/>
        </p:nvSpPr>
        <p:spPr bwMode="auto">
          <a:xfrm>
            <a:off x="571500" y="5143500"/>
            <a:ext cx="76438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Clr>
                <a:srgbClr val="CC0000"/>
              </a:buClr>
              <a:buSzPct val="80000"/>
              <a:buFont typeface="Wingdings" pitchFamily="2" charset="2"/>
              <a:buChar char="p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上述定理中性质称为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带余除法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。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6754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域上的多项式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除法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E0FAD78-13FD-477A-B458-E388C9DE3052}" type="slidenum">
              <a:rPr lang="en-US" altLang="zh-CN" smtClean="0"/>
              <a:pPr>
                <a:defRPr/>
              </a:pPr>
              <a:t>28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7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216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因式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定义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能解释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因式性质</a:t>
            </a:r>
          </a:p>
          <a:p>
            <a:pPr>
              <a:lnSpc>
                <a:spcPct val="150000"/>
              </a:lnSpc>
              <a:spcBef>
                <a:spcPts val="6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最大公因式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概念</a:t>
            </a:r>
          </a:p>
        </p:txBody>
      </p:sp>
      <p:sp>
        <p:nvSpPr>
          <p:cNvPr id="28569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第二小节学习目标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FFD8198-3D41-4F1C-8684-CBFC1516E906}" type="slidenum">
              <a:rPr lang="en-US" altLang="zh-CN" sz="1800" smtClean="0"/>
              <a:pPr>
                <a:defRPr/>
              </a:pPr>
              <a:t>29</a:t>
            </a:fld>
            <a:endParaRPr lang="en-US" altLang="zh-CN" sz="1800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510" name="内容占位符 2"/>
          <p:cNvSpPr>
            <a:spLocks noGrp="1"/>
          </p:cNvSpPr>
          <p:nvPr>
            <p:ph idx="4294967295"/>
          </p:nvPr>
        </p:nvSpPr>
        <p:spPr>
          <a:xfrm>
            <a:off x="571500" y="1500188"/>
            <a:ext cx="8501063" cy="20002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3.8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设    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,          ,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如果    除      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的余式         ，则称     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整除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，记为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         ，这时称    为    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因式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。否则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Wingdings" pitchFamily="2" charset="2"/>
              </a:rPr>
              <a:t>称     不整除    ，记为          。</a:t>
            </a:r>
            <a:endParaRPr lang="zh-CN" altLang="en-US" b="1" smtClean="0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68497" name="Object 561"/>
          <p:cNvGraphicFramePr>
            <a:graphicFrameLocks noChangeAspect="1"/>
          </p:cNvGraphicFramePr>
          <p:nvPr/>
        </p:nvGraphicFramePr>
        <p:xfrm>
          <a:off x="2462213" y="1571625"/>
          <a:ext cx="762000" cy="449263"/>
        </p:xfrm>
        <a:graphic>
          <a:graphicData uri="http://schemas.openxmlformats.org/presentationml/2006/ole">
            <p:oleObj spid="_x0000_s168497" name="Equation" r:id="rId3" imgW="342751" imgH="203112" progId="">
              <p:embed/>
            </p:oleObj>
          </a:graphicData>
        </a:graphic>
      </p:graphicFrame>
      <p:graphicFrame>
        <p:nvGraphicFramePr>
          <p:cNvPr id="168498" name="Object 562"/>
          <p:cNvGraphicFramePr>
            <a:graphicFrameLocks noChangeAspect="1"/>
          </p:cNvGraphicFramePr>
          <p:nvPr/>
        </p:nvGraphicFramePr>
        <p:xfrm>
          <a:off x="3429000" y="1571625"/>
          <a:ext cx="1785938" cy="474663"/>
        </p:xfrm>
        <a:graphic>
          <a:graphicData uri="http://schemas.openxmlformats.org/presentationml/2006/ole">
            <p:oleObj spid="_x0000_s168498" name="Equation" r:id="rId4" imgW="761669" imgH="203112" progId="">
              <p:embed/>
            </p:oleObj>
          </a:graphicData>
        </a:graphic>
      </p:graphicFrame>
      <p:graphicFrame>
        <p:nvGraphicFramePr>
          <p:cNvPr id="168499" name="Object 563"/>
          <p:cNvGraphicFramePr>
            <a:graphicFrameLocks noChangeAspect="1"/>
          </p:cNvGraphicFramePr>
          <p:nvPr/>
        </p:nvGraphicFramePr>
        <p:xfrm>
          <a:off x="1852613" y="2097088"/>
          <a:ext cx="1250950" cy="474662"/>
        </p:xfrm>
        <a:graphic>
          <a:graphicData uri="http://schemas.openxmlformats.org/presentationml/2006/ole">
            <p:oleObj spid="_x0000_s168499" name="Equation" r:id="rId5" imgW="533169" imgH="203112" progId="">
              <p:embed/>
            </p:oleObj>
          </a:graphicData>
        </a:graphic>
      </p:graphicFrame>
      <p:graphicFrame>
        <p:nvGraphicFramePr>
          <p:cNvPr id="168500" name="Object 564"/>
          <p:cNvGraphicFramePr>
            <a:graphicFrameLocks noChangeAspect="1"/>
          </p:cNvGraphicFramePr>
          <p:nvPr/>
        </p:nvGraphicFramePr>
        <p:xfrm>
          <a:off x="4518025" y="2071688"/>
          <a:ext cx="774700" cy="474662"/>
        </p:xfrm>
        <a:graphic>
          <a:graphicData uri="http://schemas.openxmlformats.org/presentationml/2006/ole">
            <p:oleObj spid="_x0000_s168500" name="Equation" r:id="rId6" imgW="330057" imgH="203112" progId="">
              <p:embed/>
            </p:oleObj>
          </a:graphicData>
        </a:graphic>
      </p:graphicFrame>
      <p:graphicFrame>
        <p:nvGraphicFramePr>
          <p:cNvPr id="168501" name="Object 565"/>
          <p:cNvGraphicFramePr>
            <a:graphicFrameLocks noChangeAspect="1"/>
          </p:cNvGraphicFramePr>
          <p:nvPr/>
        </p:nvGraphicFramePr>
        <p:xfrm>
          <a:off x="6000750" y="2071688"/>
          <a:ext cx="762000" cy="449262"/>
        </p:xfrm>
        <a:graphic>
          <a:graphicData uri="http://schemas.openxmlformats.org/presentationml/2006/ole">
            <p:oleObj spid="_x0000_s168501" name="Equation" r:id="rId7" imgW="342751" imgH="203112" progId="">
              <p:embed/>
            </p:oleObj>
          </a:graphicData>
        </a:graphic>
      </p:graphicFrame>
      <p:graphicFrame>
        <p:nvGraphicFramePr>
          <p:cNvPr id="168502" name="Object 566"/>
          <p:cNvGraphicFramePr>
            <a:graphicFrameLocks noChangeAspect="1"/>
          </p:cNvGraphicFramePr>
          <p:nvPr/>
        </p:nvGraphicFramePr>
        <p:xfrm>
          <a:off x="714375" y="2622550"/>
          <a:ext cx="1552575" cy="449263"/>
        </p:xfrm>
        <a:graphic>
          <a:graphicData uri="http://schemas.openxmlformats.org/presentationml/2006/ole">
            <p:oleObj spid="_x0000_s168502" name="Equation" r:id="rId8" imgW="698197" imgH="203112" progId="">
              <p:embed/>
            </p:oleObj>
          </a:graphicData>
        </a:graphic>
      </p:graphicFrame>
      <p:graphicFrame>
        <p:nvGraphicFramePr>
          <p:cNvPr id="168503" name="Object 567"/>
          <p:cNvGraphicFramePr>
            <a:graphicFrameLocks noChangeAspect="1"/>
          </p:cNvGraphicFramePr>
          <p:nvPr/>
        </p:nvGraphicFramePr>
        <p:xfrm>
          <a:off x="3714750" y="2571750"/>
          <a:ext cx="774700" cy="474663"/>
        </p:xfrm>
        <a:graphic>
          <a:graphicData uri="http://schemas.openxmlformats.org/presentationml/2006/ole">
            <p:oleObj spid="_x0000_s168503" name="Equation" r:id="rId9" imgW="330057" imgH="203112" progId="">
              <p:embed/>
            </p:oleObj>
          </a:graphicData>
        </a:graphic>
      </p:graphicFrame>
      <p:graphicFrame>
        <p:nvGraphicFramePr>
          <p:cNvPr id="168504" name="Object 568"/>
          <p:cNvGraphicFramePr>
            <a:graphicFrameLocks noChangeAspect="1"/>
          </p:cNvGraphicFramePr>
          <p:nvPr/>
        </p:nvGraphicFramePr>
        <p:xfrm>
          <a:off x="4786313" y="2622550"/>
          <a:ext cx="762000" cy="449263"/>
        </p:xfrm>
        <a:graphic>
          <a:graphicData uri="http://schemas.openxmlformats.org/presentationml/2006/ole">
            <p:oleObj spid="_x0000_s168504" name="Equation" r:id="rId10" imgW="342751" imgH="203112" progId="">
              <p:embed/>
            </p:oleObj>
          </a:graphicData>
        </a:graphic>
      </p:graphicFrame>
      <p:graphicFrame>
        <p:nvGraphicFramePr>
          <p:cNvPr id="168505" name="Object 569"/>
          <p:cNvGraphicFramePr>
            <a:graphicFrameLocks noChangeAspect="1"/>
          </p:cNvGraphicFramePr>
          <p:nvPr/>
        </p:nvGraphicFramePr>
        <p:xfrm>
          <a:off x="1071563" y="3071813"/>
          <a:ext cx="774700" cy="474662"/>
        </p:xfrm>
        <a:graphic>
          <a:graphicData uri="http://schemas.openxmlformats.org/presentationml/2006/ole">
            <p:oleObj spid="_x0000_s168505" name="Equation" r:id="rId11" imgW="330057" imgH="203112" progId="">
              <p:embed/>
            </p:oleObj>
          </a:graphicData>
        </a:graphic>
      </p:graphicFrame>
      <p:graphicFrame>
        <p:nvGraphicFramePr>
          <p:cNvPr id="168506" name="Object 570"/>
          <p:cNvGraphicFramePr>
            <a:graphicFrameLocks noChangeAspect="1"/>
          </p:cNvGraphicFramePr>
          <p:nvPr/>
        </p:nvGraphicFramePr>
        <p:xfrm>
          <a:off x="3000375" y="3138488"/>
          <a:ext cx="762000" cy="449262"/>
        </p:xfrm>
        <a:graphic>
          <a:graphicData uri="http://schemas.openxmlformats.org/presentationml/2006/ole">
            <p:oleObj spid="_x0000_s168506" name="Equation" r:id="rId12" imgW="342751" imgH="203112" progId="">
              <p:embed/>
            </p:oleObj>
          </a:graphicData>
        </a:graphic>
      </p:graphicFrame>
      <p:graphicFrame>
        <p:nvGraphicFramePr>
          <p:cNvPr id="168507" name="Object 571"/>
          <p:cNvGraphicFramePr>
            <a:graphicFrameLocks noChangeAspect="1"/>
          </p:cNvGraphicFramePr>
          <p:nvPr/>
        </p:nvGraphicFramePr>
        <p:xfrm>
          <a:off x="4860925" y="3071813"/>
          <a:ext cx="1639888" cy="449262"/>
        </p:xfrm>
        <a:graphic>
          <a:graphicData uri="http://schemas.openxmlformats.org/presentationml/2006/ole">
            <p:oleObj spid="_x0000_s168507" name="Equation" r:id="rId13" imgW="736600" imgH="203200" progId="">
              <p:embed/>
            </p:oleObj>
          </a:graphicData>
        </a:graphic>
      </p:graphicFrame>
      <p:graphicFrame>
        <p:nvGraphicFramePr>
          <p:cNvPr id="168508" name="Object 572"/>
          <p:cNvGraphicFramePr>
            <a:graphicFrameLocks noChangeAspect="1"/>
          </p:cNvGraphicFramePr>
          <p:nvPr/>
        </p:nvGraphicFramePr>
        <p:xfrm>
          <a:off x="6011863" y="1543050"/>
          <a:ext cx="774700" cy="474663"/>
        </p:xfrm>
        <a:graphic>
          <a:graphicData uri="http://schemas.openxmlformats.org/presentationml/2006/ole">
            <p:oleObj spid="_x0000_s168508" name="Equation" r:id="rId14" imgW="330057" imgH="203112" progId="">
              <p:embed/>
            </p:oleObj>
          </a:graphicData>
        </a:graphic>
      </p:graphicFrame>
      <p:graphicFrame>
        <p:nvGraphicFramePr>
          <p:cNvPr id="168509" name="Object 573"/>
          <p:cNvGraphicFramePr>
            <a:graphicFrameLocks noChangeAspect="1"/>
          </p:cNvGraphicFramePr>
          <p:nvPr/>
        </p:nvGraphicFramePr>
        <p:xfrm>
          <a:off x="7164388" y="1555750"/>
          <a:ext cx="762000" cy="449263"/>
        </p:xfrm>
        <a:graphic>
          <a:graphicData uri="http://schemas.openxmlformats.org/presentationml/2006/ole">
            <p:oleObj spid="_x0000_s168509" name="Equation" r:id="rId15" imgW="342751" imgH="203112" progId="">
              <p:embed/>
            </p:oleObj>
          </a:graphicData>
        </a:graphic>
      </p:graphicFrame>
      <p:sp>
        <p:nvSpPr>
          <p:cNvPr id="16851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多项式因式</a:t>
            </a: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95D5A2-DE8C-487F-B3DB-F9062BD24829}" type="slidenum">
              <a:rPr lang="en-US" altLang="zh-CN" smtClean="0"/>
              <a:pPr>
                <a:defRPr/>
              </a:pPr>
              <a:t>30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71" name="矩形 19"/>
          <p:cNvSpPr>
            <a:spLocks noChangeArrowheads="1"/>
          </p:cNvSpPr>
          <p:nvPr/>
        </p:nvSpPr>
        <p:spPr bwMode="auto">
          <a:xfrm>
            <a:off x="571500" y="1557338"/>
            <a:ext cx="8215313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266700" indent="-266700"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零次多项式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是任意多项式的因式；</a:t>
            </a:r>
          </a:p>
          <a:p>
            <a:pPr marL="266700" indent="-266700">
              <a:lnSpc>
                <a:spcPct val="130000"/>
              </a:lnSpc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任意多项式都是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零多项式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的因式；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pSp>
        <p:nvGrpSpPr>
          <p:cNvPr id="169278" name="Group 318"/>
          <p:cNvGrpSpPr>
            <a:grpSpLocks/>
          </p:cNvGrpSpPr>
          <p:nvPr/>
        </p:nvGrpSpPr>
        <p:grpSpPr bwMode="auto">
          <a:xfrm>
            <a:off x="642938" y="4494213"/>
            <a:ext cx="6808787" cy="519112"/>
            <a:chOff x="405" y="2639"/>
            <a:chExt cx="4289" cy="327"/>
          </a:xfrm>
        </p:grpSpPr>
        <p:sp>
          <p:nvSpPr>
            <p:cNvPr id="2" name="矩形 29"/>
            <p:cNvSpPr>
              <a:spLocks noChangeArrowheads="1"/>
            </p:cNvSpPr>
            <p:nvPr/>
          </p:nvSpPr>
          <p:spPr bwMode="auto">
            <a:xfrm>
              <a:off x="405" y="2639"/>
              <a:ext cx="3745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CC0000"/>
                </a:buClr>
                <a:buSzPct val="90000"/>
                <a:buFont typeface="Wingdings" pitchFamily="2" charset="2"/>
                <a:buChar char="Ø"/>
              </a:pP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如果         ，        ，则      </a:t>
              </a:r>
              <a:endParaRPr kumimoji="0" lang="en-US" altLang="zh-CN" b="1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69266" name="Object 306"/>
            <p:cNvGraphicFramePr>
              <a:graphicFrameLocks noChangeAspect="1"/>
            </p:cNvGraphicFramePr>
            <p:nvPr/>
          </p:nvGraphicFramePr>
          <p:xfrm>
            <a:off x="1086" y="2674"/>
            <a:ext cx="978" cy="283"/>
          </p:xfrm>
          <a:graphic>
            <a:graphicData uri="http://schemas.openxmlformats.org/presentationml/2006/ole">
              <p:oleObj spid="_x0000_s169266" name="Equation" r:id="rId4" imgW="698197" imgH="203112" progId="">
                <p:embed/>
              </p:oleObj>
            </a:graphicData>
          </a:graphic>
        </p:graphicFrame>
        <p:graphicFrame>
          <p:nvGraphicFramePr>
            <p:cNvPr id="169267" name="Object 307"/>
            <p:cNvGraphicFramePr>
              <a:graphicFrameLocks noChangeAspect="1"/>
            </p:cNvGraphicFramePr>
            <p:nvPr/>
          </p:nvGraphicFramePr>
          <p:xfrm>
            <a:off x="2290" y="2659"/>
            <a:ext cx="943" cy="283"/>
          </p:xfrm>
          <a:graphic>
            <a:graphicData uri="http://schemas.openxmlformats.org/presentationml/2006/ole">
              <p:oleObj spid="_x0000_s169267" name="Equation" r:id="rId5" imgW="672808" imgH="203112" progId="">
                <p:embed/>
              </p:oleObj>
            </a:graphicData>
          </a:graphic>
        </p:graphicFrame>
        <p:graphicFrame>
          <p:nvGraphicFramePr>
            <p:cNvPr id="169268" name="Object 308"/>
            <p:cNvGraphicFramePr>
              <a:graphicFrameLocks noChangeAspect="1"/>
            </p:cNvGraphicFramePr>
            <p:nvPr/>
          </p:nvGraphicFramePr>
          <p:xfrm>
            <a:off x="3681" y="2659"/>
            <a:ext cx="1013" cy="283"/>
          </p:xfrm>
          <a:graphic>
            <a:graphicData uri="http://schemas.openxmlformats.org/presentationml/2006/ole">
              <p:oleObj spid="_x0000_s169268" name="Equation" r:id="rId6" imgW="723586" imgH="203112" progId="">
                <p:embed/>
              </p:oleObj>
            </a:graphicData>
          </a:graphic>
        </p:graphicFrame>
      </p:grpSp>
      <p:sp>
        <p:nvSpPr>
          <p:cNvPr id="16927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3.2.2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多项式因式</a:t>
            </a:r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90D2834-DE86-451A-8CEF-3EAE972160BD}" type="slidenum">
              <a:rPr lang="en-US" altLang="zh-CN" smtClean="0"/>
              <a:pPr>
                <a:defRPr/>
              </a:pPr>
              <a:t>31</a:t>
            </a:fld>
            <a:endParaRPr lang="en-US" altLang="zh-CN" dirty="0"/>
          </a:p>
        </p:txBody>
      </p:sp>
      <p:grpSp>
        <p:nvGrpSpPr>
          <p:cNvPr id="169277" name="Group 317"/>
          <p:cNvGrpSpPr>
            <a:grpSpLocks/>
          </p:cNvGrpSpPr>
          <p:nvPr/>
        </p:nvGrpSpPr>
        <p:grpSpPr bwMode="auto">
          <a:xfrm>
            <a:off x="642938" y="3081338"/>
            <a:ext cx="8143875" cy="1139825"/>
            <a:chOff x="405" y="1832"/>
            <a:chExt cx="5130" cy="718"/>
          </a:xfrm>
        </p:grpSpPr>
        <p:sp>
          <p:nvSpPr>
            <p:cNvPr id="169276" name="矩形 20"/>
            <p:cNvSpPr>
              <a:spLocks noChangeArrowheads="1"/>
            </p:cNvSpPr>
            <p:nvPr/>
          </p:nvSpPr>
          <p:spPr bwMode="auto">
            <a:xfrm>
              <a:off x="405" y="1832"/>
              <a:ext cx="5130" cy="59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buClr>
                  <a:srgbClr val="CC0000"/>
                </a:buClr>
                <a:buSzPct val="90000"/>
                <a:buFont typeface="Wingdings" pitchFamily="2" charset="2"/>
                <a:buChar char="Ø"/>
              </a:pP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如果         ，        ，则           </a:t>
              </a:r>
              <a:endParaRPr kumimoji="0" lang="en-US" altLang="zh-CN" b="1">
                <a:latin typeface="楷体_GB2312" pitchFamily="49" charset="-122"/>
                <a:ea typeface="楷体_GB2312" pitchFamily="49" charset="-122"/>
              </a:endParaRPr>
            </a:p>
            <a:p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               </a:t>
              </a:r>
              <a:endParaRPr kumimoji="0" lang="en-US" altLang="zh-CN" b="1">
                <a:latin typeface="楷体_GB2312" pitchFamily="49" charset="-122"/>
                <a:ea typeface="楷体_GB2312" pitchFamily="49" charset="-122"/>
              </a:endParaRPr>
            </a:p>
          </p:txBody>
        </p:sp>
        <p:graphicFrame>
          <p:nvGraphicFramePr>
            <p:cNvPr id="169264" name="Object 304"/>
            <p:cNvGraphicFramePr>
              <a:graphicFrameLocks noChangeAspect="1"/>
            </p:cNvGraphicFramePr>
            <p:nvPr/>
          </p:nvGraphicFramePr>
          <p:xfrm>
            <a:off x="1111" y="1864"/>
            <a:ext cx="978" cy="283"/>
          </p:xfrm>
          <a:graphic>
            <a:graphicData uri="http://schemas.openxmlformats.org/presentationml/2006/ole">
              <p:oleObj spid="_x0000_s169264" name="Equation" r:id="rId7" imgW="698197" imgH="203112" progId="">
                <p:embed/>
              </p:oleObj>
            </a:graphicData>
          </a:graphic>
        </p:graphicFrame>
        <p:graphicFrame>
          <p:nvGraphicFramePr>
            <p:cNvPr id="169265" name="Object 305"/>
            <p:cNvGraphicFramePr>
              <a:graphicFrameLocks noChangeAspect="1"/>
            </p:cNvGraphicFramePr>
            <p:nvPr/>
          </p:nvGraphicFramePr>
          <p:xfrm>
            <a:off x="2245" y="1853"/>
            <a:ext cx="978" cy="283"/>
          </p:xfrm>
          <a:graphic>
            <a:graphicData uri="http://schemas.openxmlformats.org/presentationml/2006/ole">
              <p:oleObj spid="_x0000_s169265" name="Equation" r:id="rId8" imgW="698197" imgH="203112" progId="">
                <p:embed/>
              </p:oleObj>
            </a:graphicData>
          </a:graphic>
        </p:graphicFrame>
        <p:graphicFrame>
          <p:nvGraphicFramePr>
            <p:cNvPr id="169269" name="Object 309"/>
            <p:cNvGraphicFramePr>
              <a:graphicFrameLocks noChangeAspect="1"/>
            </p:cNvGraphicFramePr>
            <p:nvPr/>
          </p:nvGraphicFramePr>
          <p:xfrm>
            <a:off x="1526" y="2251"/>
            <a:ext cx="1369" cy="283"/>
          </p:xfrm>
          <a:graphic>
            <a:graphicData uri="http://schemas.openxmlformats.org/presentationml/2006/ole">
              <p:oleObj spid="_x0000_s169269" name="Equation" r:id="rId9" imgW="977476" imgH="203112" progId="">
                <p:embed/>
              </p:oleObj>
            </a:graphicData>
          </a:graphic>
        </p:graphicFrame>
        <p:graphicFrame>
          <p:nvGraphicFramePr>
            <p:cNvPr id="169270" name="Object 310"/>
            <p:cNvGraphicFramePr>
              <a:graphicFrameLocks noChangeAspect="1"/>
            </p:cNvGraphicFramePr>
            <p:nvPr/>
          </p:nvGraphicFramePr>
          <p:xfrm>
            <a:off x="3011" y="2251"/>
            <a:ext cx="994" cy="299"/>
          </p:xfrm>
          <a:graphic>
            <a:graphicData uri="http://schemas.openxmlformats.org/presentationml/2006/ole">
              <p:oleObj spid="_x0000_s169270" name="Equation" r:id="rId10" imgW="672808" imgH="203112" progId="">
                <p:embed/>
              </p:oleObj>
            </a:graphicData>
          </a:graphic>
        </p:graphicFrame>
      </p:grp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9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9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34" name="内容占位符 2"/>
          <p:cNvSpPr>
            <a:spLocks noGrp="1"/>
          </p:cNvSpPr>
          <p:nvPr>
            <p:ph idx="4294967295"/>
          </p:nvPr>
        </p:nvSpPr>
        <p:spPr>
          <a:xfrm>
            <a:off x="428625" y="1285875"/>
            <a:ext cx="6664325" cy="4873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3.9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  ，   ，        。如果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78321" name="Object 145"/>
          <p:cNvGraphicFramePr>
            <a:graphicFrameLocks noChangeAspect="1"/>
          </p:cNvGraphicFramePr>
          <p:nvPr/>
        </p:nvGraphicFramePr>
        <p:xfrm>
          <a:off x="2286000" y="1365250"/>
          <a:ext cx="714375" cy="439738"/>
        </p:xfrm>
        <a:graphic>
          <a:graphicData uri="http://schemas.openxmlformats.org/presentationml/2006/ole">
            <p:oleObj spid="_x0000_s178321" name="Equation" r:id="rId4" imgW="330057" imgH="203112" progId="">
              <p:embed/>
            </p:oleObj>
          </a:graphicData>
        </a:graphic>
      </p:graphicFrame>
      <p:graphicFrame>
        <p:nvGraphicFramePr>
          <p:cNvPr id="178322" name="Object 146"/>
          <p:cNvGraphicFramePr>
            <a:graphicFrameLocks noChangeAspect="1"/>
          </p:cNvGraphicFramePr>
          <p:nvPr/>
        </p:nvGraphicFramePr>
        <p:xfrm>
          <a:off x="3143250" y="1357313"/>
          <a:ext cx="714375" cy="422275"/>
        </p:xfrm>
        <a:graphic>
          <a:graphicData uri="http://schemas.openxmlformats.org/presentationml/2006/ole">
            <p:oleObj spid="_x0000_s178322" name="Equation" r:id="rId5" imgW="342751" imgH="203112" progId="">
              <p:embed/>
            </p:oleObj>
          </a:graphicData>
        </a:graphic>
      </p:graphicFrame>
      <p:graphicFrame>
        <p:nvGraphicFramePr>
          <p:cNvPr id="178323" name="Object 147"/>
          <p:cNvGraphicFramePr>
            <a:graphicFrameLocks noChangeAspect="1"/>
          </p:cNvGraphicFramePr>
          <p:nvPr/>
        </p:nvGraphicFramePr>
        <p:xfrm>
          <a:off x="4071938" y="1330325"/>
          <a:ext cx="1714500" cy="455613"/>
        </p:xfrm>
        <a:graphic>
          <a:graphicData uri="http://schemas.openxmlformats.org/presentationml/2006/ole">
            <p:oleObj spid="_x0000_s178323" name="Equation" r:id="rId6" imgW="761669" imgH="203112" progId="">
              <p:embed/>
            </p:oleObj>
          </a:graphicData>
        </a:graphic>
      </p:graphicFrame>
      <p:sp>
        <p:nvSpPr>
          <p:cNvPr id="178335" name="矩形 8"/>
          <p:cNvSpPr>
            <a:spLocks noChangeArrowheads="1"/>
          </p:cNvSpPr>
          <p:nvPr/>
        </p:nvSpPr>
        <p:spPr bwMode="auto">
          <a:xfrm>
            <a:off x="611188" y="1714500"/>
            <a:ext cx="302418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(1)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         ，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8324" name="Object 148"/>
          <p:cNvGraphicFramePr>
            <a:graphicFrameLocks noChangeAspect="1"/>
          </p:cNvGraphicFramePr>
          <p:nvPr/>
        </p:nvGraphicFramePr>
        <p:xfrm>
          <a:off x="1290638" y="1789113"/>
          <a:ext cx="1552575" cy="449262"/>
        </p:xfrm>
        <a:graphic>
          <a:graphicData uri="http://schemas.openxmlformats.org/presentationml/2006/ole">
            <p:oleObj spid="_x0000_s178324" name="Equation" r:id="rId7" imgW="698197" imgH="203112" progId="">
              <p:embed/>
            </p:oleObj>
          </a:graphicData>
        </a:graphic>
      </p:graphicFrame>
      <p:graphicFrame>
        <p:nvGraphicFramePr>
          <p:cNvPr id="178325" name="Object 149"/>
          <p:cNvGraphicFramePr>
            <a:graphicFrameLocks noChangeAspect="1"/>
          </p:cNvGraphicFramePr>
          <p:nvPr/>
        </p:nvGraphicFramePr>
        <p:xfrm>
          <a:off x="3132138" y="1809750"/>
          <a:ext cx="1524000" cy="449263"/>
        </p:xfrm>
        <a:graphic>
          <a:graphicData uri="http://schemas.openxmlformats.org/presentationml/2006/ole">
            <p:oleObj spid="_x0000_s178325" name="Equation" r:id="rId8" imgW="685800" imgH="203200" progId="">
              <p:embed/>
            </p:oleObj>
          </a:graphicData>
        </a:graphic>
      </p:graphicFrame>
      <p:sp>
        <p:nvSpPr>
          <p:cNvPr id="178336" name="矩形 11"/>
          <p:cNvSpPr>
            <a:spLocks noChangeArrowheads="1"/>
          </p:cNvSpPr>
          <p:nvPr/>
        </p:nvSpPr>
        <p:spPr bwMode="auto">
          <a:xfrm>
            <a:off x="598488" y="2238375"/>
            <a:ext cx="8366125" cy="103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(2)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对    和    的任意共同的因式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公因子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)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，均有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8326" name="Object 150"/>
          <p:cNvGraphicFramePr>
            <a:graphicFrameLocks noChangeAspect="1"/>
          </p:cNvGraphicFramePr>
          <p:nvPr/>
        </p:nvGraphicFramePr>
        <p:xfrm>
          <a:off x="1560513" y="2336800"/>
          <a:ext cx="714375" cy="422275"/>
        </p:xfrm>
        <a:graphic>
          <a:graphicData uri="http://schemas.openxmlformats.org/presentationml/2006/ole">
            <p:oleObj spid="_x0000_s178326" name="Equation" r:id="rId9" imgW="342751" imgH="203112" progId="">
              <p:embed/>
            </p:oleObj>
          </a:graphicData>
        </a:graphic>
      </p:graphicFrame>
      <p:graphicFrame>
        <p:nvGraphicFramePr>
          <p:cNvPr id="178327" name="Object 151"/>
          <p:cNvGraphicFramePr>
            <a:graphicFrameLocks noChangeAspect="1"/>
          </p:cNvGraphicFramePr>
          <p:nvPr/>
        </p:nvGraphicFramePr>
        <p:xfrm>
          <a:off x="2700338" y="2282825"/>
          <a:ext cx="742950" cy="455613"/>
        </p:xfrm>
        <a:graphic>
          <a:graphicData uri="http://schemas.openxmlformats.org/presentationml/2006/ole">
            <p:oleObj spid="_x0000_s178327" name="Equation" r:id="rId10" imgW="330057" imgH="203112" progId="">
              <p:embed/>
            </p:oleObj>
          </a:graphicData>
        </a:graphic>
      </p:graphicFrame>
      <p:graphicFrame>
        <p:nvGraphicFramePr>
          <p:cNvPr id="178328" name="Object 152"/>
          <p:cNvGraphicFramePr>
            <a:graphicFrameLocks noChangeAspect="1"/>
          </p:cNvGraphicFramePr>
          <p:nvPr/>
        </p:nvGraphicFramePr>
        <p:xfrm>
          <a:off x="7618413" y="2286000"/>
          <a:ext cx="769937" cy="495300"/>
        </p:xfrm>
        <a:graphic>
          <a:graphicData uri="http://schemas.openxmlformats.org/presentationml/2006/ole">
            <p:oleObj spid="_x0000_s178328" name="Equation" r:id="rId11" imgW="355446" imgH="228501" progId="">
              <p:embed/>
            </p:oleObj>
          </a:graphicData>
        </a:graphic>
      </p:graphicFrame>
      <p:graphicFrame>
        <p:nvGraphicFramePr>
          <p:cNvPr id="178329" name="Object 153"/>
          <p:cNvGraphicFramePr>
            <a:graphicFrameLocks noChangeAspect="1"/>
          </p:cNvGraphicFramePr>
          <p:nvPr/>
        </p:nvGraphicFramePr>
        <p:xfrm>
          <a:off x="1476375" y="2784475"/>
          <a:ext cx="1566863" cy="495300"/>
        </p:xfrm>
        <a:graphic>
          <a:graphicData uri="http://schemas.openxmlformats.org/presentationml/2006/ole">
            <p:oleObj spid="_x0000_s178329" name="Equation" r:id="rId12" imgW="723586" imgH="228501" progId="">
              <p:embed/>
            </p:oleObj>
          </a:graphicData>
        </a:graphic>
      </p:graphicFrame>
      <p:sp>
        <p:nvSpPr>
          <p:cNvPr id="178337" name="矩形 16"/>
          <p:cNvSpPr>
            <a:spLocks noChangeArrowheads="1"/>
          </p:cNvSpPr>
          <p:nvPr/>
        </p:nvSpPr>
        <p:spPr bwMode="auto">
          <a:xfrm>
            <a:off x="571500" y="3297238"/>
            <a:ext cx="82153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则称    为    和    的</a:t>
            </a: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最大公因式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记为 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8330" name="Object 154"/>
          <p:cNvGraphicFramePr>
            <a:graphicFrameLocks noChangeAspect="1"/>
          </p:cNvGraphicFramePr>
          <p:nvPr/>
        </p:nvGraphicFramePr>
        <p:xfrm>
          <a:off x="1357313" y="3368675"/>
          <a:ext cx="714375" cy="439738"/>
        </p:xfrm>
        <a:graphic>
          <a:graphicData uri="http://schemas.openxmlformats.org/presentationml/2006/ole">
            <p:oleObj spid="_x0000_s178330" name="Equation" r:id="rId13" imgW="330057" imgH="203112" progId="">
              <p:embed/>
            </p:oleObj>
          </a:graphicData>
        </a:graphic>
      </p:graphicFrame>
      <p:graphicFrame>
        <p:nvGraphicFramePr>
          <p:cNvPr id="178331" name="Object 155"/>
          <p:cNvGraphicFramePr>
            <a:graphicFrameLocks noChangeAspect="1"/>
          </p:cNvGraphicFramePr>
          <p:nvPr/>
        </p:nvGraphicFramePr>
        <p:xfrm>
          <a:off x="2428875" y="3368675"/>
          <a:ext cx="714375" cy="422275"/>
        </p:xfrm>
        <a:graphic>
          <a:graphicData uri="http://schemas.openxmlformats.org/presentationml/2006/ole">
            <p:oleObj spid="_x0000_s178331" name="Equation" r:id="rId14" imgW="342751" imgH="203112" progId="">
              <p:embed/>
            </p:oleObj>
          </a:graphicData>
        </a:graphic>
      </p:graphicFrame>
      <p:graphicFrame>
        <p:nvGraphicFramePr>
          <p:cNvPr id="178332" name="Object 156"/>
          <p:cNvGraphicFramePr>
            <a:graphicFrameLocks noChangeAspect="1"/>
          </p:cNvGraphicFramePr>
          <p:nvPr/>
        </p:nvGraphicFramePr>
        <p:xfrm>
          <a:off x="3571875" y="3341688"/>
          <a:ext cx="742950" cy="455612"/>
        </p:xfrm>
        <a:graphic>
          <a:graphicData uri="http://schemas.openxmlformats.org/presentationml/2006/ole">
            <p:oleObj spid="_x0000_s178332" name="Equation" r:id="rId15" imgW="330057" imgH="203112" progId="">
              <p:embed/>
            </p:oleObj>
          </a:graphicData>
        </a:graphic>
      </p:graphicFrame>
      <p:graphicFrame>
        <p:nvGraphicFramePr>
          <p:cNvPr id="178333" name="Object 157"/>
          <p:cNvGraphicFramePr>
            <a:graphicFrameLocks noChangeAspect="1"/>
          </p:cNvGraphicFramePr>
          <p:nvPr/>
        </p:nvGraphicFramePr>
        <p:xfrm>
          <a:off x="2643188" y="3797300"/>
          <a:ext cx="2771775" cy="568325"/>
        </p:xfrm>
        <a:graphic>
          <a:graphicData uri="http://schemas.openxmlformats.org/presentationml/2006/ole">
            <p:oleObj spid="_x0000_s178333" name="Equation" r:id="rId16" imgW="1231366" imgH="253890" progId="">
              <p:embed/>
            </p:oleObj>
          </a:graphicData>
        </a:graphic>
      </p:graphicFrame>
      <p:sp>
        <p:nvSpPr>
          <p:cNvPr id="17833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3.2.2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多项式因式</a:t>
            </a:r>
          </a:p>
        </p:txBody>
      </p:sp>
      <p:sp>
        <p:nvSpPr>
          <p:cNvPr id="33" name="灯片编号占位符 3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18A0083-D6AF-4EBA-BAA2-15E67003D222}" type="slidenum">
              <a:rPr lang="en-US" altLang="zh-CN" smtClean="0"/>
              <a:pPr>
                <a:defRPr/>
              </a:pPr>
              <a:t>32</a:t>
            </a:fld>
            <a:endParaRPr lang="en-US" altLang="zh-CN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08" name="内容占位符 2"/>
          <p:cNvSpPr txBox="1">
            <a:spLocks/>
          </p:cNvSpPr>
          <p:nvPr/>
        </p:nvSpPr>
        <p:spPr bwMode="auto">
          <a:xfrm>
            <a:off x="500063" y="2428875"/>
            <a:ext cx="811530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    是   与     的最大公因式，则 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也是    与    的最大公因式，一般用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表示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最高项系数为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的最大公因式；</a:t>
            </a:r>
          </a:p>
        </p:txBody>
      </p:sp>
      <p:graphicFrame>
        <p:nvGraphicFramePr>
          <p:cNvPr id="172790" name="Object 758"/>
          <p:cNvGraphicFramePr>
            <a:graphicFrameLocks noChangeAspect="1"/>
          </p:cNvGraphicFramePr>
          <p:nvPr/>
        </p:nvGraphicFramePr>
        <p:xfrm>
          <a:off x="2268538" y="2482850"/>
          <a:ext cx="762000" cy="449263"/>
        </p:xfrm>
        <a:graphic>
          <a:graphicData uri="http://schemas.openxmlformats.org/presentationml/2006/ole">
            <p:oleObj spid="_x0000_s172790" name="Equation" r:id="rId4" imgW="342751" imgH="203112" progId="">
              <p:embed/>
            </p:oleObj>
          </a:graphicData>
        </a:graphic>
      </p:graphicFrame>
      <p:graphicFrame>
        <p:nvGraphicFramePr>
          <p:cNvPr id="172791" name="Object 759"/>
          <p:cNvGraphicFramePr>
            <a:graphicFrameLocks noChangeAspect="1"/>
          </p:cNvGraphicFramePr>
          <p:nvPr/>
        </p:nvGraphicFramePr>
        <p:xfrm>
          <a:off x="3333750" y="2482850"/>
          <a:ext cx="733425" cy="449263"/>
        </p:xfrm>
        <a:graphic>
          <a:graphicData uri="http://schemas.openxmlformats.org/presentationml/2006/ole">
            <p:oleObj spid="_x0000_s172791" name="Equation" r:id="rId5" imgW="330057" imgH="203112" progId="">
              <p:embed/>
            </p:oleObj>
          </a:graphicData>
        </a:graphic>
      </p:graphicFrame>
      <p:graphicFrame>
        <p:nvGraphicFramePr>
          <p:cNvPr id="172792" name="Object 760"/>
          <p:cNvGraphicFramePr>
            <a:graphicFrameLocks noChangeAspect="1"/>
          </p:cNvGraphicFramePr>
          <p:nvPr/>
        </p:nvGraphicFramePr>
        <p:xfrm>
          <a:off x="6818313" y="2955925"/>
          <a:ext cx="1714500" cy="544513"/>
        </p:xfrm>
        <a:graphic>
          <a:graphicData uri="http://schemas.openxmlformats.org/presentationml/2006/ole">
            <p:oleObj spid="_x0000_s172792" name="Equation" r:id="rId6" imgW="799753" imgH="253890" progId="">
              <p:embed/>
            </p:oleObj>
          </a:graphicData>
        </a:graphic>
      </p:graphicFrame>
      <p:sp>
        <p:nvSpPr>
          <p:cNvPr id="172809" name="内容占位符 2"/>
          <p:cNvSpPr txBox="1">
            <a:spLocks/>
          </p:cNvSpPr>
          <p:nvPr/>
        </p:nvSpPr>
        <p:spPr bwMode="auto">
          <a:xfrm>
            <a:off x="500063" y="4429125"/>
            <a:ext cx="7929562" cy="150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66700" indent="-2667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    与    不全为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时，   为    与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266700" indent="-2667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的最大公因式        为    与    的次数最高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266700" indent="-2667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的公因式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.</a:t>
            </a:r>
          </a:p>
        </p:txBody>
      </p:sp>
      <p:graphicFrame>
        <p:nvGraphicFramePr>
          <p:cNvPr id="172793" name="Object 761"/>
          <p:cNvGraphicFramePr>
            <a:graphicFrameLocks noChangeAspect="1"/>
          </p:cNvGraphicFramePr>
          <p:nvPr/>
        </p:nvGraphicFramePr>
        <p:xfrm>
          <a:off x="1217613" y="4500563"/>
          <a:ext cx="762000" cy="449262"/>
        </p:xfrm>
        <a:graphic>
          <a:graphicData uri="http://schemas.openxmlformats.org/presentationml/2006/ole">
            <p:oleObj spid="_x0000_s172793" name="Equation" r:id="rId7" imgW="342751" imgH="203112" progId="">
              <p:embed/>
            </p:oleObj>
          </a:graphicData>
        </a:graphic>
      </p:graphicFrame>
      <p:graphicFrame>
        <p:nvGraphicFramePr>
          <p:cNvPr id="172794" name="Object 762"/>
          <p:cNvGraphicFramePr>
            <a:graphicFrameLocks noChangeAspect="1"/>
          </p:cNvGraphicFramePr>
          <p:nvPr/>
        </p:nvGraphicFramePr>
        <p:xfrm>
          <a:off x="4859338" y="4500563"/>
          <a:ext cx="733425" cy="449262"/>
        </p:xfrm>
        <a:graphic>
          <a:graphicData uri="http://schemas.openxmlformats.org/presentationml/2006/ole">
            <p:oleObj spid="_x0000_s172794" name="Equation" r:id="rId8" imgW="330057" imgH="203112" progId="">
              <p:embed/>
            </p:oleObj>
          </a:graphicData>
        </a:graphic>
      </p:graphicFrame>
      <p:graphicFrame>
        <p:nvGraphicFramePr>
          <p:cNvPr id="172795" name="Object 763"/>
          <p:cNvGraphicFramePr>
            <a:graphicFrameLocks noChangeAspect="1"/>
          </p:cNvGraphicFramePr>
          <p:nvPr/>
        </p:nvGraphicFramePr>
        <p:xfrm>
          <a:off x="5867400" y="4508500"/>
          <a:ext cx="762000" cy="449263"/>
        </p:xfrm>
        <a:graphic>
          <a:graphicData uri="http://schemas.openxmlformats.org/presentationml/2006/ole">
            <p:oleObj spid="_x0000_s172795" name="Equation" r:id="rId9" imgW="342751" imgH="203112" progId="">
              <p:embed/>
            </p:oleObj>
          </a:graphicData>
        </a:graphic>
      </p:graphicFrame>
      <p:graphicFrame>
        <p:nvGraphicFramePr>
          <p:cNvPr id="172796" name="Object 764"/>
          <p:cNvGraphicFramePr>
            <a:graphicFrameLocks noChangeAspect="1"/>
          </p:cNvGraphicFramePr>
          <p:nvPr/>
        </p:nvGraphicFramePr>
        <p:xfrm>
          <a:off x="6981825" y="4475163"/>
          <a:ext cx="733425" cy="449262"/>
        </p:xfrm>
        <a:graphic>
          <a:graphicData uri="http://schemas.openxmlformats.org/presentationml/2006/ole">
            <p:oleObj spid="_x0000_s172796" name="Equation" r:id="rId10" imgW="330057" imgH="203112" progId="">
              <p:embed/>
            </p:oleObj>
          </a:graphicData>
        </a:graphic>
      </p:graphicFrame>
      <p:graphicFrame>
        <p:nvGraphicFramePr>
          <p:cNvPr id="172797" name="Object 765"/>
          <p:cNvGraphicFramePr>
            <a:graphicFrameLocks noChangeAspect="1"/>
          </p:cNvGraphicFramePr>
          <p:nvPr/>
        </p:nvGraphicFramePr>
        <p:xfrm>
          <a:off x="2949575" y="5072063"/>
          <a:ext cx="479425" cy="336550"/>
        </p:xfrm>
        <a:graphic>
          <a:graphicData uri="http://schemas.openxmlformats.org/presentationml/2006/ole">
            <p:oleObj spid="_x0000_s172797" name="Equation" r:id="rId11" imgW="215713" imgH="152268" progId="">
              <p:embed/>
            </p:oleObj>
          </a:graphicData>
        </a:graphic>
      </p:graphicFrame>
      <p:graphicFrame>
        <p:nvGraphicFramePr>
          <p:cNvPr id="172798" name="Object 766"/>
          <p:cNvGraphicFramePr>
            <a:graphicFrameLocks noChangeAspect="1"/>
          </p:cNvGraphicFramePr>
          <p:nvPr/>
        </p:nvGraphicFramePr>
        <p:xfrm>
          <a:off x="3409950" y="5030788"/>
          <a:ext cx="733425" cy="449262"/>
        </p:xfrm>
        <a:graphic>
          <a:graphicData uri="http://schemas.openxmlformats.org/presentationml/2006/ole">
            <p:oleObj spid="_x0000_s172798" name="Equation" r:id="rId12" imgW="330057" imgH="203112" progId="">
              <p:embed/>
            </p:oleObj>
          </a:graphicData>
        </a:graphic>
      </p:graphicFrame>
      <p:graphicFrame>
        <p:nvGraphicFramePr>
          <p:cNvPr id="172799" name="Object 767"/>
          <p:cNvGraphicFramePr>
            <a:graphicFrameLocks noChangeAspect="1"/>
          </p:cNvGraphicFramePr>
          <p:nvPr/>
        </p:nvGraphicFramePr>
        <p:xfrm>
          <a:off x="4500563" y="5000625"/>
          <a:ext cx="762000" cy="449263"/>
        </p:xfrm>
        <a:graphic>
          <a:graphicData uri="http://schemas.openxmlformats.org/presentationml/2006/ole">
            <p:oleObj spid="_x0000_s172799" name="Equation" r:id="rId13" imgW="342751" imgH="203112" progId="">
              <p:embed/>
            </p:oleObj>
          </a:graphicData>
        </a:graphic>
      </p:graphicFrame>
      <p:graphicFrame>
        <p:nvGraphicFramePr>
          <p:cNvPr id="172800" name="Object 768"/>
          <p:cNvGraphicFramePr>
            <a:graphicFrameLocks noChangeAspect="1"/>
          </p:cNvGraphicFramePr>
          <p:nvPr/>
        </p:nvGraphicFramePr>
        <p:xfrm>
          <a:off x="5651500" y="5000625"/>
          <a:ext cx="733425" cy="449263"/>
        </p:xfrm>
        <a:graphic>
          <a:graphicData uri="http://schemas.openxmlformats.org/presentationml/2006/ole">
            <p:oleObj spid="_x0000_s172800" name="Equation" r:id="rId14" imgW="330057" imgH="203112" progId="">
              <p:embed/>
            </p:oleObj>
          </a:graphicData>
        </a:graphic>
      </p:graphicFrame>
      <p:graphicFrame>
        <p:nvGraphicFramePr>
          <p:cNvPr id="172801" name="Object 769"/>
          <p:cNvGraphicFramePr>
            <a:graphicFrameLocks noChangeAspect="1"/>
          </p:cNvGraphicFramePr>
          <p:nvPr/>
        </p:nvGraphicFramePr>
        <p:xfrm>
          <a:off x="1331913" y="2482850"/>
          <a:ext cx="698500" cy="419100"/>
        </p:xfrm>
        <a:graphic>
          <a:graphicData uri="http://schemas.openxmlformats.org/presentationml/2006/ole">
            <p:oleObj spid="_x0000_s172801" name="Equation" r:id="rId15" imgW="698500" imgH="419100" progId="">
              <p:embed/>
            </p:oleObj>
          </a:graphicData>
        </a:graphic>
      </p:graphicFrame>
      <p:graphicFrame>
        <p:nvGraphicFramePr>
          <p:cNvPr id="172802" name="Object 770"/>
          <p:cNvGraphicFramePr>
            <a:graphicFrameLocks noChangeAspect="1"/>
          </p:cNvGraphicFramePr>
          <p:nvPr/>
        </p:nvGraphicFramePr>
        <p:xfrm>
          <a:off x="7092950" y="2482850"/>
          <a:ext cx="863600" cy="419100"/>
        </p:xfrm>
        <a:graphic>
          <a:graphicData uri="http://schemas.openxmlformats.org/presentationml/2006/ole">
            <p:oleObj spid="_x0000_s172802" name="Equation" r:id="rId16" imgW="863225" imgH="418918" progId="">
              <p:embed/>
            </p:oleObj>
          </a:graphicData>
        </a:graphic>
      </p:graphicFrame>
      <p:graphicFrame>
        <p:nvGraphicFramePr>
          <p:cNvPr id="172803" name="Object 771"/>
          <p:cNvGraphicFramePr>
            <a:graphicFrameLocks noChangeAspect="1"/>
          </p:cNvGraphicFramePr>
          <p:nvPr/>
        </p:nvGraphicFramePr>
        <p:xfrm>
          <a:off x="1433513" y="2979738"/>
          <a:ext cx="762000" cy="449262"/>
        </p:xfrm>
        <a:graphic>
          <a:graphicData uri="http://schemas.openxmlformats.org/presentationml/2006/ole">
            <p:oleObj spid="_x0000_s172803" name="Equation" r:id="rId17" imgW="342751" imgH="203112" progId="">
              <p:embed/>
            </p:oleObj>
          </a:graphicData>
        </a:graphic>
      </p:graphicFrame>
      <p:graphicFrame>
        <p:nvGraphicFramePr>
          <p:cNvPr id="172804" name="Object 772"/>
          <p:cNvGraphicFramePr>
            <a:graphicFrameLocks noChangeAspect="1"/>
          </p:cNvGraphicFramePr>
          <p:nvPr/>
        </p:nvGraphicFramePr>
        <p:xfrm>
          <a:off x="2543175" y="2979738"/>
          <a:ext cx="733425" cy="449262"/>
        </p:xfrm>
        <a:graphic>
          <a:graphicData uri="http://schemas.openxmlformats.org/presentationml/2006/ole">
            <p:oleObj spid="_x0000_s172804" name="Equation" r:id="rId18" imgW="330057" imgH="203112" progId="">
              <p:embed/>
            </p:oleObj>
          </a:graphicData>
        </a:graphic>
      </p:graphicFrame>
      <p:graphicFrame>
        <p:nvGraphicFramePr>
          <p:cNvPr id="172805" name="Object 773"/>
          <p:cNvGraphicFramePr>
            <a:graphicFrameLocks noChangeAspect="1"/>
          </p:cNvGraphicFramePr>
          <p:nvPr/>
        </p:nvGraphicFramePr>
        <p:xfrm>
          <a:off x="2339975" y="4492625"/>
          <a:ext cx="733425" cy="449263"/>
        </p:xfrm>
        <a:graphic>
          <a:graphicData uri="http://schemas.openxmlformats.org/presentationml/2006/ole">
            <p:oleObj spid="_x0000_s172805" name="Equation" r:id="rId19" imgW="330057" imgH="203112" progId="">
              <p:embed/>
            </p:oleObj>
          </a:graphicData>
        </a:graphic>
      </p:graphicFrame>
      <p:sp>
        <p:nvSpPr>
          <p:cNvPr id="17281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域上的多项式</a:t>
            </a:r>
            <a:r>
              <a:rPr kumimoji="0" lang="en-US" altLang="zh-CN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-</a:t>
            </a:r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最大公因式</a:t>
            </a:r>
          </a:p>
        </p:txBody>
      </p:sp>
      <p:sp>
        <p:nvSpPr>
          <p:cNvPr id="32" name="灯片编号占位符 31"/>
          <p:cNvSpPr>
            <a:spLocks noGrp="1"/>
          </p:cNvSpPr>
          <p:nvPr>
            <p:ph type="sldNum" sz="quarter" idx="10"/>
          </p:nvPr>
        </p:nvSpPr>
        <p:spPr>
          <a:xfrm>
            <a:off x="8215313" y="6357938"/>
            <a:ext cx="928687" cy="428625"/>
          </a:xfrm>
        </p:spPr>
        <p:txBody>
          <a:bodyPr/>
          <a:lstStyle/>
          <a:p>
            <a:pPr>
              <a:defRPr/>
            </a:pPr>
            <a:fld id="{C7FB4058-8DF1-461A-9BC5-D6020E010E04}" type="slidenum">
              <a:rPr lang="en-US" altLang="zh-CN" smtClean="0"/>
              <a:pPr>
                <a:defRPr/>
              </a:pPr>
              <a:t>33</a:t>
            </a:fld>
            <a:endParaRPr lang="en-US" altLang="zh-CN" dirty="0"/>
          </a:p>
        </p:txBody>
      </p:sp>
      <p:sp>
        <p:nvSpPr>
          <p:cNvPr id="172812" name="内容占位符 2"/>
          <p:cNvSpPr txBox="1">
            <a:spLocks/>
          </p:cNvSpPr>
          <p:nvPr/>
        </p:nvSpPr>
        <p:spPr bwMode="auto">
          <a:xfrm>
            <a:off x="571500" y="1500188"/>
            <a:ext cx="7929563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5600" indent="-3556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            时，规定</a:t>
            </a:r>
          </a:p>
        </p:txBody>
      </p:sp>
      <p:graphicFrame>
        <p:nvGraphicFramePr>
          <p:cNvPr id="172806" name="Object 774"/>
          <p:cNvGraphicFramePr>
            <a:graphicFrameLocks noChangeAspect="1"/>
          </p:cNvGraphicFramePr>
          <p:nvPr/>
        </p:nvGraphicFramePr>
        <p:xfrm>
          <a:off x="1428750" y="1571625"/>
          <a:ext cx="2089150" cy="422275"/>
        </p:xfrm>
        <a:graphic>
          <a:graphicData uri="http://schemas.openxmlformats.org/presentationml/2006/ole">
            <p:oleObj spid="_x0000_s172806" name="Equation" r:id="rId20" imgW="1002865" imgH="203112" progId="">
              <p:embed/>
            </p:oleObj>
          </a:graphicData>
        </a:graphic>
      </p:graphicFrame>
      <p:graphicFrame>
        <p:nvGraphicFramePr>
          <p:cNvPr id="172807" name="Object 775"/>
          <p:cNvGraphicFramePr>
            <a:graphicFrameLocks noChangeAspect="1"/>
          </p:cNvGraphicFramePr>
          <p:nvPr/>
        </p:nvGraphicFramePr>
        <p:xfrm>
          <a:off x="5072063" y="1544638"/>
          <a:ext cx="2222500" cy="527050"/>
        </p:xfrm>
        <a:graphic>
          <a:graphicData uri="http://schemas.openxmlformats.org/presentationml/2006/ole">
            <p:oleObj spid="_x0000_s172807" name="Equation" r:id="rId21" imgW="1066337" imgH="25389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7" name="Rectangle 3"/>
          <p:cNvSpPr>
            <a:spLocks noChangeArrowheads="1"/>
          </p:cNvSpPr>
          <p:nvPr/>
        </p:nvSpPr>
        <p:spPr bwMode="auto">
          <a:xfrm>
            <a:off x="357188" y="1571625"/>
            <a:ext cx="6230937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已知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实数域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上多项式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x+1,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g=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;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已知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上多项式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(x+1)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g=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+x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求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(f, g)</a:t>
            </a:r>
          </a:p>
          <a:p>
            <a:pPr>
              <a:lnSpc>
                <a:spcPct val="125000"/>
              </a:lnSpc>
              <a:spcBef>
                <a:spcPts val="2400"/>
              </a:spcBef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你觉得求最大公因子有什么方法？</a:t>
            </a:r>
          </a:p>
        </p:txBody>
      </p:sp>
      <p:sp>
        <p:nvSpPr>
          <p:cNvPr id="29593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问题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865F281-D213-42C6-8761-40006E3F766B}" type="slidenum">
              <a:rPr lang="en-US" altLang="zh-CN" sz="1800" smtClean="0"/>
              <a:pPr>
                <a:defRPr/>
              </a:pPr>
              <a:t>34</a:t>
            </a:fld>
            <a:endParaRPr lang="en-US" altLang="zh-CN" sz="1800" dirty="0"/>
          </a:p>
        </p:txBody>
      </p:sp>
      <p:sp>
        <p:nvSpPr>
          <p:cNvPr id="295941" name="Text Box 5"/>
          <p:cNvSpPr txBox="1">
            <a:spLocks noChangeArrowheads="1"/>
          </p:cNvSpPr>
          <p:nvPr/>
        </p:nvSpPr>
        <p:spPr bwMode="auto">
          <a:xfrm>
            <a:off x="6372225" y="1700213"/>
            <a:ext cx="23336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f, g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=x+1</a:t>
            </a:r>
          </a:p>
        </p:txBody>
      </p:sp>
      <p:sp>
        <p:nvSpPr>
          <p:cNvPr id="295942" name="Text Box 6"/>
          <p:cNvSpPr txBox="1">
            <a:spLocks noChangeArrowheads="1"/>
          </p:cNvSpPr>
          <p:nvPr/>
        </p:nvSpPr>
        <p:spPr bwMode="auto">
          <a:xfrm>
            <a:off x="3851275" y="3284538"/>
            <a:ext cx="36544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f, g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=(x+1)</a:t>
            </a:r>
            <a:r>
              <a:rPr lang="en-US" altLang="zh-CN" b="1" baseline="3000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=x</a:t>
            </a:r>
            <a:r>
              <a:rPr lang="en-US" altLang="zh-CN" b="1" baseline="3000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+1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5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5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1" grpId="0"/>
      <p:bldP spid="29594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5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2301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会用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辗转相除法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计算最大公因式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能解释关于多项式的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扩展欧几里德定理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能理解</a:t>
            </a: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微软雅黑"/>
              </a:rPr>
              <a:t>多项式互素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微软雅黑"/>
              </a:rPr>
              <a:t>的概念和性质</a:t>
            </a:r>
          </a:p>
        </p:txBody>
      </p:sp>
      <p:sp>
        <p:nvSpPr>
          <p:cNvPr id="29798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第三小节学习目标</a:t>
            </a:r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F4DBF3D-5348-4839-A502-A5D036C9DCEB}" type="slidenum">
              <a:rPr lang="en-US" altLang="zh-CN" sz="1800" smtClean="0"/>
              <a:pPr>
                <a:defRPr/>
              </a:pPr>
              <a:t>35</a:t>
            </a:fld>
            <a:endParaRPr lang="en-US" altLang="zh-CN" sz="1800" dirty="0"/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09" name="内容占位符 2"/>
          <p:cNvSpPr txBox="1">
            <a:spLocks/>
          </p:cNvSpPr>
          <p:nvPr/>
        </p:nvSpPr>
        <p:spPr bwMode="auto">
          <a:xfrm>
            <a:off x="428625" y="1428750"/>
            <a:ext cx="8358188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SzPct val="90000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3.8(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最大公因式的计算方法：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辗转相除法</a:t>
            </a:r>
            <a:r>
              <a:rPr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)</a:t>
            </a:r>
            <a:endParaRPr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179310" name="矩形 5"/>
          <p:cNvSpPr>
            <a:spLocks noChangeArrowheads="1"/>
          </p:cNvSpPr>
          <p:nvPr/>
        </p:nvSpPr>
        <p:spPr bwMode="auto">
          <a:xfrm>
            <a:off x="142875" y="2071688"/>
            <a:ext cx="52212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  设    ，   ，       ，如果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9290" name="Object 90"/>
          <p:cNvGraphicFramePr>
            <a:graphicFrameLocks noChangeAspect="1"/>
          </p:cNvGraphicFramePr>
          <p:nvPr/>
        </p:nvGraphicFramePr>
        <p:xfrm>
          <a:off x="1000125" y="2143125"/>
          <a:ext cx="762000" cy="449263"/>
        </p:xfrm>
        <a:graphic>
          <a:graphicData uri="http://schemas.openxmlformats.org/presentationml/2006/ole">
            <p:oleObj spid="_x0000_s179290" name="Equation" r:id="rId4" imgW="342751" imgH="203112" progId="">
              <p:embed/>
            </p:oleObj>
          </a:graphicData>
        </a:graphic>
      </p:graphicFrame>
      <p:graphicFrame>
        <p:nvGraphicFramePr>
          <p:cNvPr id="179291" name="Object 91"/>
          <p:cNvGraphicFramePr>
            <a:graphicFrameLocks noChangeAspect="1"/>
          </p:cNvGraphicFramePr>
          <p:nvPr/>
        </p:nvGraphicFramePr>
        <p:xfrm>
          <a:off x="1785938" y="2122488"/>
          <a:ext cx="733425" cy="449262"/>
        </p:xfrm>
        <a:graphic>
          <a:graphicData uri="http://schemas.openxmlformats.org/presentationml/2006/ole">
            <p:oleObj spid="_x0000_s179291" name="Equation" r:id="rId5" imgW="330057" imgH="203112" progId="">
              <p:embed/>
            </p:oleObj>
          </a:graphicData>
        </a:graphic>
      </p:graphicFrame>
      <p:graphicFrame>
        <p:nvGraphicFramePr>
          <p:cNvPr id="179292" name="Object 92"/>
          <p:cNvGraphicFramePr>
            <a:graphicFrameLocks noChangeAspect="1"/>
          </p:cNvGraphicFramePr>
          <p:nvPr/>
        </p:nvGraphicFramePr>
        <p:xfrm>
          <a:off x="2643188" y="2143125"/>
          <a:ext cx="1636712" cy="449263"/>
        </p:xfrm>
        <a:graphic>
          <a:graphicData uri="http://schemas.openxmlformats.org/presentationml/2006/ole">
            <p:oleObj spid="_x0000_s179292" name="Equation" r:id="rId6" imgW="736600" imgH="203200" progId="">
              <p:embed/>
            </p:oleObj>
          </a:graphicData>
        </a:graphic>
      </p:graphicFrame>
      <p:graphicFrame>
        <p:nvGraphicFramePr>
          <p:cNvPr id="179293" name="Object 93"/>
          <p:cNvGraphicFramePr>
            <a:graphicFrameLocks noChangeAspect="1"/>
          </p:cNvGraphicFramePr>
          <p:nvPr/>
        </p:nvGraphicFramePr>
        <p:xfrm>
          <a:off x="5214938" y="2143125"/>
          <a:ext cx="3189287" cy="449263"/>
        </p:xfrm>
        <a:graphic>
          <a:graphicData uri="http://schemas.openxmlformats.org/presentationml/2006/ole">
            <p:oleObj spid="_x0000_s179293" name="Equation" r:id="rId7" imgW="1435100" imgH="203200" progId="">
              <p:embed/>
            </p:oleObj>
          </a:graphicData>
        </a:graphic>
      </p:graphicFrame>
      <p:sp>
        <p:nvSpPr>
          <p:cNvPr id="179311" name="内容占位符 2"/>
          <p:cNvSpPr txBox="1">
            <a:spLocks/>
          </p:cNvSpPr>
          <p:nvPr/>
        </p:nvSpPr>
        <p:spPr bwMode="auto">
          <a:xfrm>
            <a:off x="323850" y="2643188"/>
            <a:ext cx="935038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则</a:t>
            </a:r>
          </a:p>
        </p:txBody>
      </p:sp>
      <p:graphicFrame>
        <p:nvGraphicFramePr>
          <p:cNvPr id="179294" name="Object 94"/>
          <p:cNvGraphicFramePr>
            <a:graphicFrameLocks noChangeAspect="1"/>
          </p:cNvGraphicFramePr>
          <p:nvPr/>
        </p:nvGraphicFramePr>
        <p:xfrm>
          <a:off x="1049338" y="2643188"/>
          <a:ext cx="3951287" cy="561975"/>
        </p:xfrm>
        <a:graphic>
          <a:graphicData uri="http://schemas.openxmlformats.org/presentationml/2006/ole">
            <p:oleObj spid="_x0000_s179294" name="Equation" r:id="rId8" imgW="1777229" imgH="253890" progId="">
              <p:embed/>
            </p:oleObj>
          </a:graphicData>
        </a:graphic>
      </p:graphicFrame>
      <p:sp>
        <p:nvSpPr>
          <p:cNvPr id="17931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3.2.3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  <a:sym typeface="Wingdings" pitchFamily="2" charset="2"/>
              </a:rPr>
              <a:t>辗转相除法</a:t>
            </a:r>
            <a:endParaRPr kumimoji="0" lang="zh-CN" altLang="en-US" sz="36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7" name="灯片编号占位符 1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0E81B15-2C5F-4555-86C1-3AC2555A217E}" type="slidenum">
              <a:rPr lang="en-US" altLang="zh-CN" smtClean="0"/>
              <a:pPr>
                <a:defRPr/>
              </a:pPr>
              <a:t>36</a:t>
            </a:fld>
            <a:endParaRPr lang="en-US" altLang="zh-CN" dirty="0"/>
          </a:p>
        </p:txBody>
      </p:sp>
      <p:sp>
        <p:nvSpPr>
          <p:cNvPr id="179314" name="内容占位符 2"/>
          <p:cNvSpPr txBox="1">
            <a:spLocks/>
          </p:cNvSpPr>
          <p:nvPr/>
        </p:nvSpPr>
        <p:spPr bwMode="auto">
          <a:xfrm>
            <a:off x="500063" y="3429000"/>
            <a:ext cx="1479550" cy="173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设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求</a:t>
            </a:r>
          </a:p>
        </p:txBody>
      </p:sp>
      <p:graphicFrame>
        <p:nvGraphicFramePr>
          <p:cNvPr id="179295" name="Object 95"/>
          <p:cNvGraphicFramePr>
            <a:graphicFrameLocks noChangeAspect="1"/>
          </p:cNvGraphicFramePr>
          <p:nvPr/>
        </p:nvGraphicFramePr>
        <p:xfrm>
          <a:off x="1881188" y="3429000"/>
          <a:ext cx="2906712" cy="506413"/>
        </p:xfrm>
        <a:graphic>
          <a:graphicData uri="http://schemas.openxmlformats.org/presentationml/2006/ole">
            <p:oleObj spid="_x0000_s179295" name="Equation" r:id="rId9" imgW="1308100" imgH="228600" progId="">
              <p:embed/>
            </p:oleObj>
          </a:graphicData>
        </a:graphic>
      </p:graphicFrame>
      <p:graphicFrame>
        <p:nvGraphicFramePr>
          <p:cNvPr id="179296" name="Object 96"/>
          <p:cNvGraphicFramePr>
            <a:graphicFrameLocks noChangeAspect="1"/>
          </p:cNvGraphicFramePr>
          <p:nvPr/>
        </p:nvGraphicFramePr>
        <p:xfrm>
          <a:off x="1870075" y="3905250"/>
          <a:ext cx="4430713" cy="533400"/>
        </p:xfrm>
        <a:graphic>
          <a:graphicData uri="http://schemas.openxmlformats.org/presentationml/2006/ole">
            <p:oleObj spid="_x0000_s179296" name="Equation" r:id="rId10" imgW="1993900" imgH="241300" progId="">
              <p:embed/>
            </p:oleObj>
          </a:graphicData>
        </a:graphic>
      </p:graphicFrame>
      <p:graphicFrame>
        <p:nvGraphicFramePr>
          <p:cNvPr id="179297" name="Object 97"/>
          <p:cNvGraphicFramePr>
            <a:graphicFrameLocks noChangeAspect="1"/>
          </p:cNvGraphicFramePr>
          <p:nvPr/>
        </p:nvGraphicFramePr>
        <p:xfrm>
          <a:off x="971550" y="4514850"/>
          <a:ext cx="1892300" cy="561975"/>
        </p:xfrm>
        <a:graphic>
          <a:graphicData uri="http://schemas.openxmlformats.org/presentationml/2006/ole">
            <p:oleObj spid="_x0000_s179297" name="Equation" r:id="rId11" imgW="850531" imgH="253890" progId="">
              <p:embed/>
            </p:oleObj>
          </a:graphicData>
        </a:graphic>
      </p:graphicFrame>
      <p:graphicFrame>
        <p:nvGraphicFramePr>
          <p:cNvPr id="4099" name="Object 105"/>
          <p:cNvGraphicFramePr>
            <a:graphicFrameLocks noChangeAspect="1"/>
          </p:cNvGraphicFramePr>
          <p:nvPr/>
        </p:nvGraphicFramePr>
        <p:xfrm>
          <a:off x="1547813" y="5106988"/>
          <a:ext cx="4851400" cy="482600"/>
        </p:xfrm>
        <a:graphic>
          <a:graphicData uri="http://schemas.openxmlformats.org/presentationml/2006/ole">
            <p:oleObj spid="_x0000_s179305" name="Equation" r:id="rId12" imgW="4851400" imgH="482600" progId="">
              <p:embed/>
            </p:oleObj>
          </a:graphicData>
        </a:graphic>
      </p:graphicFrame>
      <p:graphicFrame>
        <p:nvGraphicFramePr>
          <p:cNvPr id="179306" name="Object 106"/>
          <p:cNvGraphicFramePr>
            <a:graphicFrameLocks noChangeAspect="1"/>
          </p:cNvGraphicFramePr>
          <p:nvPr/>
        </p:nvGraphicFramePr>
        <p:xfrm>
          <a:off x="1476375" y="5589588"/>
          <a:ext cx="5400675" cy="534987"/>
        </p:xfrm>
        <a:graphic>
          <a:graphicData uri="http://schemas.openxmlformats.org/presentationml/2006/ole">
            <p:oleObj spid="_x0000_s179306" name="公式" r:id="rId13" imgW="2311200" imgH="228600" progId="Equation.3">
              <p:embed/>
            </p:oleObj>
          </a:graphicData>
        </a:graphic>
      </p:graphicFrame>
      <p:graphicFrame>
        <p:nvGraphicFramePr>
          <p:cNvPr id="179307" name="Object 107"/>
          <p:cNvGraphicFramePr>
            <a:graphicFrameLocks noChangeAspect="1"/>
          </p:cNvGraphicFramePr>
          <p:nvPr/>
        </p:nvGraphicFramePr>
        <p:xfrm>
          <a:off x="1474788" y="6092825"/>
          <a:ext cx="3744912" cy="547688"/>
        </p:xfrm>
        <a:graphic>
          <a:graphicData uri="http://schemas.openxmlformats.org/presentationml/2006/ole">
            <p:oleObj spid="_x0000_s179307" name="公式" r:id="rId14" imgW="1562040" imgH="228600" progId="Equation.3">
              <p:embed/>
            </p:oleObj>
          </a:graphicData>
        </a:graphic>
      </p:graphicFrame>
      <p:graphicFrame>
        <p:nvGraphicFramePr>
          <p:cNvPr id="179308" name="Object 108"/>
          <p:cNvGraphicFramePr>
            <a:graphicFrameLocks noChangeAspect="1"/>
          </p:cNvGraphicFramePr>
          <p:nvPr/>
        </p:nvGraphicFramePr>
        <p:xfrm>
          <a:off x="5614988" y="6092825"/>
          <a:ext cx="3060700" cy="511175"/>
        </p:xfrm>
        <a:graphic>
          <a:graphicData uri="http://schemas.openxmlformats.org/presentationml/2006/ole">
            <p:oleObj spid="_x0000_s179308" name="公式" r:id="rId15" imgW="1371600" imgH="228600" progId="Equation.3">
              <p:embed/>
            </p:oleObj>
          </a:graphicData>
        </a:graphic>
      </p:graphicFrame>
      <p:sp>
        <p:nvSpPr>
          <p:cNvPr id="2" name="Text Box 109"/>
          <p:cNvSpPr txBox="1">
            <a:spLocks noChangeArrowheads="1"/>
          </p:cNvSpPr>
          <p:nvPr/>
        </p:nvSpPr>
        <p:spPr bwMode="auto">
          <a:xfrm>
            <a:off x="2890838" y="4565650"/>
            <a:ext cx="5651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</a:rPr>
              <a:t>=1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9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70" decel="100000"/>
                                        <p:tgtEl>
                                          <p:spTgt spid="1793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770" decel="100000"/>
                                        <p:tgtEl>
                                          <p:spTgt spid="179307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9307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20" dur="770" fill="hold"/>
                                        <p:tgtEl>
                                          <p:spTgt spid="179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2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93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22" dur="770" fill="hold"/>
                                        <p:tgtEl>
                                          <p:spTgt spid="179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2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79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9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9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70" name="矩形 4"/>
          <p:cNvSpPr>
            <a:spLocks noChangeArrowheads="1"/>
          </p:cNvSpPr>
          <p:nvPr/>
        </p:nvSpPr>
        <p:spPr bwMode="auto">
          <a:xfrm>
            <a:off x="500063" y="1143000"/>
            <a:ext cx="7786687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3.9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  ，         ，则    与    的最大公因式一定存在，并且可以表示为    与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的一个组合：  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其中    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</a:p>
        </p:txBody>
      </p:sp>
      <p:graphicFrame>
        <p:nvGraphicFramePr>
          <p:cNvPr id="180358" name="Object 134"/>
          <p:cNvGraphicFramePr>
            <a:graphicFrameLocks noChangeAspect="1"/>
          </p:cNvGraphicFramePr>
          <p:nvPr/>
        </p:nvGraphicFramePr>
        <p:xfrm>
          <a:off x="2378075" y="1277938"/>
          <a:ext cx="762000" cy="449262"/>
        </p:xfrm>
        <a:graphic>
          <a:graphicData uri="http://schemas.openxmlformats.org/presentationml/2006/ole">
            <p:oleObj spid="_x0000_s180358" name="Equation" r:id="rId4" imgW="342751" imgH="203112" progId="">
              <p:embed/>
            </p:oleObj>
          </a:graphicData>
        </a:graphic>
      </p:graphicFrame>
      <p:graphicFrame>
        <p:nvGraphicFramePr>
          <p:cNvPr id="180359" name="Object 135"/>
          <p:cNvGraphicFramePr>
            <a:graphicFrameLocks noChangeAspect="1"/>
          </p:cNvGraphicFramePr>
          <p:nvPr/>
        </p:nvGraphicFramePr>
        <p:xfrm>
          <a:off x="3286125" y="1265238"/>
          <a:ext cx="1785938" cy="474662"/>
        </p:xfrm>
        <a:graphic>
          <a:graphicData uri="http://schemas.openxmlformats.org/presentationml/2006/ole">
            <p:oleObj spid="_x0000_s180359" name="Equation" r:id="rId5" imgW="761669" imgH="203112" progId="">
              <p:embed/>
            </p:oleObj>
          </a:graphicData>
        </a:graphic>
      </p:graphicFrame>
      <p:graphicFrame>
        <p:nvGraphicFramePr>
          <p:cNvPr id="180360" name="Object 136"/>
          <p:cNvGraphicFramePr>
            <a:graphicFrameLocks noChangeAspect="1"/>
          </p:cNvGraphicFramePr>
          <p:nvPr/>
        </p:nvGraphicFramePr>
        <p:xfrm>
          <a:off x="5807075" y="1277938"/>
          <a:ext cx="762000" cy="449262"/>
        </p:xfrm>
        <a:graphic>
          <a:graphicData uri="http://schemas.openxmlformats.org/presentationml/2006/ole">
            <p:oleObj spid="_x0000_s180360" name="Equation" r:id="rId6" imgW="342751" imgH="203112" progId="">
              <p:embed/>
            </p:oleObj>
          </a:graphicData>
        </a:graphic>
      </p:graphicFrame>
      <p:graphicFrame>
        <p:nvGraphicFramePr>
          <p:cNvPr id="180361" name="Object 137"/>
          <p:cNvGraphicFramePr>
            <a:graphicFrameLocks noChangeAspect="1"/>
          </p:cNvGraphicFramePr>
          <p:nvPr/>
        </p:nvGraphicFramePr>
        <p:xfrm>
          <a:off x="6873875" y="1277938"/>
          <a:ext cx="733425" cy="449262"/>
        </p:xfrm>
        <a:graphic>
          <a:graphicData uri="http://schemas.openxmlformats.org/presentationml/2006/ole">
            <p:oleObj spid="_x0000_s180361" name="Equation" r:id="rId7" imgW="330057" imgH="203112" progId="">
              <p:embed/>
            </p:oleObj>
          </a:graphicData>
        </a:graphic>
      </p:graphicFrame>
      <p:graphicFrame>
        <p:nvGraphicFramePr>
          <p:cNvPr id="180362" name="Object 138"/>
          <p:cNvGraphicFramePr>
            <a:graphicFrameLocks noChangeAspect="1"/>
          </p:cNvGraphicFramePr>
          <p:nvPr/>
        </p:nvGraphicFramePr>
        <p:xfrm>
          <a:off x="3346450" y="2290763"/>
          <a:ext cx="5083175" cy="561975"/>
        </p:xfrm>
        <a:graphic>
          <a:graphicData uri="http://schemas.openxmlformats.org/presentationml/2006/ole">
            <p:oleObj spid="_x0000_s180362" name="Equation" r:id="rId8" imgW="2286000" imgH="254000" progId="">
              <p:embed/>
            </p:oleObj>
          </a:graphicData>
        </a:graphic>
      </p:graphicFrame>
      <p:graphicFrame>
        <p:nvGraphicFramePr>
          <p:cNvPr id="180363" name="Object 139"/>
          <p:cNvGraphicFramePr>
            <a:graphicFrameLocks noChangeAspect="1"/>
          </p:cNvGraphicFramePr>
          <p:nvPr/>
        </p:nvGraphicFramePr>
        <p:xfrm>
          <a:off x="6638925" y="1827213"/>
          <a:ext cx="762000" cy="449262"/>
        </p:xfrm>
        <a:graphic>
          <a:graphicData uri="http://schemas.openxmlformats.org/presentationml/2006/ole">
            <p:oleObj spid="_x0000_s180363" name="Equation" r:id="rId9" imgW="342751" imgH="203112" progId="">
              <p:embed/>
            </p:oleObj>
          </a:graphicData>
        </a:graphic>
      </p:graphicFrame>
      <p:graphicFrame>
        <p:nvGraphicFramePr>
          <p:cNvPr id="180364" name="Object 140"/>
          <p:cNvGraphicFramePr>
            <a:graphicFrameLocks noChangeAspect="1"/>
          </p:cNvGraphicFramePr>
          <p:nvPr/>
        </p:nvGraphicFramePr>
        <p:xfrm>
          <a:off x="642938" y="2357438"/>
          <a:ext cx="733425" cy="449262"/>
        </p:xfrm>
        <a:graphic>
          <a:graphicData uri="http://schemas.openxmlformats.org/presentationml/2006/ole">
            <p:oleObj spid="_x0000_s180364" name="Equation" r:id="rId10" imgW="330057" imgH="203112" progId="">
              <p:embed/>
            </p:oleObj>
          </a:graphicData>
        </a:graphic>
      </p:graphicFrame>
      <p:graphicFrame>
        <p:nvGraphicFramePr>
          <p:cNvPr id="180365" name="Object 141"/>
          <p:cNvGraphicFramePr>
            <a:graphicFrameLocks noChangeAspect="1"/>
          </p:cNvGraphicFramePr>
          <p:nvPr/>
        </p:nvGraphicFramePr>
        <p:xfrm>
          <a:off x="1319213" y="2886075"/>
          <a:ext cx="704850" cy="449263"/>
        </p:xfrm>
        <a:graphic>
          <a:graphicData uri="http://schemas.openxmlformats.org/presentationml/2006/ole">
            <p:oleObj spid="_x0000_s180365" name="Equation" r:id="rId11" imgW="317225" imgH="203024" progId="">
              <p:embed/>
            </p:oleObj>
          </a:graphicData>
        </a:graphic>
      </p:graphicFrame>
      <p:graphicFrame>
        <p:nvGraphicFramePr>
          <p:cNvPr id="180366" name="Object 142"/>
          <p:cNvGraphicFramePr>
            <a:graphicFrameLocks noChangeAspect="1"/>
          </p:cNvGraphicFramePr>
          <p:nvPr/>
        </p:nvGraphicFramePr>
        <p:xfrm>
          <a:off x="2214563" y="2900363"/>
          <a:ext cx="1727200" cy="474662"/>
        </p:xfrm>
        <a:graphic>
          <a:graphicData uri="http://schemas.openxmlformats.org/presentationml/2006/ole">
            <p:oleObj spid="_x0000_s180366" name="Equation" r:id="rId12" imgW="736600" imgH="203200" progId="">
              <p:embed/>
            </p:oleObj>
          </a:graphicData>
        </a:graphic>
      </p:graphicFrame>
      <p:sp>
        <p:nvSpPr>
          <p:cNvPr id="18037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3.2.3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  <a:sym typeface="Wingdings" pitchFamily="2" charset="2"/>
              </a:rPr>
              <a:t>辗转相除法</a:t>
            </a:r>
            <a:endParaRPr kumimoji="0" lang="zh-CN" altLang="en-US" sz="36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0372" name="内容占位符 2"/>
          <p:cNvSpPr txBox="1">
            <a:spLocks/>
          </p:cNvSpPr>
          <p:nvPr/>
        </p:nvSpPr>
        <p:spPr bwMode="auto">
          <a:xfrm>
            <a:off x="463550" y="3714750"/>
            <a:ext cx="8501063" cy="2162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设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求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u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,v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),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使得</a:t>
            </a:r>
          </a:p>
        </p:txBody>
      </p:sp>
      <p:graphicFrame>
        <p:nvGraphicFramePr>
          <p:cNvPr id="180367" name="Object 143"/>
          <p:cNvGraphicFramePr>
            <a:graphicFrameLocks noChangeAspect="1"/>
          </p:cNvGraphicFramePr>
          <p:nvPr/>
        </p:nvGraphicFramePr>
        <p:xfrm>
          <a:off x="1808163" y="3714750"/>
          <a:ext cx="2906712" cy="506413"/>
        </p:xfrm>
        <a:graphic>
          <a:graphicData uri="http://schemas.openxmlformats.org/presentationml/2006/ole">
            <p:oleObj spid="_x0000_s180367" name="Equation" r:id="rId13" imgW="1308100" imgH="228600" progId="">
              <p:embed/>
            </p:oleObj>
          </a:graphicData>
        </a:graphic>
      </p:graphicFrame>
      <p:graphicFrame>
        <p:nvGraphicFramePr>
          <p:cNvPr id="180368" name="Object 144"/>
          <p:cNvGraphicFramePr>
            <a:graphicFrameLocks noChangeAspect="1"/>
          </p:cNvGraphicFramePr>
          <p:nvPr/>
        </p:nvGraphicFramePr>
        <p:xfrm>
          <a:off x="2117725" y="5243513"/>
          <a:ext cx="4151313" cy="506412"/>
        </p:xfrm>
        <a:graphic>
          <a:graphicData uri="http://schemas.openxmlformats.org/presentationml/2006/ole">
            <p:oleObj spid="_x0000_s180368" name="Equation" r:id="rId14" imgW="1866900" imgH="228600" progId="">
              <p:embed/>
            </p:oleObj>
          </a:graphicData>
        </a:graphic>
      </p:graphicFrame>
      <p:graphicFrame>
        <p:nvGraphicFramePr>
          <p:cNvPr id="180369" name="Object 145"/>
          <p:cNvGraphicFramePr>
            <a:graphicFrameLocks noChangeAspect="1"/>
          </p:cNvGraphicFramePr>
          <p:nvPr/>
        </p:nvGraphicFramePr>
        <p:xfrm>
          <a:off x="1763713" y="4191000"/>
          <a:ext cx="4430712" cy="533400"/>
        </p:xfrm>
        <a:graphic>
          <a:graphicData uri="http://schemas.openxmlformats.org/presentationml/2006/ole">
            <p:oleObj spid="_x0000_s180369" name="Equation" r:id="rId15" imgW="1993900" imgH="241300" progId="">
              <p:embed/>
            </p:oleObj>
          </a:graphicData>
        </a:graphic>
      </p:graphicFrame>
      <p:sp>
        <p:nvSpPr>
          <p:cNvPr id="180374" name="Text Box 150"/>
          <p:cNvSpPr txBox="1">
            <a:spLocks noChangeArrowheads="1"/>
          </p:cNvSpPr>
          <p:nvPr/>
        </p:nvSpPr>
        <p:spPr bwMode="auto">
          <a:xfrm>
            <a:off x="1258888" y="5934075"/>
            <a:ext cx="48561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-(x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+x)f(x)+(x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+1)g(x)=1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03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03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374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42" name="内容占位符 2"/>
          <p:cNvSpPr>
            <a:spLocks noGrp="1"/>
          </p:cNvSpPr>
          <p:nvPr>
            <p:ph idx="4294967295"/>
          </p:nvPr>
        </p:nvSpPr>
        <p:spPr>
          <a:xfrm>
            <a:off x="571500" y="1285875"/>
            <a:ext cx="6161088" cy="1643063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3.10</a:t>
            </a:r>
            <a:r>
              <a:rPr lang="zh-CN" altLang="en-US" b="1" smtClean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  ，         。如果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则称    与    互素。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81426" name="Object 178"/>
          <p:cNvGraphicFramePr>
            <a:graphicFrameLocks noChangeAspect="1"/>
          </p:cNvGraphicFramePr>
          <p:nvPr/>
        </p:nvGraphicFramePr>
        <p:xfrm>
          <a:off x="2643188" y="1428750"/>
          <a:ext cx="714375" cy="422275"/>
        </p:xfrm>
        <a:graphic>
          <a:graphicData uri="http://schemas.openxmlformats.org/presentationml/2006/ole">
            <p:oleObj spid="_x0000_s181426" name="Equation" r:id="rId3" imgW="342751" imgH="203112" progId="">
              <p:embed/>
            </p:oleObj>
          </a:graphicData>
        </a:graphic>
      </p:graphicFrame>
      <p:graphicFrame>
        <p:nvGraphicFramePr>
          <p:cNvPr id="181427" name="Object 179"/>
          <p:cNvGraphicFramePr>
            <a:graphicFrameLocks noChangeAspect="1"/>
          </p:cNvGraphicFramePr>
          <p:nvPr/>
        </p:nvGraphicFramePr>
        <p:xfrm>
          <a:off x="3505200" y="1389063"/>
          <a:ext cx="1714500" cy="455612"/>
        </p:xfrm>
        <a:graphic>
          <a:graphicData uri="http://schemas.openxmlformats.org/presentationml/2006/ole">
            <p:oleObj spid="_x0000_s181427" name="Equation" r:id="rId4" imgW="761669" imgH="203112" progId="">
              <p:embed/>
            </p:oleObj>
          </a:graphicData>
        </a:graphic>
      </p:graphicFrame>
      <p:graphicFrame>
        <p:nvGraphicFramePr>
          <p:cNvPr id="181428" name="Object 180"/>
          <p:cNvGraphicFramePr>
            <a:graphicFrameLocks noChangeAspect="1"/>
          </p:cNvGraphicFramePr>
          <p:nvPr/>
        </p:nvGraphicFramePr>
        <p:xfrm>
          <a:off x="2773363" y="1866900"/>
          <a:ext cx="2370137" cy="561975"/>
        </p:xfrm>
        <a:graphic>
          <a:graphicData uri="http://schemas.openxmlformats.org/presentationml/2006/ole">
            <p:oleObj spid="_x0000_s181428" name="Equation" r:id="rId5" imgW="1066337" imgH="253890" progId="">
              <p:embed/>
            </p:oleObj>
          </a:graphicData>
        </a:graphic>
      </p:graphicFrame>
      <p:graphicFrame>
        <p:nvGraphicFramePr>
          <p:cNvPr id="181429" name="Object 181"/>
          <p:cNvGraphicFramePr>
            <a:graphicFrameLocks noChangeAspect="1"/>
          </p:cNvGraphicFramePr>
          <p:nvPr/>
        </p:nvGraphicFramePr>
        <p:xfrm>
          <a:off x="1428750" y="2435225"/>
          <a:ext cx="714375" cy="422275"/>
        </p:xfrm>
        <a:graphic>
          <a:graphicData uri="http://schemas.openxmlformats.org/presentationml/2006/ole">
            <p:oleObj spid="_x0000_s181429" name="Equation" r:id="rId6" imgW="342751" imgH="203112" progId="">
              <p:embed/>
            </p:oleObj>
          </a:graphicData>
        </a:graphic>
      </p:graphicFrame>
      <p:graphicFrame>
        <p:nvGraphicFramePr>
          <p:cNvPr id="181430" name="Object 182"/>
          <p:cNvGraphicFramePr>
            <a:graphicFrameLocks noChangeAspect="1"/>
          </p:cNvGraphicFramePr>
          <p:nvPr/>
        </p:nvGraphicFramePr>
        <p:xfrm>
          <a:off x="2428875" y="2428875"/>
          <a:ext cx="688975" cy="422275"/>
        </p:xfrm>
        <a:graphic>
          <a:graphicData uri="http://schemas.openxmlformats.org/presentationml/2006/ole">
            <p:oleObj spid="_x0000_s181430" name="Equation" r:id="rId7" imgW="330057" imgH="203112" progId="">
              <p:embed/>
            </p:oleObj>
          </a:graphicData>
        </a:graphic>
      </p:graphicFrame>
      <p:grpSp>
        <p:nvGrpSpPr>
          <p:cNvPr id="181450" name="Group 202"/>
          <p:cNvGrpSpPr>
            <a:grpSpLocks/>
          </p:cNvGrpSpPr>
          <p:nvPr/>
        </p:nvGrpSpPr>
        <p:grpSpPr bwMode="auto">
          <a:xfrm>
            <a:off x="500063" y="3357563"/>
            <a:ext cx="8286750" cy="3071812"/>
            <a:chOff x="315" y="2115"/>
            <a:chExt cx="5220" cy="1935"/>
          </a:xfrm>
        </p:grpSpPr>
        <p:sp>
          <p:nvSpPr>
            <p:cNvPr id="181446" name="内容占位符 2"/>
            <p:cNvSpPr txBox="1">
              <a:spLocks/>
            </p:cNvSpPr>
            <p:nvPr/>
          </p:nvSpPr>
          <p:spPr bwMode="auto">
            <a:xfrm>
              <a:off x="315" y="2115"/>
              <a:ext cx="5130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rgbClr val="CC0000"/>
                </a:buClr>
                <a:buSzPct val="90000"/>
                <a:buFont typeface="Wingdings" pitchFamily="2" charset="2"/>
                <a:buChar char="Ø"/>
              </a:pPr>
              <a:r>
                <a:rPr lang="zh-CN" altLang="en-US" b="1">
                  <a:latin typeface="宋体" charset="-122"/>
                  <a:ea typeface="楷体_GB2312" pitchFamily="49" charset="-122"/>
                  <a:sym typeface="Wingdings" pitchFamily="2" charset="2"/>
                </a:rPr>
                <a:t>互素具有如下性质：</a:t>
              </a:r>
              <a:endParaRPr lang="zh-CN" altLang="en-US" b="1">
                <a:latin typeface="宋体" charset="-122"/>
                <a:ea typeface="楷体_GB2312" pitchFamily="49" charset="-122"/>
              </a:endParaRPr>
            </a:p>
          </p:txBody>
        </p:sp>
        <p:sp>
          <p:nvSpPr>
            <p:cNvPr id="181447" name="内容占位符 2"/>
            <p:cNvSpPr txBox="1">
              <a:spLocks/>
            </p:cNvSpPr>
            <p:nvPr/>
          </p:nvSpPr>
          <p:spPr bwMode="auto">
            <a:xfrm>
              <a:off x="540" y="2430"/>
              <a:ext cx="707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(1)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           </a:t>
              </a:r>
            </a:p>
          </p:txBody>
        </p:sp>
        <p:graphicFrame>
          <p:nvGraphicFramePr>
            <p:cNvPr id="181431" name="Object 183"/>
            <p:cNvGraphicFramePr>
              <a:graphicFrameLocks noChangeAspect="1"/>
            </p:cNvGraphicFramePr>
            <p:nvPr/>
          </p:nvGraphicFramePr>
          <p:xfrm>
            <a:off x="1055" y="2458"/>
            <a:ext cx="1450" cy="332"/>
          </p:xfrm>
          <a:graphic>
            <a:graphicData uri="http://schemas.openxmlformats.org/presentationml/2006/ole">
              <p:oleObj spid="_x0000_s181431" name="Equation" r:id="rId8" imgW="1104900" imgH="254000" progId="">
                <p:embed/>
              </p:oleObj>
            </a:graphicData>
          </a:graphic>
        </p:graphicFrame>
        <p:graphicFrame>
          <p:nvGraphicFramePr>
            <p:cNvPr id="181432" name="Object 184"/>
            <p:cNvGraphicFramePr>
              <a:graphicFrameLocks noChangeAspect="1"/>
            </p:cNvGraphicFramePr>
            <p:nvPr/>
          </p:nvGraphicFramePr>
          <p:xfrm>
            <a:off x="2475" y="2520"/>
            <a:ext cx="284" cy="200"/>
          </p:xfrm>
          <a:graphic>
            <a:graphicData uri="http://schemas.openxmlformats.org/presentationml/2006/ole">
              <p:oleObj spid="_x0000_s181432" name="Equation" r:id="rId9" imgW="215713" imgH="152268" progId="">
                <p:embed/>
              </p:oleObj>
            </a:graphicData>
          </a:graphic>
        </p:graphicFrame>
        <p:graphicFrame>
          <p:nvGraphicFramePr>
            <p:cNvPr id="181433" name="Object 185"/>
            <p:cNvGraphicFramePr>
              <a:graphicFrameLocks noChangeAspect="1"/>
            </p:cNvGraphicFramePr>
            <p:nvPr/>
          </p:nvGraphicFramePr>
          <p:xfrm>
            <a:off x="1125" y="2790"/>
            <a:ext cx="1634" cy="266"/>
          </p:xfrm>
          <a:graphic>
            <a:graphicData uri="http://schemas.openxmlformats.org/presentationml/2006/ole">
              <p:oleObj spid="_x0000_s181433" name="Equation" r:id="rId10" imgW="1244600" imgH="203200" progId="">
                <p:embed/>
              </p:oleObj>
            </a:graphicData>
          </a:graphic>
        </p:graphicFrame>
        <p:graphicFrame>
          <p:nvGraphicFramePr>
            <p:cNvPr id="181434" name="Object 186"/>
            <p:cNvGraphicFramePr>
              <a:graphicFrameLocks noChangeAspect="1"/>
            </p:cNvGraphicFramePr>
            <p:nvPr/>
          </p:nvGraphicFramePr>
          <p:xfrm>
            <a:off x="2790" y="2790"/>
            <a:ext cx="1950" cy="266"/>
          </p:xfrm>
          <a:graphic>
            <a:graphicData uri="http://schemas.openxmlformats.org/presentationml/2006/ole">
              <p:oleObj spid="_x0000_s181434" name="Equation" r:id="rId11" imgW="1485900" imgH="203200" progId="">
                <p:embed/>
              </p:oleObj>
            </a:graphicData>
          </a:graphic>
        </p:graphicFrame>
        <p:sp>
          <p:nvSpPr>
            <p:cNvPr id="181448" name="内容占位符 2"/>
            <p:cNvSpPr txBox="1">
              <a:spLocks/>
            </p:cNvSpPr>
            <p:nvPr/>
          </p:nvSpPr>
          <p:spPr bwMode="auto">
            <a:xfrm>
              <a:off x="540" y="3015"/>
              <a:ext cx="4290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(2)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若             ，           ，则</a:t>
              </a: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           </a:t>
              </a:r>
            </a:p>
          </p:txBody>
        </p:sp>
        <p:graphicFrame>
          <p:nvGraphicFramePr>
            <p:cNvPr id="181435" name="Object 187"/>
            <p:cNvGraphicFramePr>
              <a:graphicFrameLocks noChangeAspect="1"/>
            </p:cNvGraphicFramePr>
            <p:nvPr/>
          </p:nvGraphicFramePr>
          <p:xfrm>
            <a:off x="1295" y="3043"/>
            <a:ext cx="1450" cy="332"/>
          </p:xfrm>
          <a:graphic>
            <a:graphicData uri="http://schemas.openxmlformats.org/presentationml/2006/ole">
              <p:oleObj spid="_x0000_s181435" name="Equation" r:id="rId12" imgW="1104900" imgH="254000" progId="">
                <p:embed/>
              </p:oleObj>
            </a:graphicData>
          </a:graphic>
        </p:graphicFrame>
        <p:graphicFrame>
          <p:nvGraphicFramePr>
            <p:cNvPr id="181436" name="Object 188"/>
            <p:cNvGraphicFramePr>
              <a:graphicFrameLocks noChangeAspect="1"/>
            </p:cNvGraphicFramePr>
            <p:nvPr/>
          </p:nvGraphicFramePr>
          <p:xfrm>
            <a:off x="2823" y="3060"/>
            <a:ext cx="1317" cy="266"/>
          </p:xfrm>
          <a:graphic>
            <a:graphicData uri="http://schemas.openxmlformats.org/presentationml/2006/ole">
              <p:oleObj spid="_x0000_s181436" name="Equation" r:id="rId13" imgW="1002865" imgH="203112" progId="">
                <p:embed/>
              </p:oleObj>
            </a:graphicData>
          </a:graphic>
        </p:graphicFrame>
        <p:graphicFrame>
          <p:nvGraphicFramePr>
            <p:cNvPr id="181437" name="Object 189"/>
            <p:cNvGraphicFramePr>
              <a:graphicFrameLocks noChangeAspect="1"/>
            </p:cNvGraphicFramePr>
            <p:nvPr/>
          </p:nvGraphicFramePr>
          <p:xfrm>
            <a:off x="4634" y="3060"/>
            <a:ext cx="901" cy="266"/>
          </p:xfrm>
          <a:graphic>
            <a:graphicData uri="http://schemas.openxmlformats.org/presentationml/2006/ole">
              <p:oleObj spid="_x0000_s181437" name="Equation" r:id="rId14" imgW="685800" imgH="203200" progId="">
                <p:embed/>
              </p:oleObj>
            </a:graphicData>
          </a:graphic>
        </p:graphicFrame>
        <p:sp>
          <p:nvSpPr>
            <p:cNvPr id="181449" name="内容占位符 2"/>
            <p:cNvSpPr txBox="1">
              <a:spLocks/>
            </p:cNvSpPr>
            <p:nvPr/>
          </p:nvSpPr>
          <p:spPr bwMode="auto">
            <a:xfrm>
              <a:off x="540" y="3379"/>
              <a:ext cx="4472" cy="40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(3)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若        ，       ，           则</a:t>
              </a:r>
              <a:r>
                <a:rPr lang="en-US" altLang="zh-CN" b="1">
                  <a:latin typeface="楷体_GB2312" pitchFamily="49" charset="-122"/>
                  <a:ea typeface="楷体_GB2312" pitchFamily="49" charset="-122"/>
                </a:rPr>
                <a:t>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</a:rPr>
                <a:t>            </a:t>
              </a:r>
            </a:p>
          </p:txBody>
        </p:sp>
        <p:graphicFrame>
          <p:nvGraphicFramePr>
            <p:cNvPr id="181438" name="Object 190"/>
            <p:cNvGraphicFramePr>
              <a:graphicFrameLocks noChangeAspect="1"/>
            </p:cNvGraphicFramePr>
            <p:nvPr/>
          </p:nvGraphicFramePr>
          <p:xfrm>
            <a:off x="1260" y="3424"/>
            <a:ext cx="901" cy="266"/>
          </p:xfrm>
          <a:graphic>
            <a:graphicData uri="http://schemas.openxmlformats.org/presentationml/2006/ole">
              <p:oleObj spid="_x0000_s181438" name="Equation" r:id="rId15" imgW="685800" imgH="203200" progId="">
                <p:embed/>
              </p:oleObj>
            </a:graphicData>
          </a:graphic>
        </p:graphicFrame>
        <p:graphicFrame>
          <p:nvGraphicFramePr>
            <p:cNvPr id="181439" name="Object 191"/>
            <p:cNvGraphicFramePr>
              <a:graphicFrameLocks noChangeAspect="1"/>
            </p:cNvGraphicFramePr>
            <p:nvPr/>
          </p:nvGraphicFramePr>
          <p:xfrm>
            <a:off x="2295" y="3424"/>
            <a:ext cx="885" cy="266"/>
          </p:xfrm>
          <a:graphic>
            <a:graphicData uri="http://schemas.openxmlformats.org/presentationml/2006/ole">
              <p:oleObj spid="_x0000_s181439" name="Equation" r:id="rId16" imgW="672808" imgH="203112" progId="">
                <p:embed/>
              </p:oleObj>
            </a:graphicData>
          </a:graphic>
        </p:graphicFrame>
        <p:graphicFrame>
          <p:nvGraphicFramePr>
            <p:cNvPr id="181440" name="Object 192"/>
            <p:cNvGraphicFramePr>
              <a:graphicFrameLocks noChangeAspect="1"/>
            </p:cNvGraphicFramePr>
            <p:nvPr/>
          </p:nvGraphicFramePr>
          <p:xfrm>
            <a:off x="3243" y="3407"/>
            <a:ext cx="1451" cy="332"/>
          </p:xfrm>
          <a:graphic>
            <a:graphicData uri="http://schemas.openxmlformats.org/presentationml/2006/ole">
              <p:oleObj spid="_x0000_s181440" name="Equation" r:id="rId17" imgW="1104900" imgH="254000" progId="">
                <p:embed/>
              </p:oleObj>
            </a:graphicData>
          </a:graphic>
        </p:graphicFrame>
        <p:graphicFrame>
          <p:nvGraphicFramePr>
            <p:cNvPr id="181441" name="Object 193"/>
            <p:cNvGraphicFramePr>
              <a:graphicFrameLocks noChangeAspect="1"/>
            </p:cNvGraphicFramePr>
            <p:nvPr/>
          </p:nvGraphicFramePr>
          <p:xfrm>
            <a:off x="1125" y="3784"/>
            <a:ext cx="1318" cy="266"/>
          </p:xfrm>
          <a:graphic>
            <a:graphicData uri="http://schemas.openxmlformats.org/presentationml/2006/ole">
              <p:oleObj spid="_x0000_s181441" name="Equation" r:id="rId18" imgW="1002865" imgH="203112" progId="">
                <p:embed/>
              </p:oleObj>
            </a:graphicData>
          </a:graphic>
        </p:graphicFrame>
      </p:grpSp>
      <p:sp>
        <p:nvSpPr>
          <p:cNvPr id="35" name="灯片编号占位符 3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BAB7890-17A5-4F2C-B0CD-95E2DAA1869A}" type="slidenum">
              <a:rPr lang="en-US" altLang="zh-CN" smtClean="0"/>
              <a:pPr>
                <a:defRPr/>
              </a:pPr>
              <a:t>38</a:t>
            </a:fld>
            <a:endParaRPr lang="en-US" altLang="zh-CN" dirty="0"/>
          </a:p>
        </p:txBody>
      </p:sp>
      <p:sp>
        <p:nvSpPr>
          <p:cNvPr id="18144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3.2.3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多项式的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  <a:sym typeface="Wingdings" pitchFamily="2" charset="2"/>
              </a:rPr>
              <a:t>辗转相除法</a:t>
            </a:r>
            <a:endParaRPr kumimoji="0" lang="zh-CN" altLang="en-US" sz="36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7" name="Rectangle 3"/>
          <p:cNvSpPr>
            <a:spLocks noChangeArrowheads="1"/>
          </p:cNvSpPr>
          <p:nvPr/>
        </p:nvSpPr>
        <p:spPr bwMode="auto">
          <a:xfrm>
            <a:off x="357188" y="1571625"/>
            <a:ext cx="7929562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CC0000"/>
                </a:solidFill>
                <a:latin typeface="微软雅黑"/>
                <a:ea typeface="楷体_GB2312" pitchFamily="49" charset="-122"/>
                <a:cs typeface="微软雅黑"/>
              </a:rPr>
              <a:t>不可约多项式</a:t>
            </a: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概念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能列出</a:t>
            </a:r>
            <a:r>
              <a:rPr kumimoji="0" lang="zh-CN" altLang="en-US" b="1">
                <a:solidFill>
                  <a:srgbClr val="0033CC"/>
                </a:solidFill>
                <a:latin typeface="微软雅黑"/>
                <a:ea typeface="楷体_GB2312" pitchFamily="49" charset="-122"/>
                <a:cs typeface="微软雅黑"/>
              </a:rPr>
              <a:t>常见域上的不可约多项式</a:t>
            </a:r>
            <a:endParaRPr kumimoji="0" lang="zh-CN" altLang="en-US" b="1">
              <a:solidFill>
                <a:srgbClr val="0033CC"/>
              </a:solidFill>
              <a:latin typeface="宋体" charset="-122"/>
              <a:ea typeface="楷体_GB2312" pitchFamily="49" charset="-122"/>
              <a:cs typeface="微软雅黑"/>
            </a:endParaRPr>
          </a:p>
        </p:txBody>
      </p:sp>
      <p:sp>
        <p:nvSpPr>
          <p:cNvPr id="30617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第四小节学习目标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A2C344F3-F58B-4E9B-8BFA-9E065B8749F9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39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58" name="内容占位符 2"/>
          <p:cNvSpPr>
            <a:spLocks/>
          </p:cNvSpPr>
          <p:nvPr/>
        </p:nvSpPr>
        <p:spPr bwMode="auto">
          <a:xfrm>
            <a:off x="500063" y="1370013"/>
            <a:ext cx="8215312" cy="2071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设         ，          ，如果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的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因式只有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非零常数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以及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自身的非零常数倍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，则称  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    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或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既约多项式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，否则称  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  <a:sym typeface="Wingdings" pitchFamily="2" charset="2"/>
            </a:endParaRPr>
          </a:p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可约多项式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。</a:t>
            </a:r>
            <a:endParaRPr lang="zh-CN" altLang="en-US" sz="3200" b="1">
              <a:solidFill>
                <a:srgbClr val="333399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236549" name="Object 5"/>
          <p:cNvGraphicFramePr>
            <a:graphicFrameLocks noChangeAspect="1"/>
          </p:cNvGraphicFramePr>
          <p:nvPr/>
        </p:nvGraphicFramePr>
        <p:xfrm>
          <a:off x="2501900" y="1425575"/>
          <a:ext cx="1587500" cy="422275"/>
        </p:xfrm>
        <a:graphic>
          <a:graphicData uri="http://schemas.openxmlformats.org/presentationml/2006/ole">
            <p:oleObj spid="_x0000_s236549" name="Equation" r:id="rId3" imgW="761669" imgH="203112" progId="">
              <p:embed/>
            </p:oleObj>
          </a:graphicData>
        </a:graphic>
      </p:graphicFrame>
      <p:graphicFrame>
        <p:nvGraphicFramePr>
          <p:cNvPr id="236550" name="Object 6"/>
          <p:cNvGraphicFramePr>
            <a:graphicFrameLocks noChangeAspect="1"/>
          </p:cNvGraphicFramePr>
          <p:nvPr/>
        </p:nvGraphicFramePr>
        <p:xfrm>
          <a:off x="4337050" y="1414463"/>
          <a:ext cx="1878013" cy="527050"/>
        </p:xfrm>
        <a:graphic>
          <a:graphicData uri="http://schemas.openxmlformats.org/presentationml/2006/ole">
            <p:oleObj spid="_x0000_s236550" name="Equation" r:id="rId4" imgW="901309" imgH="253890" progId="">
              <p:embed/>
            </p:oleObj>
          </a:graphicData>
        </a:graphic>
      </p:graphicFrame>
      <p:graphicFrame>
        <p:nvGraphicFramePr>
          <p:cNvPr id="236551" name="Object 7"/>
          <p:cNvGraphicFramePr>
            <a:graphicFrameLocks noChangeAspect="1"/>
          </p:cNvGraphicFramePr>
          <p:nvPr/>
        </p:nvGraphicFramePr>
        <p:xfrm>
          <a:off x="7358063" y="1441450"/>
          <a:ext cx="688975" cy="422275"/>
        </p:xfrm>
        <a:graphic>
          <a:graphicData uri="http://schemas.openxmlformats.org/presentationml/2006/ole">
            <p:oleObj spid="_x0000_s236551" name="Equation" r:id="rId5" imgW="330057" imgH="203112" progId="">
              <p:embed/>
            </p:oleObj>
          </a:graphicData>
        </a:graphic>
      </p:graphicFrame>
      <p:graphicFrame>
        <p:nvGraphicFramePr>
          <p:cNvPr id="236552" name="Object 8"/>
          <p:cNvGraphicFramePr>
            <a:graphicFrameLocks noChangeAspect="1"/>
          </p:cNvGraphicFramePr>
          <p:nvPr/>
        </p:nvGraphicFramePr>
        <p:xfrm>
          <a:off x="571500" y="2519363"/>
          <a:ext cx="688975" cy="422275"/>
        </p:xfrm>
        <a:graphic>
          <a:graphicData uri="http://schemas.openxmlformats.org/presentationml/2006/ole">
            <p:oleObj spid="_x0000_s236552" name="Equation" r:id="rId6" imgW="330057" imgH="203112" progId="">
              <p:embed/>
            </p:oleObj>
          </a:graphicData>
        </a:graphic>
      </p:graphicFrame>
      <p:graphicFrame>
        <p:nvGraphicFramePr>
          <p:cNvPr id="236553" name="Object 9"/>
          <p:cNvGraphicFramePr>
            <a:graphicFrameLocks noChangeAspect="1"/>
          </p:cNvGraphicFramePr>
          <p:nvPr/>
        </p:nvGraphicFramePr>
        <p:xfrm>
          <a:off x="7500938" y="2441575"/>
          <a:ext cx="688975" cy="422275"/>
        </p:xfrm>
        <a:graphic>
          <a:graphicData uri="http://schemas.openxmlformats.org/presentationml/2006/ole">
            <p:oleObj spid="_x0000_s236553" name="Equation" r:id="rId7" imgW="330057" imgH="203112" progId="">
              <p:embed/>
            </p:oleObj>
          </a:graphicData>
        </a:graphic>
      </p:graphicFrame>
      <p:sp>
        <p:nvSpPr>
          <p:cNvPr id="23655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17" name="灯片编号占位符 16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925C1A3-B471-4920-B68F-C11E4199E3F7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40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236561" name="内容占位符 2"/>
          <p:cNvSpPr txBox="1">
            <a:spLocks/>
          </p:cNvSpPr>
          <p:nvPr/>
        </p:nvSpPr>
        <p:spPr bwMode="auto">
          <a:xfrm>
            <a:off x="611188" y="4076700"/>
            <a:ext cx="8286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注：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AES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算法的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S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盒采用了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不可约多项式</a:t>
            </a:r>
          </a:p>
        </p:txBody>
      </p:sp>
      <p:graphicFrame>
        <p:nvGraphicFramePr>
          <p:cNvPr id="236557" name="Object 13"/>
          <p:cNvGraphicFramePr>
            <a:graphicFrameLocks noChangeAspect="1"/>
          </p:cNvGraphicFramePr>
          <p:nvPr/>
        </p:nvGraphicFramePr>
        <p:xfrm>
          <a:off x="1979613" y="4797425"/>
          <a:ext cx="3954462" cy="571500"/>
        </p:xfrm>
        <a:graphic>
          <a:graphicData uri="http://schemas.openxmlformats.org/presentationml/2006/ole">
            <p:oleObj spid="_x0000_s236557" name="Equation" r:id="rId8" imgW="1574800" imgH="22860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5" name="Rectangle 86"/>
          <p:cNvSpPr>
            <a:spLocks noChangeArrowheads="1"/>
          </p:cNvSpPr>
          <p:nvPr/>
        </p:nvSpPr>
        <p:spPr bwMode="auto">
          <a:xfrm>
            <a:off x="214313" y="635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11" name="灯片编号占位符 10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D0C8236-3CF1-44E9-9A2E-C2CB454E7352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41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08227" name="内容占位符 2"/>
          <p:cNvSpPr txBox="1">
            <a:spLocks/>
          </p:cNvSpPr>
          <p:nvPr/>
        </p:nvSpPr>
        <p:spPr bwMode="auto">
          <a:xfrm>
            <a:off x="642938" y="1412875"/>
            <a:ext cx="8032750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x+1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在有理数域、实数域、复数域、域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中分别是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吗？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37580" name="内容占位符 2"/>
          <p:cNvSpPr txBox="1">
            <a:spLocks/>
          </p:cNvSpPr>
          <p:nvPr/>
        </p:nvSpPr>
        <p:spPr bwMode="auto">
          <a:xfrm>
            <a:off x="684213" y="2708275"/>
            <a:ext cx="7991475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rgbClr val="00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+1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在有理数域、实数域、复数域、域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中分别是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吗？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7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758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606" name="Rectangle 86"/>
          <p:cNvSpPr>
            <a:spLocks noChangeArrowheads="1"/>
          </p:cNvSpPr>
          <p:nvPr/>
        </p:nvSpPr>
        <p:spPr bwMode="auto">
          <a:xfrm>
            <a:off x="214313" y="635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 </a:t>
            </a:r>
            <a:r>
              <a:rPr kumimoji="0" lang="zh-CN" altLang="en-US" sz="3600" b="1">
                <a:solidFill>
                  <a:srgbClr val="FFFFFF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11" name="灯片编号占位符 10"/>
          <p:cNvSpPr txBox="1">
            <a:spLocks noGrp="1"/>
          </p:cNvSpPr>
          <p:nvPr/>
        </p:nvSpPr>
        <p:spPr>
          <a:xfrm>
            <a:off x="8207375" y="6381750"/>
            <a:ext cx="928688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455A7076-BC33-483B-9370-1D81C6ED7926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42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238608" name="内容占位符 2"/>
          <p:cNvSpPr txBox="1">
            <a:spLocks/>
          </p:cNvSpPr>
          <p:nvPr/>
        </p:nvSpPr>
        <p:spPr bwMode="auto">
          <a:xfrm>
            <a:off x="500063" y="1844675"/>
            <a:ext cx="7096125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一次多项式总是不可约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多项式的可约性与其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所在的域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密切相关。</a:t>
            </a:r>
          </a:p>
        </p:txBody>
      </p:sp>
      <p:sp>
        <p:nvSpPr>
          <p:cNvPr id="238609" name="矩形 1"/>
          <p:cNvSpPr>
            <a:spLocks noChangeArrowheads="1"/>
          </p:cNvSpPr>
          <p:nvPr/>
        </p:nvSpPr>
        <p:spPr bwMode="auto">
          <a:xfrm>
            <a:off x="323850" y="1193800"/>
            <a:ext cx="73326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关于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，有如下结论： </a:t>
            </a:r>
            <a:endParaRPr lang="zh-CN" altLang="en-US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238610" name="内容占位符 2"/>
          <p:cNvSpPr txBox="1">
            <a:spLocks/>
          </p:cNvSpPr>
          <p:nvPr/>
        </p:nvSpPr>
        <p:spPr bwMode="auto">
          <a:xfrm>
            <a:off x="531813" y="2997200"/>
            <a:ext cx="8072437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rgbClr val="CC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为不可约多项式       不能分解成两个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次数更低的多项式的乘积。</a:t>
            </a:r>
          </a:p>
          <a:p>
            <a:pPr marL="342900" indent="-342900" eaLnBrk="0" hangingPunct="0">
              <a:spcBef>
                <a:spcPct val="20000"/>
              </a:spcBef>
              <a:buClr>
                <a:srgbClr val="FF0066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对于任意  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    </a:t>
            </a:r>
          </a:p>
        </p:txBody>
      </p:sp>
      <p:graphicFrame>
        <p:nvGraphicFramePr>
          <p:cNvPr id="238601" name="Object 9"/>
          <p:cNvGraphicFramePr>
            <a:graphicFrameLocks noChangeAspect="1"/>
          </p:cNvGraphicFramePr>
          <p:nvPr/>
        </p:nvGraphicFramePr>
        <p:xfrm>
          <a:off x="892175" y="3087688"/>
          <a:ext cx="688975" cy="422275"/>
        </p:xfrm>
        <a:graphic>
          <a:graphicData uri="http://schemas.openxmlformats.org/presentationml/2006/ole">
            <p:oleObj spid="_x0000_s238601" name="Equation" r:id="rId3" imgW="330057" imgH="203112" progId="">
              <p:embed/>
            </p:oleObj>
          </a:graphicData>
        </a:graphic>
      </p:graphicFrame>
      <p:graphicFrame>
        <p:nvGraphicFramePr>
          <p:cNvPr id="238602" name="Object 10"/>
          <p:cNvGraphicFramePr>
            <a:graphicFrameLocks noChangeAspect="1"/>
          </p:cNvGraphicFramePr>
          <p:nvPr/>
        </p:nvGraphicFramePr>
        <p:xfrm>
          <a:off x="4132263" y="3144838"/>
          <a:ext cx="450850" cy="317500"/>
        </p:xfrm>
        <a:graphic>
          <a:graphicData uri="http://schemas.openxmlformats.org/presentationml/2006/ole">
            <p:oleObj spid="_x0000_s238602" name="Equation" r:id="rId4" imgW="215713" imgH="152268" progId="">
              <p:embed/>
            </p:oleObj>
          </a:graphicData>
        </a:graphic>
      </p:graphicFrame>
      <p:graphicFrame>
        <p:nvGraphicFramePr>
          <p:cNvPr id="238603" name="Object 11"/>
          <p:cNvGraphicFramePr>
            <a:graphicFrameLocks noChangeAspect="1"/>
          </p:cNvGraphicFramePr>
          <p:nvPr/>
        </p:nvGraphicFramePr>
        <p:xfrm>
          <a:off x="4492625" y="3071813"/>
          <a:ext cx="688975" cy="422275"/>
        </p:xfrm>
        <a:graphic>
          <a:graphicData uri="http://schemas.openxmlformats.org/presentationml/2006/ole">
            <p:oleObj spid="_x0000_s238603" name="Equation" r:id="rId5" imgW="330057" imgH="203112" progId="">
              <p:embed/>
            </p:oleObj>
          </a:graphicData>
        </a:graphic>
      </p:graphicFrame>
      <p:graphicFrame>
        <p:nvGraphicFramePr>
          <p:cNvPr id="238604" name="Object 12"/>
          <p:cNvGraphicFramePr>
            <a:graphicFrameLocks noChangeAspect="1"/>
          </p:cNvGraphicFramePr>
          <p:nvPr/>
        </p:nvGraphicFramePr>
        <p:xfrm>
          <a:off x="2411413" y="4076700"/>
          <a:ext cx="715962" cy="422275"/>
        </p:xfrm>
        <a:graphic>
          <a:graphicData uri="http://schemas.openxmlformats.org/presentationml/2006/ole">
            <p:oleObj spid="_x0000_s238604" name="Equation" r:id="rId6" imgW="342751" imgH="203112" progId="">
              <p:embed/>
            </p:oleObj>
          </a:graphicData>
        </a:graphic>
      </p:graphicFrame>
      <p:graphicFrame>
        <p:nvGraphicFramePr>
          <p:cNvPr id="238605" name="Object 13"/>
          <p:cNvGraphicFramePr>
            <a:graphicFrameLocks noChangeAspect="1"/>
          </p:cNvGraphicFramePr>
          <p:nvPr/>
        </p:nvGraphicFramePr>
        <p:xfrm>
          <a:off x="1908175" y="4652963"/>
          <a:ext cx="4356100" cy="419100"/>
        </p:xfrm>
        <a:graphic>
          <a:graphicData uri="http://schemas.openxmlformats.org/presentationml/2006/ole">
            <p:oleObj spid="_x0000_s238605" name="Equation" r:id="rId7" imgW="4356100" imgH="41910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29" name="内容占位符 2"/>
          <p:cNvSpPr txBox="1">
            <a:spLocks/>
          </p:cNvSpPr>
          <p:nvPr/>
        </p:nvSpPr>
        <p:spPr bwMode="auto">
          <a:xfrm>
            <a:off x="571500" y="1428750"/>
            <a:ext cx="828675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     是有理数域上、实数域、复数域、域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</a:rPr>
              <a:t>3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不可约多项式吗？若是给出分解。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解：在实数域中、复数域和域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中分别分解如下：  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39621" name="Object 5"/>
          <p:cNvGraphicFramePr>
            <a:graphicFrameLocks noChangeAspect="1"/>
          </p:cNvGraphicFramePr>
          <p:nvPr/>
        </p:nvGraphicFramePr>
        <p:xfrm>
          <a:off x="1481138" y="1538288"/>
          <a:ext cx="927100" cy="406400"/>
        </p:xfrm>
        <a:graphic>
          <a:graphicData uri="http://schemas.openxmlformats.org/presentationml/2006/ole">
            <p:oleObj spid="_x0000_s239621" name="Equation" r:id="rId3" imgW="926698" imgH="406224" progId="">
              <p:embed/>
            </p:oleObj>
          </a:graphicData>
        </a:graphic>
      </p:graphicFrame>
      <p:graphicFrame>
        <p:nvGraphicFramePr>
          <p:cNvPr id="17411" name="Object 6"/>
          <p:cNvGraphicFramePr>
            <a:graphicFrameLocks noChangeAspect="1"/>
          </p:cNvGraphicFramePr>
          <p:nvPr/>
        </p:nvGraphicFramePr>
        <p:xfrm>
          <a:off x="1285875" y="3357563"/>
          <a:ext cx="6197600" cy="520700"/>
        </p:xfrm>
        <a:graphic>
          <a:graphicData uri="http://schemas.openxmlformats.org/presentationml/2006/ole">
            <p:oleObj spid="_x0000_s239622" name="Equation" r:id="rId4" imgW="6197600" imgH="520700" progId="">
              <p:embed/>
            </p:oleObj>
          </a:graphicData>
        </a:graphic>
      </p:graphicFrame>
      <p:graphicFrame>
        <p:nvGraphicFramePr>
          <p:cNvPr id="17412" name="Object 7"/>
          <p:cNvGraphicFramePr>
            <a:graphicFrameLocks noChangeAspect="1"/>
          </p:cNvGraphicFramePr>
          <p:nvPr/>
        </p:nvGraphicFramePr>
        <p:xfrm>
          <a:off x="1258888" y="4797425"/>
          <a:ext cx="6769100" cy="482600"/>
        </p:xfrm>
        <a:graphic>
          <a:graphicData uri="http://schemas.openxmlformats.org/presentationml/2006/ole">
            <p:oleObj spid="_x0000_s239623" name="Equation" r:id="rId5" imgW="6769100" imgH="482600" progId="">
              <p:embed/>
            </p:oleObj>
          </a:graphicData>
        </a:graphic>
      </p:graphicFrame>
      <p:sp>
        <p:nvSpPr>
          <p:cNvPr id="23963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8" name="灯片编号占位符 7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9255F549-4DCF-44DE-9383-DB36C1F9A30A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43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graphicFrame>
        <p:nvGraphicFramePr>
          <p:cNvPr id="239628" name="Object 12"/>
          <p:cNvGraphicFramePr>
            <a:graphicFrameLocks noChangeAspect="1"/>
          </p:cNvGraphicFramePr>
          <p:nvPr/>
        </p:nvGraphicFramePr>
        <p:xfrm>
          <a:off x="1187450" y="3933825"/>
          <a:ext cx="7345363" cy="682625"/>
        </p:xfrm>
        <a:graphic>
          <a:graphicData uri="http://schemas.openxmlformats.org/presentationml/2006/ole">
            <p:oleObj spid="_x0000_s239628" name="公式" r:id="rId6" imgW="3555720" imgH="330120" progId="Equation.3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17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39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656" name="内容占位符 2"/>
          <p:cNvSpPr txBox="1">
            <a:spLocks/>
          </p:cNvSpPr>
          <p:nvPr/>
        </p:nvSpPr>
        <p:spPr bwMode="auto">
          <a:xfrm>
            <a:off x="468313" y="1341438"/>
            <a:ext cx="7272337" cy="1079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3.13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域上的多项式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，有如下结论：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1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1)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复数域上不可约多项式只有一次多项式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240657" name="内容占位符 2"/>
          <p:cNvSpPr txBox="1">
            <a:spLocks/>
          </p:cNvSpPr>
          <p:nvPr/>
        </p:nvSpPr>
        <p:spPr bwMode="auto">
          <a:xfrm>
            <a:off x="500063" y="2263775"/>
            <a:ext cx="8113712" cy="1649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endParaRPr lang="zh-CN" altLang="en-US" b="1">
              <a:latin typeface="宋体" charset="-122"/>
            </a:endParaRPr>
          </a:p>
        </p:txBody>
      </p:sp>
      <p:sp>
        <p:nvSpPr>
          <p:cNvPr id="24065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7" name="灯片编号占位符 6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F17FD6FD-CA07-4FEB-97F2-1E08C723E88D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44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240660" name="内容占位符 2"/>
          <p:cNvSpPr txBox="1">
            <a:spLocks/>
          </p:cNvSpPr>
          <p:nvPr/>
        </p:nvSpPr>
        <p:spPr bwMode="auto">
          <a:xfrm>
            <a:off x="428625" y="2566988"/>
            <a:ext cx="85725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2)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实数域不可约多项式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只有一次多项式与某些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二次多项式，并且         不可约           。      </a:t>
            </a:r>
          </a:p>
        </p:txBody>
      </p:sp>
      <p:graphicFrame>
        <p:nvGraphicFramePr>
          <p:cNvPr id="240649" name="Object 9"/>
          <p:cNvGraphicFramePr>
            <a:graphicFrameLocks noChangeAspect="1"/>
          </p:cNvGraphicFramePr>
          <p:nvPr/>
        </p:nvGraphicFramePr>
        <p:xfrm>
          <a:off x="3786188" y="3138488"/>
          <a:ext cx="1562100" cy="422275"/>
        </p:xfrm>
        <a:graphic>
          <a:graphicData uri="http://schemas.openxmlformats.org/presentationml/2006/ole">
            <p:oleObj spid="_x0000_s240649" name="Equation" r:id="rId3" imgW="748975" imgH="203112" progId="">
              <p:embed/>
            </p:oleObj>
          </a:graphicData>
        </a:graphic>
      </p:graphicFrame>
      <p:graphicFrame>
        <p:nvGraphicFramePr>
          <p:cNvPr id="240650" name="Object 10"/>
          <p:cNvGraphicFramePr>
            <a:graphicFrameLocks noChangeAspect="1"/>
          </p:cNvGraphicFramePr>
          <p:nvPr/>
        </p:nvGraphicFramePr>
        <p:xfrm>
          <a:off x="6429375" y="3209925"/>
          <a:ext cx="450850" cy="317500"/>
        </p:xfrm>
        <a:graphic>
          <a:graphicData uri="http://schemas.openxmlformats.org/presentationml/2006/ole">
            <p:oleObj spid="_x0000_s240650" name="Equation" r:id="rId4" imgW="215713" imgH="152268" progId="">
              <p:embed/>
            </p:oleObj>
          </a:graphicData>
        </a:graphic>
      </p:graphicFrame>
      <p:graphicFrame>
        <p:nvGraphicFramePr>
          <p:cNvPr id="240651" name="Object 11"/>
          <p:cNvGraphicFramePr>
            <a:graphicFrameLocks noChangeAspect="1"/>
          </p:cNvGraphicFramePr>
          <p:nvPr/>
        </p:nvGraphicFramePr>
        <p:xfrm>
          <a:off x="6786563" y="3152775"/>
          <a:ext cx="1616075" cy="422275"/>
        </p:xfrm>
        <a:graphic>
          <a:graphicData uri="http://schemas.openxmlformats.org/presentationml/2006/ole">
            <p:oleObj spid="_x0000_s240651" name="Equation" r:id="rId5" imgW="774364" imgH="203112" progId="">
              <p:embed/>
            </p:oleObj>
          </a:graphicData>
        </a:graphic>
      </p:graphicFrame>
      <p:sp>
        <p:nvSpPr>
          <p:cNvPr id="240661" name="内容占位符 2"/>
          <p:cNvSpPr txBox="1">
            <a:spLocks/>
          </p:cNvSpPr>
          <p:nvPr/>
        </p:nvSpPr>
        <p:spPr bwMode="auto">
          <a:xfrm>
            <a:off x="428625" y="3702050"/>
            <a:ext cx="8072438" cy="642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3)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有理数域上存在任意次不可约多项式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，并且</a:t>
            </a:r>
          </a:p>
        </p:txBody>
      </p:sp>
      <p:sp>
        <p:nvSpPr>
          <p:cNvPr id="240662" name="内容占位符 2"/>
          <p:cNvSpPr txBox="1">
            <a:spLocks/>
          </p:cNvSpPr>
          <p:nvPr/>
        </p:nvSpPr>
        <p:spPr bwMode="auto">
          <a:xfrm>
            <a:off x="468313" y="4999038"/>
            <a:ext cx="8042275" cy="642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4)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有限域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上总存在任意次不可约多项式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b="1"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</p:txBody>
      </p:sp>
      <p:sp>
        <p:nvSpPr>
          <p:cNvPr id="240663" name="Rectangle 12"/>
          <p:cNvSpPr>
            <a:spLocks noChangeArrowheads="1"/>
          </p:cNvSpPr>
          <p:nvPr/>
        </p:nvSpPr>
        <p:spPr bwMode="auto">
          <a:xfrm>
            <a:off x="822325" y="4349750"/>
            <a:ext cx="4037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是不可约多项式。</a:t>
            </a:r>
          </a:p>
        </p:txBody>
      </p:sp>
      <p:graphicFrame>
        <p:nvGraphicFramePr>
          <p:cNvPr id="240655" name="Object 15"/>
          <p:cNvGraphicFramePr>
            <a:graphicFrameLocks noChangeAspect="1"/>
          </p:cNvGraphicFramePr>
          <p:nvPr/>
        </p:nvGraphicFramePr>
        <p:xfrm>
          <a:off x="836613" y="4391025"/>
          <a:ext cx="927100" cy="406400"/>
        </p:xfrm>
        <a:graphic>
          <a:graphicData uri="http://schemas.openxmlformats.org/presentationml/2006/ole">
            <p:oleObj spid="_x0000_s240655" name="Equation" r:id="rId6" imgW="926698" imgH="406224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75" name="矩形 4"/>
          <p:cNvSpPr>
            <a:spLocks noChangeArrowheads="1"/>
          </p:cNvSpPr>
          <p:nvPr/>
        </p:nvSpPr>
        <p:spPr bwMode="auto">
          <a:xfrm>
            <a:off x="428625" y="1214438"/>
            <a:ext cx="8143875" cy="318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3.14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中每一个次数   的首一多项式均可唯一表示成    中首一的不可约多项式的乘积。这里的唯一是指，若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                      ， 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    ，并且适当交换因式的秩序，有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241669" name="Object 5"/>
          <p:cNvGraphicFramePr>
            <a:graphicFrameLocks noChangeAspect="1"/>
          </p:cNvGraphicFramePr>
          <p:nvPr/>
        </p:nvGraphicFramePr>
        <p:xfrm>
          <a:off x="2051050" y="1363663"/>
          <a:ext cx="687388" cy="422275"/>
        </p:xfrm>
        <a:graphic>
          <a:graphicData uri="http://schemas.openxmlformats.org/presentationml/2006/ole">
            <p:oleObj spid="_x0000_s241669" name="Equation" r:id="rId3" imgW="330057" imgH="203112" progId="">
              <p:embed/>
            </p:oleObj>
          </a:graphicData>
        </a:graphic>
      </p:graphicFrame>
      <p:graphicFrame>
        <p:nvGraphicFramePr>
          <p:cNvPr id="241670" name="Object 6"/>
          <p:cNvGraphicFramePr>
            <a:graphicFrameLocks noChangeAspect="1"/>
          </p:cNvGraphicFramePr>
          <p:nvPr/>
        </p:nvGraphicFramePr>
        <p:xfrm>
          <a:off x="5000625" y="1371600"/>
          <a:ext cx="449263" cy="342900"/>
        </p:xfrm>
        <a:graphic>
          <a:graphicData uri="http://schemas.openxmlformats.org/presentationml/2006/ole">
            <p:oleObj spid="_x0000_s241670" name="Equation" r:id="rId4" imgW="215619" imgH="164885" progId="">
              <p:embed/>
            </p:oleObj>
          </a:graphicData>
        </a:graphic>
      </p:graphicFrame>
      <p:graphicFrame>
        <p:nvGraphicFramePr>
          <p:cNvPr id="241671" name="Object 7"/>
          <p:cNvGraphicFramePr>
            <a:graphicFrameLocks noChangeAspect="1"/>
          </p:cNvGraphicFramePr>
          <p:nvPr/>
        </p:nvGraphicFramePr>
        <p:xfrm>
          <a:off x="2357438" y="1916113"/>
          <a:ext cx="687387" cy="422275"/>
        </p:xfrm>
        <a:graphic>
          <a:graphicData uri="http://schemas.openxmlformats.org/presentationml/2006/ole">
            <p:oleObj spid="_x0000_s241671" name="Equation" r:id="rId5" imgW="330057" imgH="203112" progId="">
              <p:embed/>
            </p:oleObj>
          </a:graphicData>
        </a:graphic>
      </p:graphicFrame>
      <p:graphicFrame>
        <p:nvGraphicFramePr>
          <p:cNvPr id="241672" name="Object 8"/>
          <p:cNvGraphicFramePr>
            <a:graphicFrameLocks noChangeAspect="1"/>
          </p:cNvGraphicFramePr>
          <p:nvPr/>
        </p:nvGraphicFramePr>
        <p:xfrm>
          <a:off x="1285875" y="2952750"/>
          <a:ext cx="6080125" cy="476250"/>
        </p:xfrm>
        <a:graphic>
          <a:graphicData uri="http://schemas.openxmlformats.org/presentationml/2006/ole">
            <p:oleObj spid="_x0000_s241672" name="Equation" r:id="rId6" imgW="2921000" imgH="228600" progId="">
              <p:embed/>
            </p:oleObj>
          </a:graphicData>
        </a:graphic>
      </p:graphicFrame>
      <p:graphicFrame>
        <p:nvGraphicFramePr>
          <p:cNvPr id="241673" name="Object 9"/>
          <p:cNvGraphicFramePr>
            <a:graphicFrameLocks noChangeAspect="1"/>
          </p:cNvGraphicFramePr>
          <p:nvPr/>
        </p:nvGraphicFramePr>
        <p:xfrm>
          <a:off x="928688" y="3540125"/>
          <a:ext cx="661987" cy="317500"/>
        </p:xfrm>
        <a:graphic>
          <a:graphicData uri="http://schemas.openxmlformats.org/presentationml/2006/ole">
            <p:oleObj spid="_x0000_s241673" name="Equation" r:id="rId7" imgW="317225" imgH="152268" progId="">
              <p:embed/>
            </p:oleObj>
          </a:graphicData>
        </a:graphic>
      </p:graphicFrame>
      <p:graphicFrame>
        <p:nvGraphicFramePr>
          <p:cNvPr id="241674" name="Object 10"/>
          <p:cNvGraphicFramePr>
            <a:graphicFrameLocks noChangeAspect="1"/>
          </p:cNvGraphicFramePr>
          <p:nvPr/>
        </p:nvGraphicFramePr>
        <p:xfrm>
          <a:off x="1744663" y="3952875"/>
          <a:ext cx="4256087" cy="476250"/>
        </p:xfrm>
        <a:graphic>
          <a:graphicData uri="http://schemas.openxmlformats.org/presentationml/2006/ole">
            <p:oleObj spid="_x0000_s241674" name="Equation" r:id="rId8" imgW="2044700" imgH="228600" progId="">
              <p:embed/>
            </p:oleObj>
          </a:graphicData>
        </a:graphic>
      </p:graphicFrame>
      <p:sp>
        <p:nvSpPr>
          <p:cNvPr id="24167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3.2.4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域上不可约多项式</a:t>
            </a:r>
          </a:p>
        </p:txBody>
      </p:sp>
      <p:sp>
        <p:nvSpPr>
          <p:cNvPr id="13" name="灯片编号占位符 12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F5EE8D63-A83A-4E92-A090-3A9F078902F2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45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74" name="Rectangle 86"/>
          <p:cNvSpPr>
            <a:spLocks noChangeArrowheads="1"/>
          </p:cNvSpPr>
          <p:nvPr/>
        </p:nvSpPr>
        <p:spPr bwMode="auto">
          <a:xfrm>
            <a:off x="2270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40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习题</a:t>
            </a:r>
          </a:p>
        </p:txBody>
      </p:sp>
      <p:sp>
        <p:nvSpPr>
          <p:cNvPr id="173175" name="矩形 4"/>
          <p:cNvSpPr>
            <a:spLocks noChangeArrowheads="1"/>
          </p:cNvSpPr>
          <p:nvPr/>
        </p:nvSpPr>
        <p:spPr bwMode="auto">
          <a:xfrm>
            <a:off x="395288" y="1268413"/>
            <a:ext cx="7858125" cy="1098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习题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：设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spcBef>
                <a:spcPts val="1200"/>
              </a:spcBef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上两个多项式，求带余除法的商式和余式</a:t>
            </a:r>
            <a:r>
              <a:rPr kumimoji="0" lang="zh-CN" altLang="en-US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                               </a:t>
            </a:r>
            <a:endParaRPr kumimoji="0" lang="en-US" altLang="zh-CN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173173" name="Object 117"/>
          <p:cNvGraphicFramePr>
            <a:graphicFrameLocks noChangeAspect="1"/>
          </p:cNvGraphicFramePr>
          <p:nvPr/>
        </p:nvGraphicFramePr>
        <p:xfrm>
          <a:off x="2168525" y="1293813"/>
          <a:ext cx="5410200" cy="482600"/>
        </p:xfrm>
        <a:graphic>
          <a:graphicData uri="http://schemas.openxmlformats.org/presentationml/2006/ole">
            <p:oleObj spid="_x0000_s173173" name="Equation" r:id="rId3" imgW="5410200" imgH="482600" progId="">
              <p:embed/>
            </p:oleObj>
          </a:graphicData>
        </a:graphic>
      </p:graphicFrame>
      <p:sp>
        <p:nvSpPr>
          <p:cNvPr id="173176" name="Rectangle 3"/>
          <p:cNvSpPr>
            <a:spLocks noChangeArrowheads="1"/>
          </p:cNvSpPr>
          <p:nvPr/>
        </p:nvSpPr>
        <p:spPr bwMode="auto">
          <a:xfrm>
            <a:off x="357188" y="2636838"/>
            <a:ext cx="7929562" cy="222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25000"/>
              </a:lnSpc>
              <a:spcBef>
                <a:spcPts val="2400"/>
              </a:spcBef>
              <a:buFont typeface="Wingdings" pitchFamily="2" charset="2"/>
              <a:buNone/>
            </a:pPr>
            <a:r>
              <a:rPr kumimoji="0" lang="zh-CN" altLang="en-US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习题</a:t>
            </a:r>
            <a:r>
              <a:rPr kumimoji="0" lang="en-US" altLang="zh-CN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：已知实数域上多项式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457200" indent="-457200">
              <a:lnSpc>
                <a:spcPct val="125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f(x)=x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+5x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-x-3; </a:t>
            </a:r>
          </a:p>
          <a:p>
            <a:pPr marL="457200" indent="-457200">
              <a:lnSpc>
                <a:spcPct val="125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g(x)=x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7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+5x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-3x-1;</a:t>
            </a:r>
          </a:p>
          <a:p>
            <a:pPr marL="457200" indent="-457200"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求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(f, g)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6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第三节 域</a:t>
            </a:r>
          </a:p>
        </p:txBody>
      </p:sp>
      <p:grpSp>
        <p:nvGrpSpPr>
          <p:cNvPr id="314370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314396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97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400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401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402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98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域的定义与基本性质</a:t>
              </a:r>
            </a:p>
          </p:txBody>
        </p:sp>
        <p:sp>
          <p:nvSpPr>
            <p:cNvPr id="314399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314371" name="Group 11"/>
          <p:cNvGrpSpPr>
            <a:grpSpLocks/>
          </p:cNvGrpSpPr>
          <p:nvPr/>
        </p:nvGrpSpPr>
        <p:grpSpPr bwMode="auto">
          <a:xfrm>
            <a:off x="661988" y="2435225"/>
            <a:ext cx="7502525" cy="841375"/>
            <a:chOff x="385" y="1162"/>
            <a:chExt cx="4309" cy="389"/>
          </a:xfrm>
        </p:grpSpPr>
        <p:sp>
          <p:nvSpPr>
            <p:cNvPr id="314389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90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93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94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95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91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域上的多项式</a:t>
              </a:r>
            </a:p>
          </p:txBody>
        </p:sp>
        <p:sp>
          <p:nvSpPr>
            <p:cNvPr id="314392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314372" name="Group 27"/>
          <p:cNvGrpSpPr>
            <a:grpSpLocks/>
          </p:cNvGrpSpPr>
          <p:nvPr/>
        </p:nvGrpSpPr>
        <p:grpSpPr bwMode="auto">
          <a:xfrm>
            <a:off x="690563" y="4387850"/>
            <a:ext cx="7502525" cy="841375"/>
            <a:chOff x="385" y="1162"/>
            <a:chExt cx="4309" cy="389"/>
          </a:xfrm>
        </p:grpSpPr>
        <p:sp>
          <p:nvSpPr>
            <p:cNvPr id="314382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83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86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7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8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84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有限域的特性</a:t>
              </a:r>
            </a:p>
          </p:txBody>
        </p:sp>
        <p:sp>
          <p:nvSpPr>
            <p:cNvPr id="314385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314373" name="Group 27"/>
          <p:cNvGrpSpPr>
            <a:grpSpLocks/>
          </p:cNvGrpSpPr>
          <p:nvPr/>
        </p:nvGrpSpPr>
        <p:grpSpPr bwMode="auto">
          <a:xfrm>
            <a:off x="661988" y="3402013"/>
            <a:ext cx="7502525" cy="841375"/>
            <a:chOff x="385" y="1162"/>
            <a:chExt cx="4309" cy="389"/>
          </a:xfrm>
        </p:grpSpPr>
        <p:sp>
          <p:nvSpPr>
            <p:cNvPr id="314375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14376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14379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0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14381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14377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有限域的构造</a:t>
              </a:r>
            </a:p>
          </p:txBody>
        </p:sp>
        <p:sp>
          <p:nvSpPr>
            <p:cNvPr id="314378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  <p:sp>
        <p:nvSpPr>
          <p:cNvPr id="43" name="灯片编号占位符 42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15DFF2B-F85B-4F4B-84EB-F05084875D9C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47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7" name="Rectangle 3"/>
          <p:cNvSpPr>
            <a:spLocks noChangeArrowheads="1"/>
          </p:cNvSpPr>
          <p:nvPr/>
        </p:nvSpPr>
        <p:spPr bwMode="auto">
          <a:xfrm>
            <a:off x="357188" y="1500188"/>
            <a:ext cx="7929562" cy="139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sz="3200" b="1">
                <a:latin typeface="微软雅黑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sz="3200" b="1">
                <a:solidFill>
                  <a:srgbClr val="FF0000"/>
                </a:solidFill>
                <a:latin typeface="微软雅黑"/>
                <a:ea typeface="楷体_GB2312" pitchFamily="49" charset="-122"/>
                <a:cs typeface="微软雅黑"/>
              </a:rPr>
              <a:t>多项式模同余</a:t>
            </a:r>
            <a:r>
              <a:rPr kumimoji="0" lang="zh-CN" altLang="en-US" sz="3200" b="1">
                <a:latin typeface="微软雅黑"/>
                <a:ea typeface="楷体_GB2312" pitchFamily="49" charset="-122"/>
                <a:cs typeface="微软雅黑"/>
              </a:rPr>
              <a:t>定义</a:t>
            </a:r>
          </a:p>
          <a:p>
            <a:pPr>
              <a:lnSpc>
                <a:spcPct val="130000"/>
              </a:lnSpc>
              <a:spcBef>
                <a:spcPts val="3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sz="3200" b="1">
                <a:latin typeface="微软雅黑"/>
                <a:ea typeface="楷体_GB2312" pitchFamily="49" charset="-122"/>
                <a:cs typeface="微软雅黑"/>
              </a:rPr>
              <a:t>能解释</a:t>
            </a:r>
            <a:r>
              <a:rPr kumimoji="0" lang="zh-CN" altLang="en-US" sz="3200" b="1">
                <a:solidFill>
                  <a:srgbClr val="FF0000"/>
                </a:solidFill>
                <a:latin typeface="微软雅黑"/>
                <a:ea typeface="楷体_GB2312" pitchFamily="49" charset="-122"/>
                <a:cs typeface="微软雅黑"/>
              </a:rPr>
              <a:t>模运算性质</a:t>
            </a:r>
            <a:endParaRPr kumimoji="0" lang="zh-CN" altLang="en-US" sz="3200" b="1">
              <a:latin typeface="宋体" charset="-122"/>
              <a:ea typeface="楷体_GB2312" pitchFamily="49" charset="-122"/>
              <a:cs typeface="微软雅黑"/>
            </a:endParaRPr>
          </a:p>
        </p:txBody>
      </p:sp>
      <p:sp>
        <p:nvSpPr>
          <p:cNvPr id="31641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第一阶段学习目标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5CA11D24-F243-4E63-92B4-3EACB29B2CAB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48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82" name="矩形 15"/>
          <p:cNvSpPr>
            <a:spLocks noChangeArrowheads="1"/>
          </p:cNvSpPr>
          <p:nvPr/>
        </p:nvSpPr>
        <p:spPr bwMode="auto">
          <a:xfrm>
            <a:off x="428625" y="1341438"/>
            <a:ext cx="8286750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3.15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若域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上多项式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与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被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除有相同的余式，则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与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 i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同余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，简记为</a:t>
            </a: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 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endParaRPr kumimoji="0" lang="zh-CN" altLang="en-US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pSp>
        <p:nvGrpSpPr>
          <p:cNvPr id="331787" name="Group 11"/>
          <p:cNvGrpSpPr>
            <a:grpSpLocks/>
          </p:cNvGrpSpPr>
          <p:nvPr/>
        </p:nvGrpSpPr>
        <p:grpSpPr bwMode="auto">
          <a:xfrm>
            <a:off x="428625" y="3219450"/>
            <a:ext cx="8094663" cy="1649413"/>
            <a:chOff x="270" y="2246"/>
            <a:chExt cx="5099" cy="1039"/>
          </a:xfrm>
        </p:grpSpPr>
        <p:sp>
          <p:nvSpPr>
            <p:cNvPr id="2" name="矩形 17"/>
            <p:cNvSpPr>
              <a:spLocks noChangeArrowheads="1"/>
            </p:cNvSpPr>
            <p:nvPr/>
          </p:nvSpPr>
          <p:spPr bwMode="auto">
            <a:xfrm>
              <a:off x="270" y="2246"/>
              <a:ext cx="4950" cy="7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25000"/>
                </a:lnSpc>
              </a:pPr>
              <a:r>
                <a:rPr kumimoji="0" lang="zh-CN" altLang="en-US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例</a:t>
              </a:r>
              <a:r>
                <a:rPr kumimoji="0" lang="en-US" altLang="zh-CN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1</a:t>
              </a: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：</a:t>
              </a:r>
              <a:endParaRPr kumimoji="0" lang="en-US" altLang="zh-CN" b="1">
                <a:latin typeface="楷体_GB2312" pitchFamily="49" charset="-122"/>
                <a:ea typeface="楷体_GB2312" pitchFamily="49" charset="-122"/>
              </a:endParaRPr>
            </a:p>
            <a:p>
              <a:pPr>
                <a:lnSpc>
                  <a:spcPct val="125000"/>
                </a:lnSpc>
              </a:pP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是</a:t>
              </a:r>
              <a:r>
                <a:rPr lang="en-US" altLang="zh-CN" b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Z</a:t>
              </a:r>
              <a:r>
                <a:rPr lang="en-US" altLang="zh-CN" b="1" baseline="-25000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</a:rPr>
                <a:t>2</a:t>
              </a: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</a:rPr>
                <a:t>上的多项式，则</a:t>
              </a:r>
            </a:p>
          </p:txBody>
        </p:sp>
        <p:graphicFrame>
          <p:nvGraphicFramePr>
            <p:cNvPr id="331780" name="Object 4"/>
            <p:cNvGraphicFramePr>
              <a:graphicFrameLocks noChangeAspect="1"/>
            </p:cNvGraphicFramePr>
            <p:nvPr/>
          </p:nvGraphicFramePr>
          <p:xfrm>
            <a:off x="721" y="2306"/>
            <a:ext cx="4648" cy="304"/>
          </p:xfrm>
          <a:graphic>
            <a:graphicData uri="http://schemas.openxmlformats.org/presentationml/2006/ole">
              <p:oleObj spid="_x0000_s331780" name="Equation" r:id="rId4" imgW="7378700" imgH="482600" progId="">
                <p:embed/>
              </p:oleObj>
            </a:graphicData>
          </a:graphic>
        </p:graphicFrame>
        <p:graphicFrame>
          <p:nvGraphicFramePr>
            <p:cNvPr id="331781" name="Object 5"/>
            <p:cNvGraphicFramePr>
              <a:graphicFrameLocks noChangeAspect="1"/>
            </p:cNvGraphicFramePr>
            <p:nvPr/>
          </p:nvGraphicFramePr>
          <p:xfrm>
            <a:off x="1429" y="3021"/>
            <a:ext cx="2480" cy="264"/>
          </p:xfrm>
          <a:graphic>
            <a:graphicData uri="http://schemas.openxmlformats.org/presentationml/2006/ole">
              <p:oleObj spid="_x0000_s331781" name="Equation" r:id="rId5" imgW="3937000" imgH="419100" progId="">
                <p:embed/>
              </p:oleObj>
            </a:graphicData>
          </a:graphic>
        </p:graphicFrame>
      </p:grpSp>
      <p:sp>
        <p:nvSpPr>
          <p:cNvPr id="33178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多项式模运算</a:t>
            </a:r>
          </a:p>
        </p:txBody>
      </p:sp>
      <p:sp>
        <p:nvSpPr>
          <p:cNvPr id="9" name="灯片编号占位符 8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F68ED76D-0430-41CE-B12F-90163DC63C39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49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31788" name="Text Box 12"/>
          <p:cNvSpPr txBox="1">
            <a:spLocks noChangeArrowheads="1"/>
          </p:cNvSpPr>
          <p:nvPr/>
        </p:nvSpPr>
        <p:spPr bwMode="auto">
          <a:xfrm>
            <a:off x="1239838" y="5321300"/>
            <a:ext cx="215741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f(x)=m(x)+x</a:t>
            </a:r>
          </a:p>
        </p:txBody>
      </p:sp>
      <p:sp>
        <p:nvSpPr>
          <p:cNvPr id="331789" name="Text Box 13"/>
          <p:cNvSpPr txBox="1">
            <a:spLocks noChangeArrowheads="1"/>
          </p:cNvSpPr>
          <p:nvPr/>
        </p:nvSpPr>
        <p:spPr bwMode="auto">
          <a:xfrm>
            <a:off x="1190625" y="5862638"/>
            <a:ext cx="31765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g(x)=(x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+1)m(x)+x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1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1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31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1788" grpId="0"/>
      <p:bldP spid="33178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33" name="矩形 17"/>
          <p:cNvSpPr>
            <a:spLocks noChangeArrowheads="1"/>
          </p:cNvSpPr>
          <p:nvPr/>
        </p:nvSpPr>
        <p:spPr bwMode="auto">
          <a:xfrm>
            <a:off x="428625" y="3422650"/>
            <a:ext cx="7858125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</a:pP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5000"/>
              </a:lnSpc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上的多项式，则</a:t>
            </a:r>
          </a:p>
        </p:txBody>
      </p:sp>
      <p:graphicFrame>
        <p:nvGraphicFramePr>
          <p:cNvPr id="333827" name="Object 3"/>
          <p:cNvGraphicFramePr>
            <a:graphicFrameLocks noChangeAspect="1"/>
          </p:cNvGraphicFramePr>
          <p:nvPr/>
        </p:nvGraphicFramePr>
        <p:xfrm>
          <a:off x="1144588" y="3535363"/>
          <a:ext cx="7378700" cy="482600"/>
        </p:xfrm>
        <a:graphic>
          <a:graphicData uri="http://schemas.openxmlformats.org/presentationml/2006/ole">
            <p:oleObj spid="_x0000_s333827" name="Equation" r:id="rId4" imgW="7378700" imgH="482600" progId="">
              <p:embed/>
            </p:oleObj>
          </a:graphicData>
        </a:graphic>
      </p:graphicFrame>
      <p:graphicFrame>
        <p:nvGraphicFramePr>
          <p:cNvPr id="333828" name="Object 4"/>
          <p:cNvGraphicFramePr>
            <a:graphicFrameLocks noChangeAspect="1"/>
          </p:cNvGraphicFramePr>
          <p:nvPr/>
        </p:nvGraphicFramePr>
        <p:xfrm>
          <a:off x="2268538" y="4670425"/>
          <a:ext cx="3937000" cy="419100"/>
        </p:xfrm>
        <a:graphic>
          <a:graphicData uri="http://schemas.openxmlformats.org/presentationml/2006/ole">
            <p:oleObj spid="_x0000_s333828" name="Equation" r:id="rId5" imgW="3937000" imgH="419100" progId="">
              <p:embed/>
            </p:oleObj>
          </a:graphicData>
        </a:graphic>
      </p:graphicFrame>
      <p:sp>
        <p:nvSpPr>
          <p:cNvPr id="333834" name="矩形 15"/>
          <p:cNvSpPr>
            <a:spLocks noChangeArrowheads="1"/>
          </p:cNvSpPr>
          <p:nvPr/>
        </p:nvSpPr>
        <p:spPr bwMode="auto">
          <a:xfrm>
            <a:off x="428625" y="1484313"/>
            <a:ext cx="6880225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15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3.16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 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en-US" altLang="zh-CN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当且仅当  </a:t>
            </a:r>
          </a:p>
          <a:p>
            <a:pPr>
              <a:lnSpc>
                <a:spcPct val="115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(x)|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(x)-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(x)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   </a:t>
            </a:r>
            <a:endParaRPr kumimoji="0" lang="zh-CN" altLang="en-US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3383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多项式模运算</a:t>
            </a:r>
          </a:p>
        </p:txBody>
      </p:sp>
      <p:sp>
        <p:nvSpPr>
          <p:cNvPr id="9" name="灯片编号占位符 8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029B8C15-3597-4929-B342-905F7A62C8FC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50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graphicFrame>
        <p:nvGraphicFramePr>
          <p:cNvPr id="197719" name="Object 8"/>
          <p:cNvGraphicFramePr>
            <a:graphicFrameLocks noChangeAspect="1"/>
          </p:cNvGraphicFramePr>
          <p:nvPr/>
        </p:nvGraphicFramePr>
        <p:xfrm>
          <a:off x="1403350" y="5589588"/>
          <a:ext cx="5832475" cy="642937"/>
        </p:xfrm>
        <a:graphic>
          <a:graphicData uri="http://schemas.openxmlformats.org/presentationml/2006/ole">
            <p:oleObj spid="_x0000_s333832" name="公式" r:id="rId6" imgW="2070000" imgH="228600" progId="Equation.3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77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77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3" name="矩形 15"/>
          <p:cNvSpPr>
            <a:spLocks noChangeArrowheads="1"/>
          </p:cNvSpPr>
          <p:nvPr/>
        </p:nvSpPr>
        <p:spPr bwMode="auto">
          <a:xfrm>
            <a:off x="179388" y="1125538"/>
            <a:ext cx="8640762" cy="491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33400" indent="-533400">
              <a:lnSpc>
                <a:spcPct val="130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3.17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给定域上的多项式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则有：</a:t>
            </a:r>
          </a:p>
          <a:p>
            <a:pPr marL="533400" indent="-533400">
              <a:lnSpc>
                <a:spcPct val="130000"/>
              </a:lnSpc>
              <a:spcBef>
                <a:spcPts val="600"/>
              </a:spcBef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1)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</a:p>
          <a:p>
            <a:pPr marL="533400" indent="-533400">
              <a:lnSpc>
                <a:spcPct val="130000"/>
              </a:lnSpc>
              <a:spcBef>
                <a:spcPts val="600"/>
              </a:spcBef>
            </a:pP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k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)=k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533400" indent="-533400">
              <a:lnSpc>
                <a:spcPct val="130000"/>
              </a:lnSpc>
              <a:spcBef>
                <a:spcPts val="600"/>
              </a:spcBef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2)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</a:p>
          <a:p>
            <a:pPr marL="533400" indent="-533400">
              <a:lnSpc>
                <a:spcPct val="130000"/>
              </a:lnSpc>
              <a:spcBef>
                <a:spcPts val="600"/>
              </a:spcBef>
            </a:pP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r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k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=g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k 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kumimoji="0" lang="zh-CN" altLang="en-US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533400" indent="-533400">
              <a:lnSpc>
                <a:spcPct val="130000"/>
              </a:lnSpc>
              <a:spcBef>
                <a:spcPts val="600"/>
              </a:spcBef>
            </a:pPr>
            <a:r>
              <a:rPr lang="en-US" altLang="zh-CN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3)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q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),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))=1,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)=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g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 mod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       </a:t>
            </a:r>
            <a:endParaRPr kumimoji="0" lang="zh-CN" altLang="en-US" b="1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3587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3.3.1 </a:t>
            </a:r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多项式模运算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7AF2266-9250-4B67-92C3-39D13B0540D2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51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1" name="Rectangle 3"/>
          <p:cNvSpPr>
            <a:spLocks noChangeArrowheads="1"/>
          </p:cNvSpPr>
          <p:nvPr/>
        </p:nvSpPr>
        <p:spPr bwMode="auto">
          <a:xfrm>
            <a:off x="357188" y="1500188"/>
            <a:ext cx="79295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sz="3200" b="1">
                <a:latin typeface="微软雅黑"/>
                <a:ea typeface="楷体_GB2312" pitchFamily="49" charset="-122"/>
                <a:cs typeface="微软雅黑"/>
              </a:rPr>
              <a:t>能描述并解释</a:t>
            </a:r>
            <a:r>
              <a:rPr kumimoji="0" lang="zh-CN" altLang="en-US" sz="3200" b="1">
                <a:solidFill>
                  <a:srgbClr val="FF0000"/>
                </a:solidFill>
                <a:latin typeface="微软雅黑"/>
                <a:ea typeface="楷体_GB2312" pitchFamily="49" charset="-122"/>
                <a:cs typeface="微软雅黑"/>
              </a:rPr>
              <a:t>剩余类域</a:t>
            </a:r>
            <a:endParaRPr kumimoji="0" lang="zh-CN" altLang="en-US" sz="3200" b="1">
              <a:solidFill>
                <a:srgbClr val="FF0000"/>
              </a:solidFill>
              <a:latin typeface="宋体" charset="-122"/>
              <a:ea typeface="楷体_GB2312" pitchFamily="49" charset="-122"/>
              <a:cs typeface="微软雅黑"/>
            </a:endParaRPr>
          </a:p>
        </p:txBody>
      </p:sp>
      <p:sp>
        <p:nvSpPr>
          <p:cNvPr id="337922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第二阶段学习目标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CAC511CF-9215-44F1-B765-02A380429BEB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52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978" name="内容占位符 2"/>
          <p:cNvSpPr txBox="1">
            <a:spLocks/>
          </p:cNvSpPr>
          <p:nvPr/>
        </p:nvSpPr>
        <p:spPr bwMode="auto">
          <a:xfrm>
            <a:off x="500063" y="1357313"/>
            <a:ext cx="7858125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设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多项式全体被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f(x)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除后的余式有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个：</a:t>
            </a:r>
          </a:p>
        </p:txBody>
      </p:sp>
      <p:graphicFrame>
        <p:nvGraphicFramePr>
          <p:cNvPr id="339971" name="Object 3"/>
          <p:cNvGraphicFramePr>
            <a:graphicFrameLocks noChangeAspect="1"/>
          </p:cNvGraphicFramePr>
          <p:nvPr/>
        </p:nvGraphicFramePr>
        <p:xfrm>
          <a:off x="1785938" y="1341438"/>
          <a:ext cx="1928812" cy="523875"/>
        </p:xfrm>
        <a:graphic>
          <a:graphicData uri="http://schemas.openxmlformats.org/presentationml/2006/ole">
            <p:oleObj spid="_x0000_s339971" name="Equation" r:id="rId4" imgW="838200" imgH="228600" progId="">
              <p:embed/>
            </p:oleObj>
          </a:graphicData>
        </a:graphic>
      </p:graphicFrame>
      <p:graphicFrame>
        <p:nvGraphicFramePr>
          <p:cNvPr id="198819" name="Object 4"/>
          <p:cNvGraphicFramePr>
            <a:graphicFrameLocks noChangeAspect="1"/>
          </p:cNvGraphicFramePr>
          <p:nvPr/>
        </p:nvGraphicFramePr>
        <p:xfrm>
          <a:off x="1347788" y="2492375"/>
          <a:ext cx="6032500" cy="469900"/>
        </p:xfrm>
        <a:graphic>
          <a:graphicData uri="http://schemas.openxmlformats.org/presentationml/2006/ole">
            <p:oleObj spid="_x0000_s339972" name="Equation" r:id="rId5" imgW="6032500" imgH="469900" progId="">
              <p:embed/>
            </p:oleObj>
          </a:graphicData>
        </a:graphic>
      </p:graphicFrame>
      <p:sp>
        <p:nvSpPr>
          <p:cNvPr id="33997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" name="灯片编号占位符 1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A635BC94-3024-4773-9981-C3EBC74F627A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53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39981" name="内容占位符 2"/>
          <p:cNvSpPr txBox="1">
            <a:spLocks/>
          </p:cNvSpPr>
          <p:nvPr/>
        </p:nvSpPr>
        <p:spPr bwMode="auto">
          <a:xfrm>
            <a:off x="500063" y="3857625"/>
            <a:ext cx="828675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      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上的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多项式全体被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f(x)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除后的余式有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9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个：</a:t>
            </a:r>
          </a:p>
        </p:txBody>
      </p:sp>
      <p:graphicFrame>
        <p:nvGraphicFramePr>
          <p:cNvPr id="20484" name="Object 8"/>
          <p:cNvGraphicFramePr>
            <a:graphicFrameLocks noChangeAspect="1"/>
          </p:cNvGraphicFramePr>
          <p:nvPr/>
        </p:nvGraphicFramePr>
        <p:xfrm>
          <a:off x="1411288" y="5013325"/>
          <a:ext cx="5905500" cy="393700"/>
        </p:xfrm>
        <a:graphic>
          <a:graphicData uri="http://schemas.openxmlformats.org/presentationml/2006/ole">
            <p:oleObj spid="_x0000_s339976" name="Equation" r:id="rId6" imgW="5905500" imgH="393700" progId="">
              <p:embed/>
            </p:oleObj>
          </a:graphicData>
        </a:graphic>
      </p:graphicFrame>
      <p:graphicFrame>
        <p:nvGraphicFramePr>
          <p:cNvPr id="339977" name="Object 9"/>
          <p:cNvGraphicFramePr>
            <a:graphicFrameLocks noChangeAspect="1"/>
          </p:cNvGraphicFramePr>
          <p:nvPr/>
        </p:nvGraphicFramePr>
        <p:xfrm>
          <a:off x="1928813" y="3857625"/>
          <a:ext cx="1898650" cy="523875"/>
        </p:xfrm>
        <a:graphic>
          <a:graphicData uri="http://schemas.openxmlformats.org/presentationml/2006/ole">
            <p:oleObj spid="_x0000_s339977" name="Equation" r:id="rId7" imgW="825500" imgH="228600" progId="">
              <p:embed/>
            </p:oleObj>
          </a:graphicData>
        </a:graphic>
      </p:graphicFrame>
      <p:sp>
        <p:nvSpPr>
          <p:cNvPr id="339983" name="Text Box 15"/>
          <p:cNvSpPr txBox="1">
            <a:spLocks noChangeArrowheads="1"/>
          </p:cNvSpPr>
          <p:nvPr/>
        </p:nvSpPr>
        <p:spPr bwMode="auto">
          <a:xfrm>
            <a:off x="2176463" y="3087688"/>
            <a:ext cx="15621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ax</a:t>
            </a:r>
            <a:r>
              <a:rPr lang="en-US" altLang="zh-CN" b="1" baseline="30000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+bx+c</a:t>
            </a:r>
          </a:p>
        </p:txBody>
      </p:sp>
      <p:sp>
        <p:nvSpPr>
          <p:cNvPr id="339984" name="Text Box 16"/>
          <p:cNvSpPr txBox="1">
            <a:spLocks noChangeArrowheads="1"/>
          </p:cNvSpPr>
          <p:nvPr/>
        </p:nvSpPr>
        <p:spPr bwMode="auto">
          <a:xfrm>
            <a:off x="2411413" y="5589588"/>
            <a:ext cx="9017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ax+b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9983" grpId="0"/>
      <p:bldP spid="33998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2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" name="灯片编号占位符 19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F78BF1A-25CC-4F14-B0D3-26F030474C7F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54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42031" name="内容占位符 2"/>
          <p:cNvSpPr txBox="1">
            <a:spLocks/>
          </p:cNvSpPr>
          <p:nvPr/>
        </p:nvSpPr>
        <p:spPr bwMode="auto">
          <a:xfrm>
            <a:off x="571500" y="1436688"/>
            <a:ext cx="7672388" cy="292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71463" indent="-271463" eaLnBrk="0" hangingPunct="0">
              <a:lnSpc>
                <a:spcPct val="120000"/>
              </a:lnSpc>
              <a:spcBef>
                <a:spcPts val="18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设    为    的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次多项式，   中所有多项式除以    的全体余式为</a:t>
            </a:r>
            <a:endParaRPr lang="en-US" altLang="zh-CN" b="1">
              <a:latin typeface="楷体_GB2312" pitchFamily="49" charset="-122"/>
              <a:ea typeface="楷体_GB2312" pitchFamily="49" charset="-122"/>
              <a:sym typeface="Wingdings" pitchFamily="2" charset="2"/>
            </a:endParaRPr>
          </a:p>
          <a:p>
            <a:pPr marL="271463" indent="-271463" eaLnBrk="0" hangingPunct="0">
              <a:lnSpc>
                <a:spcPct val="120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</a:t>
            </a:r>
          </a:p>
          <a:p>
            <a:pPr marL="271463" indent="-271463" eaLnBrk="0" hangingPunct="0">
              <a:lnSpc>
                <a:spcPct val="120000"/>
              </a:lnSpc>
              <a:spcBef>
                <a:spcPts val="18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该集合记为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271463" indent="-271463" eaLnBrk="0" hangingPunct="0">
              <a:lnSpc>
                <a:spcPct val="120000"/>
              </a:lnSpc>
              <a:spcBef>
                <a:spcPts val="18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加法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marL="271463" indent="-271463" eaLnBrk="0" hangingPunct="0">
              <a:lnSpc>
                <a:spcPct val="120000"/>
              </a:lnSpc>
              <a:spcBef>
                <a:spcPts val="12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定义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乘法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graphicFrame>
        <p:nvGraphicFramePr>
          <p:cNvPr id="342021" name="Object 5"/>
          <p:cNvGraphicFramePr>
            <a:graphicFrameLocks noChangeAspect="1"/>
          </p:cNvGraphicFramePr>
          <p:nvPr/>
        </p:nvGraphicFramePr>
        <p:xfrm>
          <a:off x="1306513" y="1558925"/>
          <a:ext cx="687387" cy="422275"/>
        </p:xfrm>
        <a:graphic>
          <a:graphicData uri="http://schemas.openxmlformats.org/presentationml/2006/ole">
            <p:oleObj spid="_x0000_s342021" name="Equation" r:id="rId4" imgW="330057" imgH="203112" progId="">
              <p:embed/>
            </p:oleObj>
          </a:graphicData>
        </a:graphic>
      </p:graphicFrame>
      <p:graphicFrame>
        <p:nvGraphicFramePr>
          <p:cNvPr id="342022" name="Object 6"/>
          <p:cNvGraphicFramePr>
            <a:graphicFrameLocks noChangeAspect="1"/>
          </p:cNvGraphicFramePr>
          <p:nvPr/>
        </p:nvGraphicFramePr>
        <p:xfrm>
          <a:off x="2386013" y="1597025"/>
          <a:ext cx="687387" cy="428625"/>
        </p:xfrm>
        <a:graphic>
          <a:graphicData uri="http://schemas.openxmlformats.org/presentationml/2006/ole">
            <p:oleObj spid="_x0000_s342022" name="Equation" r:id="rId5" imgW="330057" imgH="203112" progId="">
              <p:embed/>
            </p:oleObj>
          </a:graphicData>
        </a:graphic>
      </p:graphicFrame>
      <p:graphicFrame>
        <p:nvGraphicFramePr>
          <p:cNvPr id="342023" name="Object 7"/>
          <p:cNvGraphicFramePr>
            <a:graphicFrameLocks noChangeAspect="1"/>
          </p:cNvGraphicFramePr>
          <p:nvPr/>
        </p:nvGraphicFramePr>
        <p:xfrm>
          <a:off x="5292725" y="1611313"/>
          <a:ext cx="687388" cy="428625"/>
        </p:xfrm>
        <a:graphic>
          <a:graphicData uri="http://schemas.openxmlformats.org/presentationml/2006/ole">
            <p:oleObj spid="_x0000_s342023" name="Equation" r:id="rId6" imgW="330057" imgH="203112" progId="">
              <p:embed/>
            </p:oleObj>
          </a:graphicData>
        </a:graphic>
      </p:graphicFrame>
      <p:graphicFrame>
        <p:nvGraphicFramePr>
          <p:cNvPr id="342024" name="Object 8"/>
          <p:cNvGraphicFramePr>
            <a:graphicFrameLocks noChangeAspect="1"/>
          </p:cNvGraphicFramePr>
          <p:nvPr/>
        </p:nvGraphicFramePr>
        <p:xfrm>
          <a:off x="1673225" y="2090738"/>
          <a:ext cx="687388" cy="422275"/>
        </p:xfrm>
        <a:graphic>
          <a:graphicData uri="http://schemas.openxmlformats.org/presentationml/2006/ole">
            <p:oleObj spid="_x0000_s342024" name="Equation" r:id="rId7" imgW="330057" imgH="203112" progId="">
              <p:embed/>
            </p:oleObj>
          </a:graphicData>
        </a:graphic>
      </p:graphicFrame>
      <p:graphicFrame>
        <p:nvGraphicFramePr>
          <p:cNvPr id="342025" name="Object 9"/>
          <p:cNvGraphicFramePr>
            <a:graphicFrameLocks noChangeAspect="1"/>
          </p:cNvGraphicFramePr>
          <p:nvPr/>
        </p:nvGraphicFramePr>
        <p:xfrm>
          <a:off x="2524125" y="4149725"/>
          <a:ext cx="5287963" cy="401638"/>
        </p:xfrm>
        <a:graphic>
          <a:graphicData uri="http://schemas.openxmlformats.org/presentationml/2006/ole">
            <p:oleObj spid="_x0000_s342025" name="Equation" r:id="rId8" imgW="5524500" imgH="419100" progId="">
              <p:embed/>
            </p:oleObj>
          </a:graphicData>
        </a:graphic>
      </p:graphicFrame>
      <p:graphicFrame>
        <p:nvGraphicFramePr>
          <p:cNvPr id="342026" name="Object 10"/>
          <p:cNvGraphicFramePr>
            <a:graphicFrameLocks noChangeAspect="1"/>
          </p:cNvGraphicFramePr>
          <p:nvPr/>
        </p:nvGraphicFramePr>
        <p:xfrm>
          <a:off x="2528888" y="4797425"/>
          <a:ext cx="5211762" cy="406400"/>
        </p:xfrm>
        <a:graphic>
          <a:graphicData uri="http://schemas.openxmlformats.org/presentationml/2006/ole">
            <p:oleObj spid="_x0000_s342026" name="Equation" r:id="rId9" imgW="5372100" imgH="419100" progId="">
              <p:embed/>
            </p:oleObj>
          </a:graphicData>
        </a:graphic>
      </p:graphicFrame>
      <p:graphicFrame>
        <p:nvGraphicFramePr>
          <p:cNvPr id="342027" name="Object 11"/>
          <p:cNvGraphicFramePr>
            <a:graphicFrameLocks noChangeAspect="1"/>
          </p:cNvGraphicFramePr>
          <p:nvPr/>
        </p:nvGraphicFramePr>
        <p:xfrm>
          <a:off x="2379663" y="2700338"/>
          <a:ext cx="4151312" cy="501650"/>
        </p:xfrm>
        <a:graphic>
          <a:graphicData uri="http://schemas.openxmlformats.org/presentationml/2006/ole">
            <p:oleObj spid="_x0000_s342027" name="Equation" r:id="rId10" imgW="1993900" imgH="241300" progId="">
              <p:embed/>
            </p:oleObj>
          </a:graphicData>
        </a:graphic>
      </p:graphicFrame>
      <p:graphicFrame>
        <p:nvGraphicFramePr>
          <p:cNvPr id="342028" name="Object 12"/>
          <p:cNvGraphicFramePr>
            <a:graphicFrameLocks noChangeAspect="1"/>
          </p:cNvGraphicFramePr>
          <p:nvPr/>
        </p:nvGraphicFramePr>
        <p:xfrm>
          <a:off x="2532063" y="3406775"/>
          <a:ext cx="1851025" cy="527050"/>
        </p:xfrm>
        <a:graphic>
          <a:graphicData uri="http://schemas.openxmlformats.org/presentationml/2006/ole">
            <p:oleObj spid="_x0000_s342028" name="Equation" r:id="rId11" imgW="888614" imgH="25389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08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" name="灯片编号占位符 19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2377B21-657B-4783-8906-6356BF95D09D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55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44085" name="内容占位符 2"/>
          <p:cNvSpPr txBox="1">
            <a:spLocks/>
          </p:cNvSpPr>
          <p:nvPr/>
        </p:nvSpPr>
        <p:spPr bwMode="auto">
          <a:xfrm>
            <a:off x="468313" y="1412875"/>
            <a:ext cx="8358187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3.18          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kumimoji="0"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阶为</a:t>
            </a:r>
            <a:r>
              <a:rPr kumimoji="0"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kumimoji="0" lang="en-US" altLang="zh-CN" b="1" baseline="30000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且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  <a:sym typeface="Wingdings" pitchFamily="2" charset="2"/>
              </a:rPr>
              <a:t>            </a:t>
            </a: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关于模    的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加法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乘法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构成环，称为模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剩余类环</a:t>
            </a:r>
          </a:p>
        </p:txBody>
      </p:sp>
      <p:graphicFrame>
        <p:nvGraphicFramePr>
          <p:cNvPr id="344069" name="Object 5"/>
          <p:cNvGraphicFramePr>
            <a:graphicFrameLocks noChangeAspect="1"/>
          </p:cNvGraphicFramePr>
          <p:nvPr/>
        </p:nvGraphicFramePr>
        <p:xfrm>
          <a:off x="1682750" y="2197100"/>
          <a:ext cx="687388" cy="422275"/>
        </p:xfrm>
        <a:graphic>
          <a:graphicData uri="http://schemas.openxmlformats.org/presentationml/2006/ole">
            <p:oleObj spid="_x0000_s344069" name="Equation" r:id="rId4" imgW="330057" imgH="203112" progId="">
              <p:embed/>
            </p:oleObj>
          </a:graphicData>
        </a:graphic>
      </p:graphicFrame>
      <p:graphicFrame>
        <p:nvGraphicFramePr>
          <p:cNvPr id="344070" name="Object 6"/>
          <p:cNvGraphicFramePr>
            <a:graphicFrameLocks noChangeAspect="1"/>
          </p:cNvGraphicFramePr>
          <p:nvPr/>
        </p:nvGraphicFramePr>
        <p:xfrm>
          <a:off x="7019925" y="2133600"/>
          <a:ext cx="758825" cy="466725"/>
        </p:xfrm>
        <a:graphic>
          <a:graphicData uri="http://schemas.openxmlformats.org/presentationml/2006/ole">
            <p:oleObj spid="_x0000_s344070" name="Equation" r:id="rId5" imgW="330057" imgH="203112" progId="">
              <p:embed/>
            </p:oleObj>
          </a:graphicData>
        </a:graphic>
      </p:graphicFrame>
      <p:graphicFrame>
        <p:nvGraphicFramePr>
          <p:cNvPr id="344071" name="Object 7"/>
          <p:cNvGraphicFramePr>
            <a:graphicFrameLocks noChangeAspect="1"/>
          </p:cNvGraphicFramePr>
          <p:nvPr/>
        </p:nvGraphicFramePr>
        <p:xfrm>
          <a:off x="5940425" y="1533525"/>
          <a:ext cx="1770063" cy="527050"/>
        </p:xfrm>
        <a:graphic>
          <a:graphicData uri="http://schemas.openxmlformats.org/presentationml/2006/ole">
            <p:oleObj spid="_x0000_s344071" name="Equation" r:id="rId6" imgW="850531" imgH="253890" progId="">
              <p:embed/>
            </p:oleObj>
          </a:graphicData>
        </a:graphic>
      </p:graphicFrame>
      <p:graphicFrame>
        <p:nvGraphicFramePr>
          <p:cNvPr id="344072" name="Object 8"/>
          <p:cNvGraphicFramePr>
            <a:graphicFrameLocks noChangeAspect="1"/>
          </p:cNvGraphicFramePr>
          <p:nvPr/>
        </p:nvGraphicFramePr>
        <p:xfrm>
          <a:off x="2124075" y="1533525"/>
          <a:ext cx="1770063" cy="527050"/>
        </p:xfrm>
        <a:graphic>
          <a:graphicData uri="http://schemas.openxmlformats.org/presentationml/2006/ole">
            <p:oleObj spid="_x0000_s344072" name="Equation" r:id="rId7" imgW="850531" imgH="253890" progId="">
              <p:embed/>
            </p:oleObj>
          </a:graphicData>
        </a:graphic>
      </p:graphicFrame>
      <p:grpSp>
        <p:nvGrpSpPr>
          <p:cNvPr id="344077" name="Group 13"/>
          <p:cNvGrpSpPr>
            <a:grpSpLocks/>
          </p:cNvGrpSpPr>
          <p:nvPr/>
        </p:nvGrpSpPr>
        <p:grpSpPr bwMode="auto">
          <a:xfrm>
            <a:off x="428625" y="3932238"/>
            <a:ext cx="8358188" cy="1944687"/>
            <a:chOff x="270" y="754"/>
            <a:chExt cx="5265" cy="1225"/>
          </a:xfrm>
        </p:grpSpPr>
        <p:sp>
          <p:nvSpPr>
            <p:cNvPr id="344087" name="内容占位符 2"/>
            <p:cNvSpPr txBox="1">
              <a:spLocks/>
            </p:cNvSpPr>
            <p:nvPr/>
          </p:nvSpPr>
          <p:spPr bwMode="auto">
            <a:xfrm>
              <a:off x="270" y="754"/>
              <a:ext cx="5265" cy="12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lnSpc>
                  <a:spcPct val="125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kumimoji="0" lang="zh-CN" altLang="en-US" b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定理</a:t>
              </a:r>
              <a:r>
                <a:rPr kumimoji="0" lang="en-US" altLang="zh-CN" b="1">
                  <a:solidFill>
                    <a:srgbClr val="C00000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3.19 </a:t>
              </a: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如果    是</a:t>
              </a:r>
              <a:r>
                <a:rPr kumimoji="0" lang="zh-CN" altLang="en-US" b="1">
                  <a:solidFill>
                    <a:srgbClr val="CC0099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不可约多项式</a:t>
              </a:r>
              <a:r>
                <a:rPr kumimoji="0" lang="en-US" altLang="zh-CN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, </a:t>
              </a:r>
              <a:r>
                <a:rPr kumimoji="0"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则</a:t>
              </a:r>
              <a:r>
                <a:rPr kumimoji="0" lang="en-US" altLang="zh-CN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  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  <a:sym typeface="Wingdings" pitchFamily="2" charset="2"/>
                </a:rPr>
                <a:t>             </a:t>
              </a:r>
            </a:p>
            <a:p>
              <a:pPr marL="342900" indent="-342900" eaLnBrk="0" hangingPunct="0">
                <a:lnSpc>
                  <a:spcPct val="125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关于模    的</a:t>
              </a:r>
              <a:r>
                <a:rPr lang="zh-CN" altLang="en-US" b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加法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与</a:t>
              </a:r>
              <a:r>
                <a:rPr lang="zh-CN" altLang="en-US" b="1">
                  <a:solidFill>
                    <a:srgbClr val="0033CC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乘法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构成域，称之为模</a:t>
              </a:r>
              <a:endPara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endParaRPr>
            </a:p>
            <a:p>
              <a:pPr marL="342900" indent="-342900" eaLnBrk="0" hangingPunct="0">
                <a:lnSpc>
                  <a:spcPct val="125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的</a:t>
              </a:r>
              <a:r>
                <a:rPr lang="zh-CN" altLang="en-US" b="1">
                  <a:solidFill>
                    <a:srgbClr val="CC0099"/>
                  </a:solidFill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剩余类域</a:t>
              </a:r>
            </a:p>
          </p:txBody>
        </p:sp>
        <p:graphicFrame>
          <p:nvGraphicFramePr>
            <p:cNvPr id="344079" name="Object 15"/>
            <p:cNvGraphicFramePr>
              <a:graphicFrameLocks noChangeAspect="1"/>
            </p:cNvGraphicFramePr>
            <p:nvPr/>
          </p:nvGraphicFramePr>
          <p:xfrm>
            <a:off x="1019" y="1256"/>
            <a:ext cx="433" cy="266"/>
          </p:xfrm>
          <a:graphic>
            <a:graphicData uri="http://schemas.openxmlformats.org/presentationml/2006/ole">
              <p:oleObj spid="_x0000_s344079" name="Equation" r:id="rId8" imgW="330057" imgH="203112" progId="">
                <p:embed/>
              </p:oleObj>
            </a:graphicData>
          </a:graphic>
        </p:graphicFrame>
        <p:graphicFrame>
          <p:nvGraphicFramePr>
            <p:cNvPr id="344080" name="Object 16"/>
            <p:cNvGraphicFramePr>
              <a:graphicFrameLocks noChangeAspect="1"/>
            </p:cNvGraphicFramePr>
            <p:nvPr/>
          </p:nvGraphicFramePr>
          <p:xfrm>
            <a:off x="4635" y="1228"/>
            <a:ext cx="478" cy="294"/>
          </p:xfrm>
          <a:graphic>
            <a:graphicData uri="http://schemas.openxmlformats.org/presentationml/2006/ole">
              <p:oleObj spid="_x0000_s344080" name="Equation" r:id="rId9" imgW="330057" imgH="203112" progId="">
                <p:embed/>
              </p:oleObj>
            </a:graphicData>
          </a:graphic>
        </p:graphicFrame>
        <p:graphicFrame>
          <p:nvGraphicFramePr>
            <p:cNvPr id="344081" name="Object 17"/>
            <p:cNvGraphicFramePr>
              <a:graphicFrameLocks noChangeAspect="1"/>
            </p:cNvGraphicFramePr>
            <p:nvPr/>
          </p:nvGraphicFramePr>
          <p:xfrm>
            <a:off x="4260" y="845"/>
            <a:ext cx="1115" cy="332"/>
          </p:xfrm>
          <a:graphic>
            <a:graphicData uri="http://schemas.openxmlformats.org/presentationml/2006/ole">
              <p:oleObj spid="_x0000_s344081" name="Equation" r:id="rId10" imgW="850531" imgH="253890" progId="">
                <p:embed/>
              </p:oleObj>
            </a:graphicData>
          </a:graphic>
        </p:graphicFrame>
        <p:graphicFrame>
          <p:nvGraphicFramePr>
            <p:cNvPr id="344082" name="Object 18"/>
            <p:cNvGraphicFramePr>
              <a:graphicFrameLocks noChangeAspect="1"/>
            </p:cNvGraphicFramePr>
            <p:nvPr/>
          </p:nvGraphicFramePr>
          <p:xfrm>
            <a:off x="1811" y="860"/>
            <a:ext cx="433" cy="266"/>
          </p:xfrm>
          <a:graphic>
            <a:graphicData uri="http://schemas.openxmlformats.org/presentationml/2006/ole">
              <p:oleObj spid="_x0000_s344082" name="Equation" r:id="rId11" imgW="330057" imgH="203112" progId="">
                <p:embed/>
              </p:oleObj>
            </a:graphicData>
          </a:graphic>
        </p:graphicFrame>
      </p:grp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4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54" name="内容占位符 2"/>
          <p:cNvSpPr txBox="1">
            <a:spLocks/>
          </p:cNvSpPr>
          <p:nvPr/>
        </p:nvSpPr>
        <p:spPr bwMode="auto">
          <a:xfrm>
            <a:off x="323850" y="1125538"/>
            <a:ext cx="835818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令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F=Z</a:t>
            </a:r>
            <a:r>
              <a:rPr lang="en-US" altLang="zh-CN" b="1" baseline="-25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    中，取            ，则</a:t>
            </a: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    中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次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              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元域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graphicFrame>
        <p:nvGraphicFramePr>
          <p:cNvPr id="347139" name="Object 3"/>
          <p:cNvGraphicFramePr>
            <a:graphicFrameLocks noChangeAspect="1"/>
          </p:cNvGraphicFramePr>
          <p:nvPr/>
        </p:nvGraphicFramePr>
        <p:xfrm>
          <a:off x="2849563" y="1274763"/>
          <a:ext cx="688975" cy="422275"/>
        </p:xfrm>
        <a:graphic>
          <a:graphicData uri="http://schemas.openxmlformats.org/presentationml/2006/ole">
            <p:oleObj spid="_x0000_s347139" name="Equation" r:id="rId4" imgW="330057" imgH="203112" progId="">
              <p:embed/>
            </p:oleObj>
          </a:graphicData>
        </a:graphic>
      </p:graphicFrame>
      <p:graphicFrame>
        <p:nvGraphicFramePr>
          <p:cNvPr id="347140" name="Object 4"/>
          <p:cNvGraphicFramePr>
            <a:graphicFrameLocks noChangeAspect="1"/>
          </p:cNvGraphicFramePr>
          <p:nvPr/>
        </p:nvGraphicFramePr>
        <p:xfrm>
          <a:off x="4610100" y="1260475"/>
          <a:ext cx="2225675" cy="474663"/>
        </p:xfrm>
        <a:graphic>
          <a:graphicData uri="http://schemas.openxmlformats.org/presentationml/2006/ole">
            <p:oleObj spid="_x0000_s347140" name="Equation" r:id="rId5" imgW="1066800" imgH="228600" progId="">
              <p:embed/>
            </p:oleObj>
          </a:graphicData>
        </a:graphic>
      </p:graphicFrame>
      <p:graphicFrame>
        <p:nvGraphicFramePr>
          <p:cNvPr id="347141" name="Object 5"/>
          <p:cNvGraphicFramePr>
            <a:graphicFrameLocks noChangeAspect="1"/>
          </p:cNvGraphicFramePr>
          <p:nvPr/>
        </p:nvGraphicFramePr>
        <p:xfrm>
          <a:off x="7480300" y="1293813"/>
          <a:ext cx="715963" cy="422275"/>
        </p:xfrm>
        <a:graphic>
          <a:graphicData uri="http://schemas.openxmlformats.org/presentationml/2006/ole">
            <p:oleObj spid="_x0000_s347141" name="Equation" r:id="rId6" imgW="342751" imgH="203112" progId="">
              <p:embed/>
            </p:oleObj>
          </a:graphicData>
        </a:graphic>
      </p:graphicFrame>
      <p:graphicFrame>
        <p:nvGraphicFramePr>
          <p:cNvPr id="347142" name="Object 6"/>
          <p:cNvGraphicFramePr>
            <a:graphicFrameLocks noChangeAspect="1"/>
          </p:cNvGraphicFramePr>
          <p:nvPr/>
        </p:nvGraphicFramePr>
        <p:xfrm>
          <a:off x="803275" y="1825625"/>
          <a:ext cx="688975" cy="422275"/>
        </p:xfrm>
        <a:graphic>
          <a:graphicData uri="http://schemas.openxmlformats.org/presentationml/2006/ole">
            <p:oleObj spid="_x0000_s347142" name="Equation" r:id="rId7" imgW="330057" imgH="203112" progId="">
              <p:embed/>
            </p:oleObj>
          </a:graphicData>
        </a:graphic>
      </p:graphicFrame>
      <p:graphicFrame>
        <p:nvGraphicFramePr>
          <p:cNvPr id="347143" name="Object 7"/>
          <p:cNvGraphicFramePr>
            <a:graphicFrameLocks noChangeAspect="1"/>
          </p:cNvGraphicFramePr>
          <p:nvPr/>
        </p:nvGraphicFramePr>
        <p:xfrm>
          <a:off x="1925638" y="2241550"/>
          <a:ext cx="5022850" cy="598488"/>
        </p:xfrm>
        <a:graphic>
          <a:graphicData uri="http://schemas.openxmlformats.org/presentationml/2006/ole">
            <p:oleObj spid="_x0000_s347143" name="Equation" r:id="rId8" imgW="2120900" imgH="254000" progId="">
              <p:embed/>
            </p:oleObj>
          </a:graphicData>
        </a:graphic>
      </p:graphicFrame>
      <p:sp>
        <p:nvSpPr>
          <p:cNvPr id="34715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6" name="灯片编号占位符 15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6404BD8-1A97-4728-864F-10767EEA5FEC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56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47157" name="内容占位符 2"/>
          <p:cNvSpPr txBox="1">
            <a:spLocks/>
          </p:cNvSpPr>
          <p:nvPr/>
        </p:nvSpPr>
        <p:spPr bwMode="auto">
          <a:xfrm>
            <a:off x="357188" y="3784600"/>
            <a:ext cx="8429625" cy="2236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令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F=Z</a:t>
            </a:r>
            <a:r>
              <a:rPr lang="en-US" altLang="zh-CN" baseline="-250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在    中，取               ，则</a:t>
            </a: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为    中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次多项式。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                          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marL="342900" indent="-342900" eaLnBrk="0" hangingPunct="0">
              <a:lnSpc>
                <a:spcPct val="125000"/>
              </a:lnSpc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 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元环但不是域。</a:t>
            </a:r>
          </a:p>
        </p:txBody>
      </p:sp>
      <p:graphicFrame>
        <p:nvGraphicFramePr>
          <p:cNvPr id="347147" name="Object 11"/>
          <p:cNvGraphicFramePr>
            <a:graphicFrameLocks noChangeAspect="1"/>
          </p:cNvGraphicFramePr>
          <p:nvPr/>
        </p:nvGraphicFramePr>
        <p:xfrm>
          <a:off x="2874963" y="3933825"/>
          <a:ext cx="688975" cy="422275"/>
        </p:xfrm>
        <a:graphic>
          <a:graphicData uri="http://schemas.openxmlformats.org/presentationml/2006/ole">
            <p:oleObj spid="_x0000_s347147" name="Equation" r:id="rId9" imgW="330057" imgH="203112" progId="">
              <p:embed/>
            </p:oleObj>
          </a:graphicData>
        </a:graphic>
      </p:graphicFrame>
      <p:graphicFrame>
        <p:nvGraphicFramePr>
          <p:cNvPr id="347148" name="Object 12"/>
          <p:cNvGraphicFramePr>
            <a:graphicFrameLocks noChangeAspect="1"/>
          </p:cNvGraphicFramePr>
          <p:nvPr/>
        </p:nvGraphicFramePr>
        <p:xfrm>
          <a:off x="831850" y="4519613"/>
          <a:ext cx="715963" cy="422275"/>
        </p:xfrm>
        <a:graphic>
          <a:graphicData uri="http://schemas.openxmlformats.org/presentationml/2006/ole">
            <p:oleObj spid="_x0000_s347148" name="Equation" r:id="rId10" imgW="342751" imgH="203112" progId="">
              <p:embed/>
            </p:oleObj>
          </a:graphicData>
        </a:graphic>
      </p:graphicFrame>
      <p:graphicFrame>
        <p:nvGraphicFramePr>
          <p:cNvPr id="347149" name="Object 13"/>
          <p:cNvGraphicFramePr>
            <a:graphicFrameLocks noChangeAspect="1"/>
          </p:cNvGraphicFramePr>
          <p:nvPr/>
        </p:nvGraphicFramePr>
        <p:xfrm>
          <a:off x="1866900" y="4519613"/>
          <a:ext cx="688975" cy="422275"/>
        </p:xfrm>
        <a:graphic>
          <a:graphicData uri="http://schemas.openxmlformats.org/presentationml/2006/ole">
            <p:oleObj spid="_x0000_s347149" name="Equation" r:id="rId11" imgW="330057" imgH="203112" progId="">
              <p:embed/>
            </p:oleObj>
          </a:graphicData>
        </a:graphic>
      </p:graphicFrame>
      <p:graphicFrame>
        <p:nvGraphicFramePr>
          <p:cNvPr id="347150" name="Object 14"/>
          <p:cNvGraphicFramePr>
            <a:graphicFrameLocks noChangeAspect="1"/>
          </p:cNvGraphicFramePr>
          <p:nvPr/>
        </p:nvGraphicFramePr>
        <p:xfrm>
          <a:off x="1403350" y="4941888"/>
          <a:ext cx="1895475" cy="571500"/>
        </p:xfrm>
        <a:graphic>
          <a:graphicData uri="http://schemas.openxmlformats.org/presentationml/2006/ole">
            <p:oleObj spid="_x0000_s347150" name="Equation" r:id="rId12" imgW="837836" imgH="253890" progId="">
              <p:embed/>
            </p:oleObj>
          </a:graphicData>
        </a:graphic>
      </p:graphicFrame>
      <p:graphicFrame>
        <p:nvGraphicFramePr>
          <p:cNvPr id="347151" name="Object 15"/>
          <p:cNvGraphicFramePr>
            <a:graphicFrameLocks noChangeAspect="1"/>
          </p:cNvGraphicFramePr>
          <p:nvPr/>
        </p:nvGraphicFramePr>
        <p:xfrm>
          <a:off x="3346450" y="4967288"/>
          <a:ext cx="4897438" cy="479425"/>
        </p:xfrm>
        <a:graphic>
          <a:graphicData uri="http://schemas.openxmlformats.org/presentationml/2006/ole">
            <p:oleObj spid="_x0000_s347151" name="公式" r:id="rId13" imgW="2463480" imgH="241200" progId="Equation.3">
              <p:embed/>
            </p:oleObj>
          </a:graphicData>
        </a:graphic>
      </p:graphicFrame>
      <p:graphicFrame>
        <p:nvGraphicFramePr>
          <p:cNvPr id="347152" name="Object 16"/>
          <p:cNvGraphicFramePr>
            <a:graphicFrameLocks noChangeAspect="1"/>
          </p:cNvGraphicFramePr>
          <p:nvPr/>
        </p:nvGraphicFramePr>
        <p:xfrm>
          <a:off x="4716463" y="3933825"/>
          <a:ext cx="2663825" cy="465138"/>
        </p:xfrm>
        <a:graphic>
          <a:graphicData uri="http://schemas.openxmlformats.org/presentationml/2006/ole">
            <p:oleObj spid="_x0000_s347152" name="公式" r:id="rId14" imgW="1307880" imgH="228600" progId="Equation.3">
              <p:embed/>
            </p:oleObj>
          </a:graphicData>
        </a:graphic>
      </p:graphicFrame>
      <p:graphicFrame>
        <p:nvGraphicFramePr>
          <p:cNvPr id="204190" name="Object 17"/>
          <p:cNvGraphicFramePr>
            <a:graphicFrameLocks noChangeAspect="1"/>
          </p:cNvGraphicFramePr>
          <p:nvPr/>
        </p:nvGraphicFramePr>
        <p:xfrm>
          <a:off x="1619250" y="6092825"/>
          <a:ext cx="3802063" cy="465138"/>
        </p:xfrm>
        <a:graphic>
          <a:graphicData uri="http://schemas.openxmlformats.org/presentationml/2006/ole">
            <p:oleObj spid="_x0000_s347153" name="公式" r:id="rId15" imgW="1866600" imgH="228600" progId="Equation.3">
              <p:embed/>
            </p:oleObj>
          </a:graphicData>
        </a:graphic>
      </p:graphicFrame>
      <p:sp>
        <p:nvSpPr>
          <p:cNvPr id="204196" name="Text Box 420"/>
          <p:cNvSpPr txBox="1">
            <a:spLocks noChangeArrowheads="1"/>
          </p:cNvSpPr>
          <p:nvPr/>
        </p:nvSpPr>
        <p:spPr bwMode="auto">
          <a:xfrm>
            <a:off x="2411413" y="2852738"/>
            <a:ext cx="5329237" cy="946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    一次多项式只有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x+1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它们的乘积只有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:x</a:t>
            </a:r>
            <a:r>
              <a:rPr lang="en-US" altLang="zh-CN" b="1" baseline="30000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+1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="1" baseline="30000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+x</a:t>
            </a:r>
          </a:p>
        </p:txBody>
      </p:sp>
      <p:sp>
        <p:nvSpPr>
          <p:cNvPr id="347160" name="Text Box 24"/>
          <p:cNvSpPr txBox="1">
            <a:spLocks noChangeArrowheads="1"/>
          </p:cNvSpPr>
          <p:nvPr/>
        </p:nvSpPr>
        <p:spPr bwMode="auto">
          <a:xfrm>
            <a:off x="6084888" y="6021388"/>
            <a:ext cx="1970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ea typeface="楷体_GB2312" pitchFamily="49" charset="-122"/>
              </a:rPr>
              <a:t>有零因子！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041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4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47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47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196" grpId="0"/>
      <p:bldP spid="347160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97" name="Rectangle 20"/>
          <p:cNvSpPr>
            <a:spLocks noChangeArrowheads="1"/>
          </p:cNvSpPr>
          <p:nvPr/>
        </p:nvSpPr>
        <p:spPr bwMode="auto">
          <a:xfrm>
            <a:off x="411163" y="1341438"/>
            <a:ext cx="78200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：对于素数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如何构造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b="1" baseline="30000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阶有限域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？</a:t>
            </a:r>
          </a:p>
        </p:txBody>
      </p:sp>
      <p:sp>
        <p:nvSpPr>
          <p:cNvPr id="34919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0" name="灯片编号占位符 19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656D8F7B-EFD8-42AC-B4C4-A4F80D4A75C3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57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12" name="内容占位符 2"/>
          <p:cNvSpPr txBox="1">
            <a:spLocks/>
          </p:cNvSpPr>
          <p:nvPr/>
        </p:nvSpPr>
        <p:spPr bwMode="auto">
          <a:xfrm>
            <a:off x="500063" y="2060575"/>
            <a:ext cx="7888287" cy="288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lnSpc>
                <a:spcPct val="125000"/>
              </a:lnSpc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  阶有限域时， 为素数，取    为    中一个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次不可约多项式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，则            为一个  元域。</a:t>
            </a:r>
          </a:p>
          <a:p>
            <a:pPr marL="358775" indent="-358775" eaLnBrk="0" hangingPunct="0">
              <a:lnSpc>
                <a:spcPct val="125000"/>
              </a:lnSpc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由于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有限域存在任意次不可约多项式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，故对于任意素数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和任意正整数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，一定存在   元有限域。</a:t>
            </a:r>
          </a:p>
        </p:txBody>
      </p:sp>
      <p:graphicFrame>
        <p:nvGraphicFramePr>
          <p:cNvPr id="13" name="Object 6"/>
          <p:cNvGraphicFramePr>
            <a:graphicFrameLocks noChangeAspect="1"/>
          </p:cNvGraphicFramePr>
          <p:nvPr/>
        </p:nvGraphicFramePr>
        <p:xfrm>
          <a:off x="1860550" y="2274888"/>
          <a:ext cx="317500" cy="342900"/>
        </p:xfrm>
        <a:graphic>
          <a:graphicData uri="http://schemas.openxmlformats.org/presentationml/2006/ole">
            <p:oleObj spid="_x0000_s349190" name="Equation" r:id="rId4" imgW="152268" imgH="164957" progId="">
              <p:embed/>
            </p:oleObj>
          </a:graphicData>
        </a:graphic>
      </p:graphicFrame>
      <p:graphicFrame>
        <p:nvGraphicFramePr>
          <p:cNvPr id="14" name="Object 7"/>
          <p:cNvGraphicFramePr>
            <a:graphicFrameLocks noChangeAspect="1"/>
          </p:cNvGraphicFramePr>
          <p:nvPr/>
        </p:nvGraphicFramePr>
        <p:xfrm>
          <a:off x="4259263" y="2281238"/>
          <a:ext cx="317500" cy="342900"/>
        </p:xfrm>
        <a:graphic>
          <a:graphicData uri="http://schemas.openxmlformats.org/presentationml/2006/ole">
            <p:oleObj spid="_x0000_s349191" name="Equation" r:id="rId5" imgW="152268" imgH="164957" progId="">
              <p:embed/>
            </p:oleObj>
          </a:graphicData>
        </a:graphic>
      </p:graphicFrame>
      <p:graphicFrame>
        <p:nvGraphicFramePr>
          <p:cNvPr id="15" name="Object 8"/>
          <p:cNvGraphicFramePr>
            <a:graphicFrameLocks noChangeAspect="1"/>
          </p:cNvGraphicFramePr>
          <p:nvPr/>
        </p:nvGraphicFramePr>
        <p:xfrm>
          <a:off x="6372225" y="2208213"/>
          <a:ext cx="712788" cy="428625"/>
        </p:xfrm>
        <a:graphic>
          <a:graphicData uri="http://schemas.openxmlformats.org/presentationml/2006/ole">
            <p:oleObj spid="_x0000_s349192" name="Equation" r:id="rId6" imgW="342751" imgH="203112" progId="">
              <p:embed/>
            </p:oleObj>
          </a:graphicData>
        </a:graphic>
      </p:graphicFrame>
      <p:graphicFrame>
        <p:nvGraphicFramePr>
          <p:cNvPr id="16" name="Object 9"/>
          <p:cNvGraphicFramePr>
            <a:graphicFrameLocks noChangeAspect="1"/>
          </p:cNvGraphicFramePr>
          <p:nvPr/>
        </p:nvGraphicFramePr>
        <p:xfrm>
          <a:off x="7392988" y="2255838"/>
          <a:ext cx="685800" cy="428625"/>
        </p:xfrm>
        <a:graphic>
          <a:graphicData uri="http://schemas.openxmlformats.org/presentationml/2006/ole">
            <p:oleObj spid="_x0000_s349193" name="Equation" r:id="rId7" imgW="330057" imgH="203112" progId="">
              <p:embed/>
            </p:oleObj>
          </a:graphicData>
        </a:graphic>
      </p:graphicFrame>
      <p:graphicFrame>
        <p:nvGraphicFramePr>
          <p:cNvPr id="17" name="Object 10"/>
          <p:cNvGraphicFramePr>
            <a:graphicFrameLocks noChangeAspect="1"/>
          </p:cNvGraphicFramePr>
          <p:nvPr/>
        </p:nvGraphicFramePr>
        <p:xfrm>
          <a:off x="5386388" y="2684463"/>
          <a:ext cx="2065337" cy="600075"/>
        </p:xfrm>
        <a:graphic>
          <a:graphicData uri="http://schemas.openxmlformats.org/presentationml/2006/ole">
            <p:oleObj spid="_x0000_s349194" name="Equation" r:id="rId8" imgW="875920" imgH="253890" progId="">
              <p:embed/>
            </p:oleObj>
          </a:graphicData>
        </a:graphic>
      </p:graphicFrame>
      <p:graphicFrame>
        <p:nvGraphicFramePr>
          <p:cNvPr id="18" name="Object 11"/>
          <p:cNvGraphicFramePr>
            <a:graphicFrameLocks noChangeAspect="1"/>
          </p:cNvGraphicFramePr>
          <p:nvPr/>
        </p:nvGraphicFramePr>
        <p:xfrm>
          <a:off x="1258888" y="3141663"/>
          <a:ext cx="500062" cy="560387"/>
        </p:xfrm>
        <a:graphic>
          <a:graphicData uri="http://schemas.openxmlformats.org/presentationml/2006/ole">
            <p:oleObj spid="_x0000_s349195" name="Equation" r:id="rId9" imgW="203112" imgH="228501" progId="">
              <p:embed/>
            </p:oleObj>
          </a:graphicData>
        </a:graphic>
      </p:graphicFrame>
      <p:graphicFrame>
        <p:nvGraphicFramePr>
          <p:cNvPr id="19" name="Object 12"/>
          <p:cNvGraphicFramePr>
            <a:graphicFrameLocks noChangeAspect="1"/>
          </p:cNvGraphicFramePr>
          <p:nvPr/>
        </p:nvGraphicFramePr>
        <p:xfrm>
          <a:off x="6732588" y="4233863"/>
          <a:ext cx="487362" cy="546100"/>
        </p:xfrm>
        <a:graphic>
          <a:graphicData uri="http://schemas.openxmlformats.org/presentationml/2006/ole">
            <p:oleObj spid="_x0000_s349196" name="Equation" r:id="rId10" imgW="203112" imgH="228501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2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088" y="1196975"/>
            <a:ext cx="8208962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123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51236" name="Rectangle 4"/>
          <p:cNvSpPr>
            <a:spLocks noChangeArrowheads="1"/>
          </p:cNvSpPr>
          <p:nvPr/>
        </p:nvSpPr>
        <p:spPr bwMode="auto">
          <a:xfrm>
            <a:off x="395288" y="2060575"/>
            <a:ext cx="831215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de-DE">
                <a:latin typeface="楷体_GB2312" pitchFamily="49" charset="-122"/>
                <a:ea typeface="楷体_GB2312" pitchFamily="49" charset="-122"/>
              </a:rPr>
              <a:t>∵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de-DE" altLang="zh-CN" baseline="-25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[x]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中的一次多项式只有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x+1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，</a:t>
            </a:r>
          </a:p>
          <a:p>
            <a:pPr>
              <a:lnSpc>
                <a:spcPct val="120000"/>
              </a:lnSpc>
            </a:pPr>
            <a:r>
              <a:rPr lang="zh-CN" altLang="de-DE">
                <a:latin typeface="楷体_GB2312" pitchFamily="49" charset="-122"/>
                <a:ea typeface="楷体_GB2312" pitchFamily="49" charset="-122"/>
              </a:rPr>
              <a:t>           二次多项式只有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de-DE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, x</a:t>
            </a:r>
            <a:r>
              <a:rPr lang="de-DE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+1, x</a:t>
            </a:r>
            <a:r>
              <a:rPr lang="de-DE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+x, x</a:t>
            </a:r>
            <a:r>
              <a:rPr lang="de-DE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+x+1</a:t>
            </a:r>
            <a:endParaRPr lang="zh-CN" altLang="de-DE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20000"/>
              </a:lnSpc>
            </a:pPr>
            <a:r>
              <a:rPr lang="zh-CN" altLang="de-DE">
                <a:latin typeface="楷体_GB2312" pitchFamily="49" charset="-122"/>
                <a:ea typeface="楷体_GB2312" pitchFamily="49" charset="-122"/>
              </a:rPr>
              <a:t>    所有一次多项式和二次多项的乘积如下表：</a:t>
            </a:r>
          </a:p>
        </p:txBody>
      </p:sp>
      <p:graphicFrame>
        <p:nvGraphicFramePr>
          <p:cNvPr id="351343" name="Group 111"/>
          <p:cNvGraphicFramePr>
            <a:graphicFrameLocks noGrp="1"/>
          </p:cNvGraphicFramePr>
          <p:nvPr/>
        </p:nvGraphicFramePr>
        <p:xfrm>
          <a:off x="1258888" y="3789363"/>
          <a:ext cx="3960812" cy="2286000"/>
        </p:xfrm>
        <a:graphic>
          <a:graphicData uri="http://schemas.openxmlformats.org/drawingml/2006/table">
            <a:tbl>
              <a:tblPr/>
              <a:tblGrid>
                <a:gridCol w="1122362"/>
                <a:gridCol w="1328738"/>
                <a:gridCol w="1509712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51338" name="Rectangle 106"/>
          <p:cNvSpPr>
            <a:spLocks noChangeArrowheads="1"/>
          </p:cNvSpPr>
          <p:nvPr/>
        </p:nvSpPr>
        <p:spPr bwMode="auto">
          <a:xfrm>
            <a:off x="5435600" y="4076700"/>
            <a:ext cx="3168650" cy="163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de-DE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因此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f(x)=x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+1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不是一次多项式和二次多项式的乘积</a:t>
            </a:r>
          </a:p>
        </p:txBody>
      </p:sp>
      <p:sp>
        <p:nvSpPr>
          <p:cNvPr id="351339" name="Rectangle 107"/>
          <p:cNvSpPr>
            <a:spLocks noChangeArrowheads="1"/>
          </p:cNvSpPr>
          <p:nvPr/>
        </p:nvSpPr>
        <p:spPr bwMode="auto">
          <a:xfrm>
            <a:off x="468313" y="6237288"/>
            <a:ext cx="549433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∴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f(x)=x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+x+1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是不可约多项式。 </a:t>
            </a:r>
          </a:p>
        </p:txBody>
      </p:sp>
      <p:sp>
        <p:nvSpPr>
          <p:cNvPr id="351264" name="Text Box 108"/>
          <p:cNvSpPr txBox="1">
            <a:spLocks noChangeArrowheads="1"/>
          </p:cNvSpPr>
          <p:nvPr/>
        </p:nvSpPr>
        <p:spPr bwMode="auto">
          <a:xfrm>
            <a:off x="1588" y="1181100"/>
            <a:ext cx="8985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66"/>
                </a:solidFill>
                <a:ea typeface="楷体_GB2312" pitchFamily="49" charset="-122"/>
              </a:rPr>
              <a:t>证明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1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1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1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36" grpId="0"/>
      <p:bldP spid="351338" grpId="0"/>
      <p:bldP spid="351339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25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2565400"/>
            <a:ext cx="8208962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5225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1412875"/>
            <a:ext cx="8208963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225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3.3.2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剩余类域的构造</a:t>
            </a:r>
            <a:endParaRPr kumimoji="0" lang="zh-CN" altLang="en-US" sz="3200" b="1">
              <a:solidFill>
                <a:schemeClr val="bg1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20871" name="Rectangle 7"/>
          <p:cNvSpPr>
            <a:spLocks noChangeArrowheads="1"/>
          </p:cNvSpPr>
          <p:nvPr/>
        </p:nvSpPr>
        <p:spPr bwMode="auto">
          <a:xfrm>
            <a:off x="107950" y="6078538"/>
            <a:ext cx="88407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</a:rPr>
              <a:t>F</a:t>
            </a:r>
            <a:r>
              <a:rPr lang="en-US" altLang="zh-CN" b="1" baseline="-25000">
                <a:solidFill>
                  <a:srgbClr val="0033CC"/>
                </a:solidFill>
              </a:rPr>
              <a:t>8</a:t>
            </a:r>
            <a:r>
              <a:rPr lang="en-US" altLang="zh-CN" b="1">
                <a:solidFill>
                  <a:srgbClr val="0033CC"/>
                </a:solidFill>
              </a:rPr>
              <a:t>={0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α+1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+α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α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+α+1} 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08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87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-26988"/>
            <a:ext cx="7543800" cy="1143001"/>
          </a:xfrm>
        </p:spPr>
        <p:txBody>
          <a:bodyPr/>
          <a:lstStyle/>
          <a:p>
            <a:r>
              <a:rPr lang="zh-CN" altLang="en-US" smtClean="0"/>
              <a:t>第三节 域</a:t>
            </a:r>
          </a:p>
        </p:txBody>
      </p:sp>
      <p:grpSp>
        <p:nvGrpSpPr>
          <p:cNvPr id="353282" name="Group 3"/>
          <p:cNvGrpSpPr>
            <a:grpSpLocks/>
          </p:cNvGrpSpPr>
          <p:nvPr/>
        </p:nvGrpSpPr>
        <p:grpSpPr bwMode="auto">
          <a:xfrm>
            <a:off x="661988" y="1455738"/>
            <a:ext cx="7502525" cy="841375"/>
            <a:chOff x="385" y="1162"/>
            <a:chExt cx="4309" cy="389"/>
          </a:xfrm>
        </p:grpSpPr>
        <p:sp>
          <p:nvSpPr>
            <p:cNvPr id="353308" name="AutoShape 4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53309" name="Group 5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53312" name="Oval 6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313" name="Oval 7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314" name="Oval 8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53310" name="Text Box 9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域的定义与基本性质</a:t>
              </a:r>
            </a:p>
          </p:txBody>
        </p:sp>
        <p:sp>
          <p:nvSpPr>
            <p:cNvPr id="353311" name="Text Box 10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一</a:t>
              </a:r>
            </a:p>
          </p:txBody>
        </p:sp>
      </p:grpSp>
      <p:grpSp>
        <p:nvGrpSpPr>
          <p:cNvPr id="353283" name="Group 11"/>
          <p:cNvGrpSpPr>
            <a:grpSpLocks/>
          </p:cNvGrpSpPr>
          <p:nvPr/>
        </p:nvGrpSpPr>
        <p:grpSpPr bwMode="auto">
          <a:xfrm>
            <a:off x="661988" y="2435225"/>
            <a:ext cx="7502525" cy="841375"/>
            <a:chOff x="385" y="1162"/>
            <a:chExt cx="4309" cy="389"/>
          </a:xfrm>
        </p:grpSpPr>
        <p:sp>
          <p:nvSpPr>
            <p:cNvPr id="353301" name="AutoShape 12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53302" name="Group 13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53305" name="Oval 14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306" name="Oval 15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307" name="Oval 16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53303" name="Text Box 17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域上的多项式</a:t>
              </a:r>
            </a:p>
          </p:txBody>
        </p:sp>
        <p:sp>
          <p:nvSpPr>
            <p:cNvPr id="353304" name="Text Box 18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二</a:t>
              </a:r>
            </a:p>
          </p:txBody>
        </p:sp>
      </p:grpSp>
      <p:grpSp>
        <p:nvGrpSpPr>
          <p:cNvPr id="353284" name="Group 27"/>
          <p:cNvGrpSpPr>
            <a:grpSpLocks/>
          </p:cNvGrpSpPr>
          <p:nvPr/>
        </p:nvGrpSpPr>
        <p:grpSpPr bwMode="auto">
          <a:xfrm>
            <a:off x="690563" y="4387850"/>
            <a:ext cx="7502525" cy="841375"/>
            <a:chOff x="385" y="1162"/>
            <a:chExt cx="4309" cy="389"/>
          </a:xfrm>
        </p:grpSpPr>
        <p:sp>
          <p:nvSpPr>
            <p:cNvPr id="353294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53295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53298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299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300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53296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C00000"/>
                  </a:solidFill>
                  <a:ea typeface="楷体_GB2312" pitchFamily="49" charset="-122"/>
                </a:rPr>
                <a:t>有限域的特性</a:t>
              </a:r>
            </a:p>
          </p:txBody>
        </p:sp>
        <p:sp>
          <p:nvSpPr>
            <p:cNvPr id="353297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四</a:t>
              </a:r>
            </a:p>
          </p:txBody>
        </p:sp>
      </p:grpSp>
      <p:grpSp>
        <p:nvGrpSpPr>
          <p:cNvPr id="353285" name="Group 27"/>
          <p:cNvGrpSpPr>
            <a:grpSpLocks/>
          </p:cNvGrpSpPr>
          <p:nvPr/>
        </p:nvGrpSpPr>
        <p:grpSpPr bwMode="auto">
          <a:xfrm>
            <a:off x="661988" y="3402013"/>
            <a:ext cx="7502525" cy="841375"/>
            <a:chOff x="385" y="1162"/>
            <a:chExt cx="4309" cy="389"/>
          </a:xfrm>
        </p:grpSpPr>
        <p:sp>
          <p:nvSpPr>
            <p:cNvPr id="353287" name="AutoShape 28"/>
            <p:cNvSpPr>
              <a:spLocks noChangeArrowheads="1"/>
            </p:cNvSpPr>
            <p:nvPr/>
          </p:nvSpPr>
          <p:spPr bwMode="gray">
            <a:xfrm>
              <a:off x="628" y="1191"/>
              <a:ext cx="4066" cy="350"/>
            </a:xfrm>
            <a:prstGeom prst="roundRect">
              <a:avLst>
                <a:gd name="adj" fmla="val 50000"/>
              </a:avLst>
            </a:prstGeom>
            <a:noFill/>
            <a:ln w="38100" algn="ctr">
              <a:solidFill>
                <a:srgbClr val="6E81E0"/>
              </a:solidFill>
              <a:round/>
              <a:headEnd/>
              <a:tailEnd/>
            </a:ln>
          </p:spPr>
          <p:txBody>
            <a:bodyPr vert="eaVert" wrap="none" anchor="ctr"/>
            <a:lstStyle/>
            <a:p>
              <a:pPr latinLnBrk="1">
                <a:lnSpc>
                  <a:spcPct val="80000"/>
                </a:lnSpc>
                <a:spcBef>
                  <a:spcPct val="50000"/>
                </a:spcBef>
                <a:buClr>
                  <a:srgbClr val="FF0000"/>
                </a:buClr>
                <a:buFont typeface="Wingdings" pitchFamily="2" charset="2"/>
                <a:buNone/>
              </a:pPr>
              <a:endParaRPr lang="zh-CN" altLang="en-US">
                <a:ea typeface="굴림" pitchFamily="34" charset="-127"/>
              </a:endParaRPr>
            </a:p>
          </p:txBody>
        </p:sp>
        <p:grpSp>
          <p:nvGrpSpPr>
            <p:cNvPr id="353288" name="Group 29"/>
            <p:cNvGrpSpPr>
              <a:grpSpLocks/>
            </p:cNvGrpSpPr>
            <p:nvPr/>
          </p:nvGrpSpPr>
          <p:grpSpPr bwMode="auto">
            <a:xfrm>
              <a:off x="385" y="1162"/>
              <a:ext cx="614" cy="389"/>
              <a:chOff x="720" y="960"/>
              <a:chExt cx="987" cy="795"/>
            </a:xfrm>
          </p:grpSpPr>
          <p:sp>
            <p:nvSpPr>
              <p:cNvPr id="353291" name="Oval 30"/>
              <p:cNvSpPr>
                <a:spLocks noChangeArrowheads="1"/>
              </p:cNvSpPr>
              <p:nvPr/>
            </p:nvSpPr>
            <p:spPr bwMode="gray">
              <a:xfrm rot="1758052">
                <a:off x="747" y="987"/>
                <a:ext cx="960" cy="768"/>
              </a:xfrm>
              <a:prstGeom prst="ellipse">
                <a:avLst/>
              </a:prstGeom>
              <a:solidFill>
                <a:srgbClr val="333333"/>
              </a:soli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292" name="Oval 31"/>
              <p:cNvSpPr>
                <a:spLocks noChangeArrowheads="1"/>
              </p:cNvSpPr>
              <p:nvPr/>
            </p:nvSpPr>
            <p:spPr bwMode="gray">
              <a:xfrm rot="1758052">
                <a:off x="720" y="960"/>
                <a:ext cx="960" cy="768"/>
              </a:xfrm>
              <a:prstGeom prst="ellipse">
                <a:avLst/>
              </a:prstGeom>
              <a:gradFill rotWithShape="1">
                <a:gsLst>
                  <a:gs pos="0">
                    <a:srgbClr val="6E81E0"/>
                  </a:gs>
                  <a:gs pos="100000">
                    <a:srgbClr val="333C68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  <p:sp>
            <p:nvSpPr>
              <p:cNvPr id="353293" name="Oval 32"/>
              <p:cNvSpPr>
                <a:spLocks noChangeArrowheads="1"/>
              </p:cNvSpPr>
              <p:nvPr/>
            </p:nvSpPr>
            <p:spPr bwMode="gray">
              <a:xfrm>
                <a:off x="816" y="1008"/>
                <a:ext cx="432" cy="432"/>
              </a:xfrm>
              <a:prstGeom prst="ellipse">
                <a:avLst/>
              </a:prstGeom>
              <a:gradFill rotWithShape="1">
                <a:gsLst>
                  <a:gs pos="0">
                    <a:srgbClr val="FFFFFF">
                      <a:alpha val="50000"/>
                    </a:srgbClr>
                  </a:gs>
                  <a:gs pos="100000">
                    <a:srgbClr val="767676">
                      <a:alpha val="0"/>
                    </a:srgb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 wrap="none" anchor="ctr"/>
              <a:lstStyle/>
              <a:p>
                <a:pPr latinLnBrk="1">
                  <a:lnSpc>
                    <a:spcPct val="80000"/>
                  </a:lnSpc>
                  <a:spcBef>
                    <a:spcPct val="50000"/>
                  </a:spcBef>
                  <a:buClr>
                    <a:srgbClr val="FF0000"/>
                  </a:buClr>
                  <a:buFont typeface="Wingdings" pitchFamily="2" charset="2"/>
                  <a:buNone/>
                </a:pPr>
                <a:endParaRPr lang="zh-CN" altLang="en-US">
                  <a:ea typeface="굴림" pitchFamily="34" charset="-127"/>
                </a:endParaRPr>
              </a:p>
            </p:txBody>
          </p:sp>
        </p:grpSp>
        <p:sp>
          <p:nvSpPr>
            <p:cNvPr id="353289" name="Text Box 33"/>
            <p:cNvSpPr txBox="1">
              <a:spLocks noChangeArrowheads="1"/>
            </p:cNvSpPr>
            <p:nvPr/>
          </p:nvSpPr>
          <p:spPr bwMode="gray">
            <a:xfrm>
              <a:off x="1000" y="1201"/>
              <a:ext cx="3694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zh-CN" altLang="en-US" sz="3200" b="1">
                  <a:solidFill>
                    <a:srgbClr val="000099"/>
                  </a:solidFill>
                  <a:ea typeface="楷体_GB2312" pitchFamily="49" charset="-122"/>
                </a:rPr>
                <a:t>有限域的构造</a:t>
              </a:r>
              <a:endParaRPr lang="zh-CN" altLang="en-US" sz="3200" b="1">
                <a:solidFill>
                  <a:srgbClr val="C00000"/>
                </a:solidFill>
                <a:ea typeface="楷体_GB2312" pitchFamily="49" charset="-122"/>
              </a:endParaRPr>
            </a:p>
          </p:txBody>
        </p:sp>
        <p:sp>
          <p:nvSpPr>
            <p:cNvPr id="353290" name="Text Box 34"/>
            <p:cNvSpPr txBox="1">
              <a:spLocks noChangeArrowheads="1"/>
            </p:cNvSpPr>
            <p:nvPr/>
          </p:nvSpPr>
          <p:spPr bwMode="gray">
            <a:xfrm>
              <a:off x="561" y="1175"/>
              <a:ext cx="339" cy="26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0" lang="zh-CN" altLang="en-US" sz="3200">
                  <a:solidFill>
                    <a:srgbClr val="FFFFFF"/>
                  </a:solidFill>
                  <a:latin typeface="Arial" charset="0"/>
                  <a:ea typeface="楷体_GB2312" pitchFamily="49" charset="-122"/>
                </a:rPr>
                <a:t>三</a:t>
              </a:r>
            </a:p>
          </p:txBody>
        </p:sp>
      </p:grpSp>
      <p:sp>
        <p:nvSpPr>
          <p:cNvPr id="43" name="灯片编号占位符 42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C86E93E-AF0B-49F0-AADD-ACBB991311FB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60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29" name="Rectangle 3"/>
          <p:cNvSpPr>
            <a:spLocks noChangeArrowheads="1"/>
          </p:cNvSpPr>
          <p:nvPr/>
        </p:nvSpPr>
        <p:spPr bwMode="auto">
          <a:xfrm>
            <a:off x="357188" y="1500188"/>
            <a:ext cx="7929562" cy="1463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能描述</a:t>
            </a:r>
            <a:r>
              <a:rPr kumimoji="0" lang="zh-CN" altLang="en-US" b="1">
                <a:solidFill>
                  <a:srgbClr val="FF0000"/>
                </a:solidFill>
                <a:latin typeface="微软雅黑"/>
                <a:ea typeface="楷体_GB2312" pitchFamily="49" charset="-122"/>
                <a:cs typeface="微软雅黑"/>
              </a:rPr>
              <a:t>域的特征</a:t>
            </a: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概念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能解释</a:t>
            </a:r>
            <a:r>
              <a:rPr kumimoji="0" lang="zh-CN" altLang="en-US" b="1">
                <a:solidFill>
                  <a:srgbClr val="0033CC"/>
                </a:solidFill>
                <a:latin typeface="微软雅黑"/>
                <a:ea typeface="楷体_GB2312" pitchFamily="49" charset="-122"/>
                <a:cs typeface="微软雅黑"/>
              </a:rPr>
              <a:t>有限域加法特性</a:t>
            </a:r>
            <a:endParaRPr kumimoji="0" lang="zh-CN" altLang="en-US" b="1">
              <a:solidFill>
                <a:srgbClr val="0033CC"/>
              </a:solidFill>
              <a:latin typeface="宋体" charset="-122"/>
              <a:ea typeface="楷体_GB2312" pitchFamily="49" charset="-122"/>
              <a:cs typeface="微软雅黑"/>
            </a:endParaRPr>
          </a:p>
        </p:txBody>
      </p:sp>
      <p:sp>
        <p:nvSpPr>
          <p:cNvPr id="35533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第一阶段学习目标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BA0BCF00-7401-46A1-AA19-642D6E605D47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61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364" name="内容占位符 2"/>
          <p:cNvSpPr>
            <a:spLocks noGrp="1"/>
          </p:cNvSpPr>
          <p:nvPr>
            <p:ph idx="4294967295"/>
          </p:nvPr>
        </p:nvSpPr>
        <p:spPr>
          <a:xfrm>
            <a:off x="468313" y="1644650"/>
            <a:ext cx="8572500" cy="2071688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设  为一个域，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为其单位元，如果对任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意正整数  ，均有       ，则称  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特征为</a:t>
            </a:r>
            <a:r>
              <a:rPr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。如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果有一个正整数</a:t>
            </a:r>
            <a:r>
              <a:rPr lang="en-US" altLang="zh-CN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，记使得       的最小正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整数为  ，则称  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特征为  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 </a:t>
            </a:r>
            <a:endParaRPr lang="zh-CN" altLang="en-US" b="1" smtClean="0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56355" name="Object 3"/>
          <p:cNvGraphicFramePr>
            <a:graphicFrameLocks noChangeAspect="1"/>
          </p:cNvGraphicFramePr>
          <p:nvPr/>
        </p:nvGraphicFramePr>
        <p:xfrm>
          <a:off x="2714625" y="1717675"/>
          <a:ext cx="344488" cy="342900"/>
        </p:xfrm>
        <a:graphic>
          <a:graphicData uri="http://schemas.openxmlformats.org/presentationml/2006/ole">
            <p:oleObj spid="_x0000_s356355" name="Equation" r:id="rId4" imgW="164885" imgH="164885" progId="">
              <p:embed/>
            </p:oleObj>
          </a:graphicData>
        </a:graphic>
      </p:graphicFrame>
      <p:graphicFrame>
        <p:nvGraphicFramePr>
          <p:cNvPr id="356356" name="Object 4"/>
          <p:cNvGraphicFramePr>
            <a:graphicFrameLocks noChangeAspect="1"/>
          </p:cNvGraphicFramePr>
          <p:nvPr/>
        </p:nvGraphicFramePr>
        <p:xfrm>
          <a:off x="1979613" y="2276475"/>
          <a:ext cx="344487" cy="290513"/>
        </p:xfrm>
        <a:graphic>
          <a:graphicData uri="http://schemas.openxmlformats.org/presentationml/2006/ole">
            <p:oleObj spid="_x0000_s356356" name="Equation" r:id="rId5" imgW="164957" imgH="139579" progId="">
              <p:embed/>
            </p:oleObj>
          </a:graphicData>
        </a:graphic>
      </p:graphicFrame>
      <p:graphicFrame>
        <p:nvGraphicFramePr>
          <p:cNvPr id="356357" name="Object 5"/>
          <p:cNvGraphicFramePr>
            <a:graphicFrameLocks noChangeAspect="1"/>
          </p:cNvGraphicFramePr>
          <p:nvPr/>
        </p:nvGraphicFramePr>
        <p:xfrm>
          <a:off x="3492500" y="2266950"/>
          <a:ext cx="1112838" cy="369888"/>
        </p:xfrm>
        <a:graphic>
          <a:graphicData uri="http://schemas.openxmlformats.org/presentationml/2006/ole">
            <p:oleObj spid="_x0000_s356357" name="Equation" r:id="rId6" imgW="532937" imgH="177646" progId="">
              <p:embed/>
            </p:oleObj>
          </a:graphicData>
        </a:graphic>
      </p:graphicFrame>
      <p:graphicFrame>
        <p:nvGraphicFramePr>
          <p:cNvPr id="356358" name="Object 6"/>
          <p:cNvGraphicFramePr>
            <a:graphicFrameLocks noChangeAspect="1"/>
          </p:cNvGraphicFramePr>
          <p:nvPr/>
        </p:nvGraphicFramePr>
        <p:xfrm>
          <a:off x="5826125" y="2274888"/>
          <a:ext cx="344488" cy="342900"/>
        </p:xfrm>
        <a:graphic>
          <a:graphicData uri="http://schemas.openxmlformats.org/presentationml/2006/ole">
            <p:oleObj spid="_x0000_s356358" name="Equation" r:id="rId7" imgW="164885" imgH="164885" progId="">
              <p:embed/>
            </p:oleObj>
          </a:graphicData>
        </a:graphic>
      </p:graphicFrame>
      <p:graphicFrame>
        <p:nvGraphicFramePr>
          <p:cNvPr id="356359" name="Object 7"/>
          <p:cNvGraphicFramePr>
            <a:graphicFrameLocks noChangeAspect="1"/>
          </p:cNvGraphicFramePr>
          <p:nvPr/>
        </p:nvGraphicFramePr>
        <p:xfrm>
          <a:off x="3059113" y="2746375"/>
          <a:ext cx="1112837" cy="369888"/>
        </p:xfrm>
        <a:graphic>
          <a:graphicData uri="http://schemas.openxmlformats.org/presentationml/2006/ole">
            <p:oleObj spid="_x0000_s356359" name="Equation" r:id="rId8" imgW="532937" imgH="177646" progId="">
              <p:embed/>
            </p:oleObj>
          </a:graphicData>
        </a:graphic>
      </p:graphicFrame>
      <p:graphicFrame>
        <p:nvGraphicFramePr>
          <p:cNvPr id="356360" name="Object 8"/>
          <p:cNvGraphicFramePr>
            <a:graphicFrameLocks noChangeAspect="1"/>
          </p:cNvGraphicFramePr>
          <p:nvPr/>
        </p:nvGraphicFramePr>
        <p:xfrm>
          <a:off x="5619750" y="2708275"/>
          <a:ext cx="1112838" cy="369888"/>
        </p:xfrm>
        <a:graphic>
          <a:graphicData uri="http://schemas.openxmlformats.org/presentationml/2006/ole">
            <p:oleObj spid="_x0000_s356360" name="Equation" r:id="rId9" imgW="532937" imgH="177646" progId="">
              <p:embed/>
            </p:oleObj>
          </a:graphicData>
        </a:graphic>
      </p:graphicFrame>
      <p:graphicFrame>
        <p:nvGraphicFramePr>
          <p:cNvPr id="356361" name="Object 9"/>
          <p:cNvGraphicFramePr>
            <a:graphicFrameLocks noChangeAspect="1"/>
          </p:cNvGraphicFramePr>
          <p:nvPr/>
        </p:nvGraphicFramePr>
        <p:xfrm>
          <a:off x="1690688" y="3302000"/>
          <a:ext cx="317500" cy="342900"/>
        </p:xfrm>
        <a:graphic>
          <a:graphicData uri="http://schemas.openxmlformats.org/presentationml/2006/ole">
            <p:oleObj spid="_x0000_s356361" name="Equation" r:id="rId10" imgW="152268" imgH="164957" progId="">
              <p:embed/>
            </p:oleObj>
          </a:graphicData>
        </a:graphic>
      </p:graphicFrame>
      <p:graphicFrame>
        <p:nvGraphicFramePr>
          <p:cNvPr id="356362" name="Object 10"/>
          <p:cNvGraphicFramePr>
            <a:graphicFrameLocks noChangeAspect="1"/>
          </p:cNvGraphicFramePr>
          <p:nvPr/>
        </p:nvGraphicFramePr>
        <p:xfrm>
          <a:off x="3111500" y="3287713"/>
          <a:ext cx="344488" cy="342900"/>
        </p:xfrm>
        <a:graphic>
          <a:graphicData uri="http://schemas.openxmlformats.org/presentationml/2006/ole">
            <p:oleObj spid="_x0000_s356362" name="Equation" r:id="rId11" imgW="164885" imgH="164885" progId="">
              <p:embed/>
            </p:oleObj>
          </a:graphicData>
        </a:graphic>
      </p:graphicFrame>
      <p:graphicFrame>
        <p:nvGraphicFramePr>
          <p:cNvPr id="356363" name="Object 11"/>
          <p:cNvGraphicFramePr>
            <a:graphicFrameLocks noChangeAspect="1"/>
          </p:cNvGraphicFramePr>
          <p:nvPr/>
        </p:nvGraphicFramePr>
        <p:xfrm>
          <a:off x="4859338" y="3309938"/>
          <a:ext cx="317500" cy="342900"/>
        </p:xfrm>
        <a:graphic>
          <a:graphicData uri="http://schemas.openxmlformats.org/presentationml/2006/ole">
            <p:oleObj spid="_x0000_s356363" name="Equation" r:id="rId12" imgW="152268" imgH="164957" progId="">
              <p:embed/>
            </p:oleObj>
          </a:graphicData>
        </a:graphic>
      </p:graphicFrame>
      <p:sp>
        <p:nvSpPr>
          <p:cNvPr id="356365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  <p:sp>
        <p:nvSpPr>
          <p:cNvPr id="19" name="灯片编号占位符 18"/>
          <p:cNvSpPr txBox="1">
            <a:spLocks noGrp="1"/>
          </p:cNvSpPr>
          <p:nvPr/>
        </p:nvSpPr>
        <p:spPr>
          <a:xfrm>
            <a:off x="8358188" y="6500813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0FCB867-3430-48B7-BE43-3932873F5B94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62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49" name="内容占位符 2"/>
          <p:cNvSpPr txBox="1">
            <a:spLocks/>
          </p:cNvSpPr>
          <p:nvPr/>
        </p:nvSpPr>
        <p:spPr bwMode="auto">
          <a:xfrm>
            <a:off x="500063" y="1524000"/>
            <a:ext cx="864393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有理数域、实数域特征为多少？</a:t>
            </a:r>
          </a:p>
        </p:txBody>
      </p:sp>
      <p:sp>
        <p:nvSpPr>
          <p:cNvPr id="36045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  <p:sp>
        <p:nvSpPr>
          <p:cNvPr id="19" name="灯片编号占位符 18"/>
          <p:cNvSpPr txBox="1">
            <a:spLocks noGrp="1"/>
          </p:cNvSpPr>
          <p:nvPr/>
        </p:nvSpPr>
        <p:spPr>
          <a:xfrm>
            <a:off x="8358188" y="660082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3253E600-CD0D-493D-AB5C-11A2AF9D36D0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63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60452" name="矩形 23"/>
          <p:cNvSpPr>
            <a:spLocks noChangeArrowheads="1"/>
          </p:cNvSpPr>
          <p:nvPr/>
        </p:nvSpPr>
        <p:spPr bwMode="auto">
          <a:xfrm>
            <a:off x="500063" y="2238375"/>
            <a:ext cx="657225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有限域特征可以为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吗？</a:t>
            </a:r>
          </a:p>
        </p:txBody>
      </p:sp>
      <p:sp>
        <p:nvSpPr>
          <p:cNvPr id="360453" name="矩形 24"/>
          <p:cNvSpPr>
            <a:spLocks noChangeArrowheads="1"/>
          </p:cNvSpPr>
          <p:nvPr/>
        </p:nvSpPr>
        <p:spPr bwMode="auto">
          <a:xfrm>
            <a:off x="357188" y="3671888"/>
            <a:ext cx="6572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存在特征为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15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的有限域吗？</a:t>
            </a:r>
          </a:p>
        </p:txBody>
      </p:sp>
      <p:sp>
        <p:nvSpPr>
          <p:cNvPr id="360454" name="内容占位符 2"/>
          <p:cNvSpPr txBox="1">
            <a:spLocks/>
          </p:cNvSpPr>
          <p:nvPr/>
        </p:nvSpPr>
        <p:spPr bwMode="auto">
          <a:xfrm>
            <a:off x="428625" y="4410075"/>
            <a:ext cx="8215313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lnSpc>
                <a:spcPct val="125000"/>
              </a:lnSpc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：如果特征为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，对任意元素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满足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pa=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吗？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60455" name="矩形 17"/>
          <p:cNvSpPr>
            <a:spLocks noChangeArrowheads="1"/>
          </p:cNvSpPr>
          <p:nvPr/>
        </p:nvSpPr>
        <p:spPr bwMode="auto">
          <a:xfrm>
            <a:off x="357188" y="2928938"/>
            <a:ext cx="6572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存在特征为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9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的有限域吗？</a:t>
            </a:r>
          </a:p>
        </p:txBody>
      </p:sp>
      <p:sp>
        <p:nvSpPr>
          <p:cNvPr id="360456" name="内容占位符 2"/>
          <p:cNvSpPr txBox="1">
            <a:spLocks/>
          </p:cNvSpPr>
          <p:nvPr/>
        </p:nvSpPr>
        <p:spPr bwMode="auto">
          <a:xfrm>
            <a:off x="460375" y="5146675"/>
            <a:ext cx="8504238" cy="73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lnSpc>
                <a:spcPct val="125000"/>
              </a:lnSpc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上模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次不可约多项式剩余类域特征是？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7" name="内容占位符 2"/>
          <p:cNvSpPr txBox="1">
            <a:spLocks/>
          </p:cNvSpPr>
          <p:nvPr/>
        </p:nvSpPr>
        <p:spPr bwMode="auto">
          <a:xfrm>
            <a:off x="428625" y="2017713"/>
            <a:ext cx="8320088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设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为一个域，则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的特征要么为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，要么为素数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62498" name="内容占位符 2"/>
          <p:cNvSpPr txBox="1">
            <a:spLocks/>
          </p:cNvSpPr>
          <p:nvPr/>
        </p:nvSpPr>
        <p:spPr bwMode="auto">
          <a:xfrm>
            <a:off x="465138" y="2708275"/>
            <a:ext cx="8210550" cy="574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有理数域、实数域和复数域都是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特征为</a:t>
            </a:r>
            <a:r>
              <a:rPr lang="en-US" altLang="zh-CN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的域。</a:t>
            </a:r>
          </a:p>
        </p:txBody>
      </p:sp>
      <p:sp>
        <p:nvSpPr>
          <p:cNvPr id="36249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  <p:sp>
        <p:nvSpPr>
          <p:cNvPr id="362500" name="内容占位符 2"/>
          <p:cNvSpPr txBox="1">
            <a:spLocks/>
          </p:cNvSpPr>
          <p:nvPr/>
        </p:nvSpPr>
        <p:spPr bwMode="auto">
          <a:xfrm>
            <a:off x="465138" y="3429000"/>
            <a:ext cx="8067675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上模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次不可约多项式的</a:t>
            </a:r>
            <a:r>
              <a:rPr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剩余类域特征都是</a:t>
            </a:r>
            <a:r>
              <a:rPr lang="en-US" altLang="zh-CN" b="1" i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19" name="灯片编号占位符 18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75140912-B2FB-4447-844E-4FAF87C63A62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64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62502" name="矩形 1"/>
          <p:cNvSpPr>
            <a:spLocks noChangeArrowheads="1"/>
          </p:cNvSpPr>
          <p:nvPr/>
        </p:nvSpPr>
        <p:spPr bwMode="auto">
          <a:xfrm>
            <a:off x="428625" y="1393825"/>
            <a:ext cx="715327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3.21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域的特征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，有如下结论成立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endParaRPr lang="zh-CN" altLang="en-US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62503" name="内容占位符 2"/>
          <p:cNvSpPr txBox="1">
            <a:spLocks/>
          </p:cNvSpPr>
          <p:nvPr/>
        </p:nvSpPr>
        <p:spPr bwMode="auto">
          <a:xfrm>
            <a:off x="468313" y="4221163"/>
            <a:ext cx="8215312" cy="111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lnSpc>
                <a:spcPct val="125000"/>
              </a:lnSpc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如果特征为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，对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任意非零元素</a:t>
            </a:r>
            <a:r>
              <a:rPr lang="en-US" altLang="zh-CN" b="1" i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是满足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pa=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的最小正整数。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593" name="Rectangle 4"/>
          <p:cNvSpPr>
            <a:spLocks noRot="1" noChangeArrowheads="1"/>
          </p:cNvSpPr>
          <p:nvPr/>
        </p:nvSpPr>
        <p:spPr bwMode="auto">
          <a:xfrm>
            <a:off x="323850" y="1125538"/>
            <a:ext cx="85407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latinLnBrk="1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>
              <a:solidFill>
                <a:srgbClr val="3333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6659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700213"/>
            <a:ext cx="8353425" cy="93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1475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6725" y="2997200"/>
            <a:ext cx="8353425" cy="302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659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1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5" name="Rectangle 4"/>
          <p:cNvSpPr>
            <a:spLocks noRot="1" noChangeArrowheads="1"/>
          </p:cNvSpPr>
          <p:nvPr/>
        </p:nvSpPr>
        <p:spPr bwMode="auto">
          <a:xfrm>
            <a:off x="250825" y="1339850"/>
            <a:ext cx="8424863" cy="3168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1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以上定理说明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任意一个有限域，其大小（</a:t>
            </a:r>
            <a:r>
              <a:rPr lang="zh-CN" altLang="en-US" sz="3200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阶</a:t>
            </a: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）必定是素数的方幂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。</a:t>
            </a:r>
          </a:p>
          <a:p>
            <a:pPr marL="447675" indent="-447675" eaLnBrk="0" latinLnBrk="1" hangingPunct="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>
                <a:latin typeface="楷体_GB2312" pitchFamily="49" charset="-122"/>
                <a:ea typeface="楷体_GB2312" pitchFamily="49" charset="-122"/>
              </a:rPr>
              <a:t>但反过来，</a:t>
            </a:r>
            <a:r>
              <a:rPr lang="zh-CN" altLang="en-US" sz="3200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给定了一个素数方幂，是否一定存在相应大小的有限域</a:t>
            </a:r>
            <a:r>
              <a:rPr lang="zh-CN" altLang="en-US" sz="32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</a:p>
          <a:p>
            <a:pPr marL="447675" indent="-447675" eaLnBrk="0" latinLnBrk="1" hangingPunct="0">
              <a:lnSpc>
                <a:spcPct val="110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latin typeface="楷体_GB2312" pitchFamily="49" charset="-122"/>
                <a:ea typeface="楷体_GB2312" pitchFamily="49" charset="-122"/>
              </a:rPr>
              <a:t>如果存在，又有多少个？</a:t>
            </a:r>
          </a:p>
        </p:txBody>
      </p:sp>
      <p:sp>
        <p:nvSpPr>
          <p:cNvPr id="36454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6" name="Rectangle 4"/>
          <p:cNvSpPr>
            <a:spLocks noRot="1" noChangeArrowheads="1"/>
          </p:cNvSpPr>
          <p:nvPr/>
        </p:nvSpPr>
        <p:spPr bwMode="auto">
          <a:xfrm>
            <a:off x="304800" y="1196975"/>
            <a:ext cx="8540750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引理</a:t>
            </a:r>
          </a:p>
        </p:txBody>
      </p:sp>
      <p:pic>
        <p:nvPicPr>
          <p:cNvPr id="363527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1844675"/>
            <a:ext cx="8424863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3528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2781300"/>
            <a:ext cx="8353425" cy="2808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63525" name="Rectangle 5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p:oleObj spid="_x0000_s363525" name="公式" r:id="rId5" imgW="0" imgH="0" progId="Equation.3">
              <p:embed/>
            </p:oleObj>
          </a:graphicData>
        </a:graphic>
      </p:graphicFrame>
      <p:sp>
        <p:nvSpPr>
          <p:cNvPr id="36352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3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7" name="Rectangle 4"/>
          <p:cNvSpPr>
            <a:spLocks noRot="1" noChangeArrowheads="1"/>
          </p:cNvSpPr>
          <p:nvPr/>
        </p:nvSpPr>
        <p:spPr bwMode="auto">
          <a:xfrm>
            <a:off x="304800" y="1196975"/>
            <a:ext cx="8540750" cy="719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对该引理的进一步讨论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pic>
        <p:nvPicPr>
          <p:cNvPr id="36761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1989138"/>
            <a:ext cx="8424863" cy="3960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761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4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341438"/>
            <a:ext cx="8424862" cy="143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6557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3284538"/>
            <a:ext cx="8353425" cy="252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4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5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761" name="Rectangle 4"/>
          <p:cNvSpPr>
            <a:spLocks noRot="1" noChangeArrowheads="1"/>
          </p:cNvSpPr>
          <p:nvPr/>
        </p:nvSpPr>
        <p:spPr bwMode="auto">
          <a:xfrm>
            <a:off x="539750" y="1123950"/>
            <a:ext cx="6624638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90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37376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628775"/>
            <a:ext cx="8351837" cy="14398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7376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3716338"/>
            <a:ext cx="82804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3764" name="Text Box 7"/>
          <p:cNvSpPr txBox="1">
            <a:spLocks noChangeArrowheads="1"/>
          </p:cNvSpPr>
          <p:nvPr/>
        </p:nvSpPr>
        <p:spPr bwMode="auto">
          <a:xfrm>
            <a:off x="250825" y="3140075"/>
            <a:ext cx="165576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记号：</a:t>
            </a:r>
          </a:p>
        </p:txBody>
      </p:sp>
      <p:sp>
        <p:nvSpPr>
          <p:cNvPr id="373765" name="Rectangle 8"/>
          <p:cNvSpPr>
            <a:spLocks noChangeArrowheads="1"/>
          </p:cNvSpPr>
          <p:nvPr/>
        </p:nvSpPr>
        <p:spPr bwMode="auto">
          <a:xfrm>
            <a:off x="323850" y="4579938"/>
            <a:ext cx="1255713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注意：</a:t>
            </a:r>
          </a:p>
        </p:txBody>
      </p:sp>
      <p:pic>
        <p:nvPicPr>
          <p:cNvPr id="366598" name="Picture 9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5156200"/>
            <a:ext cx="8353425" cy="151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376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3.4.1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特征概念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6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0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有限域加法特性</a:t>
            </a:r>
          </a:p>
        </p:txBody>
      </p:sp>
      <p:sp>
        <p:nvSpPr>
          <p:cNvPr id="19" name="灯片编号占位符 18"/>
          <p:cNvSpPr txBox="1">
            <a:spLocks noGrp="1"/>
          </p:cNvSpPr>
          <p:nvPr/>
        </p:nvSpPr>
        <p:spPr>
          <a:xfrm>
            <a:off x="8358188" y="6500813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4F1E0B56-CED0-4447-B5B3-22DF08BAA86B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71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75811" name="内容占位符 2"/>
          <p:cNvSpPr txBox="1">
            <a:spLocks/>
          </p:cNvSpPr>
          <p:nvPr/>
        </p:nvSpPr>
        <p:spPr bwMode="auto">
          <a:xfrm>
            <a:off x="447675" y="1446213"/>
            <a:ext cx="6932613" cy="1119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1162050" indent="-1162050" eaLnBrk="0" hangingPunct="0">
              <a:lnSpc>
                <a:spcPct val="125000"/>
              </a:lnSpc>
              <a:buSzPct val="90000"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7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lang="en-US" altLang="zh-CN" b="1" i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上模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次不可约多项式剩余类域有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哪些子域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？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75812" name="矩形 1"/>
          <p:cNvSpPr>
            <a:spLocks noChangeArrowheads="1"/>
          </p:cNvSpPr>
          <p:nvPr/>
        </p:nvSpPr>
        <p:spPr bwMode="auto">
          <a:xfrm>
            <a:off x="468313" y="2708275"/>
            <a:ext cx="8207375" cy="169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162050" indent="-1162050" eaLnBrk="0" hangingPunct="0">
              <a:lnSpc>
                <a:spcPct val="125000"/>
              </a:lnSpc>
              <a:buSzPct val="90000"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问题</a:t>
            </a:r>
            <a:r>
              <a:rPr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8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是域中的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非零元素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0,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,2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b="1">
                <a:ea typeface="楷体_GB2312" pitchFamily="49" charset="-122"/>
              </a:rPr>
              <a:t>…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-1)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是域中互不相同的元素吗？还是会出现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ja=ma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?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73" name="内容占位符 2"/>
          <p:cNvSpPr txBox="1">
            <a:spLocks/>
          </p:cNvSpPr>
          <p:nvPr/>
        </p:nvSpPr>
        <p:spPr bwMode="auto">
          <a:xfrm>
            <a:off x="387350" y="2025650"/>
            <a:ext cx="8215313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对        ，均有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 bwMode="auto">
          <a:xfrm>
            <a:off x="601663" y="857250"/>
            <a:ext cx="7929562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  <a:defRPr/>
            </a:pPr>
            <a:endParaRPr lang="zh-CN" altLang="en-US" b="1" dirty="0">
              <a:latin typeface="宋体" pitchFamily="2" charset="-122"/>
              <a:ea typeface="+mn-ea"/>
            </a:endParaRPr>
          </a:p>
        </p:txBody>
      </p:sp>
      <p:graphicFrame>
        <p:nvGraphicFramePr>
          <p:cNvPr id="369668" name="Object 4"/>
          <p:cNvGraphicFramePr>
            <a:graphicFrameLocks noChangeAspect="1"/>
          </p:cNvGraphicFramePr>
          <p:nvPr/>
        </p:nvGraphicFramePr>
        <p:xfrm>
          <a:off x="1258888" y="2133600"/>
          <a:ext cx="1376362" cy="422275"/>
        </p:xfrm>
        <a:graphic>
          <a:graphicData uri="http://schemas.openxmlformats.org/presentationml/2006/ole">
            <p:oleObj spid="_x0000_s369668" name="Equation" r:id="rId3" imgW="660113" imgH="203112" progId="">
              <p:embed/>
            </p:oleObj>
          </a:graphicData>
        </a:graphic>
      </p:graphicFrame>
      <p:graphicFrame>
        <p:nvGraphicFramePr>
          <p:cNvPr id="369669" name="Object 5"/>
          <p:cNvGraphicFramePr>
            <a:graphicFrameLocks noChangeAspect="1"/>
          </p:cNvGraphicFramePr>
          <p:nvPr/>
        </p:nvGraphicFramePr>
        <p:xfrm>
          <a:off x="1500188" y="2687638"/>
          <a:ext cx="1476375" cy="481012"/>
        </p:xfrm>
        <a:graphic>
          <a:graphicData uri="http://schemas.openxmlformats.org/presentationml/2006/ole">
            <p:oleObj spid="_x0000_s369669" name="Equation" r:id="rId4" imgW="622030" imgH="203112" progId="">
              <p:embed/>
            </p:oleObj>
          </a:graphicData>
        </a:graphic>
      </p:graphicFrame>
      <p:graphicFrame>
        <p:nvGraphicFramePr>
          <p:cNvPr id="369670" name="Object 6"/>
          <p:cNvGraphicFramePr>
            <a:graphicFrameLocks noChangeAspect="1"/>
          </p:cNvGraphicFramePr>
          <p:nvPr/>
        </p:nvGraphicFramePr>
        <p:xfrm>
          <a:off x="3136900" y="2616200"/>
          <a:ext cx="2863850" cy="552450"/>
        </p:xfrm>
        <a:graphic>
          <a:graphicData uri="http://schemas.openxmlformats.org/presentationml/2006/ole">
            <p:oleObj spid="_x0000_s369670" name="Equation" r:id="rId5" imgW="1181100" imgH="228600" progId="">
              <p:embed/>
            </p:oleObj>
          </a:graphicData>
        </a:graphic>
      </p:graphicFrame>
      <p:sp>
        <p:nvSpPr>
          <p:cNvPr id="369675" name="内容占位符 2"/>
          <p:cNvSpPr txBox="1">
            <a:spLocks/>
          </p:cNvSpPr>
          <p:nvPr/>
        </p:nvSpPr>
        <p:spPr bwMode="auto">
          <a:xfrm>
            <a:off x="428625" y="4437063"/>
            <a:ext cx="7929563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宋体" charset="-122"/>
              </a:rPr>
              <a:t> </a:t>
            </a:r>
            <a:endParaRPr lang="zh-CN" altLang="en-US" b="1">
              <a:latin typeface="宋体" charset="-122"/>
            </a:endParaRPr>
          </a:p>
        </p:txBody>
      </p:sp>
      <p:graphicFrame>
        <p:nvGraphicFramePr>
          <p:cNvPr id="369672" name="Object 8"/>
          <p:cNvGraphicFramePr>
            <a:graphicFrameLocks noChangeAspect="1"/>
          </p:cNvGraphicFramePr>
          <p:nvPr/>
        </p:nvGraphicFramePr>
        <p:xfrm>
          <a:off x="901700" y="4508500"/>
          <a:ext cx="2374900" cy="419100"/>
        </p:xfrm>
        <a:graphic>
          <a:graphicData uri="http://schemas.openxmlformats.org/presentationml/2006/ole">
            <p:oleObj spid="_x0000_s369672" name="Equation" r:id="rId6" imgW="2374900" imgH="419100" progId="">
              <p:embed/>
            </p:oleObj>
          </a:graphicData>
        </a:graphic>
      </p:graphicFrame>
      <p:sp>
        <p:nvSpPr>
          <p:cNvPr id="36967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有限域加法特性</a:t>
            </a:r>
          </a:p>
        </p:txBody>
      </p:sp>
      <p:sp>
        <p:nvSpPr>
          <p:cNvPr id="21" name="灯片编号占位符 20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F35023C-E12D-4D9B-8AD9-D3789D9F49DA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72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69678" name="内容占位符 2"/>
          <p:cNvSpPr txBox="1">
            <a:spLocks/>
          </p:cNvSpPr>
          <p:nvPr/>
        </p:nvSpPr>
        <p:spPr bwMode="auto">
          <a:xfrm>
            <a:off x="395288" y="3213100"/>
            <a:ext cx="7345362" cy="1119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lnSpc>
                <a:spcPct val="125000"/>
              </a:lnSpc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0,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,2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en-US" altLang="zh-CN" b="1">
                <a:ea typeface="楷体_GB2312" pitchFamily="49" charset="-122"/>
              </a:rPr>
              <a:t>…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,(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p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-1)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是域中互不相同的元素</a:t>
            </a:r>
            <a:r>
              <a:rPr lang="zh-CN" altLang="en-US" b="1" i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的任意整数倍皆在其中。</a:t>
            </a:r>
          </a:p>
        </p:txBody>
      </p:sp>
      <p:sp>
        <p:nvSpPr>
          <p:cNvPr id="369679" name="矩形 19"/>
          <p:cNvSpPr>
            <a:spLocks noChangeArrowheads="1"/>
          </p:cNvSpPr>
          <p:nvPr/>
        </p:nvSpPr>
        <p:spPr bwMode="auto">
          <a:xfrm>
            <a:off x="428625" y="1393825"/>
            <a:ext cx="78708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3.22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特征为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，有如下结论成立：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endParaRPr lang="zh-CN" altLang="en-US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内容占位符 2"/>
          <p:cNvSpPr txBox="1">
            <a:spLocks/>
          </p:cNvSpPr>
          <p:nvPr/>
        </p:nvSpPr>
        <p:spPr bwMode="auto">
          <a:xfrm>
            <a:off x="857250" y="2863850"/>
            <a:ext cx="7929563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  <a:defRPr/>
            </a:pPr>
            <a:endParaRPr lang="zh-CN" altLang="en-US" b="1" dirty="0">
              <a:latin typeface="宋体" pitchFamily="2" charset="-122"/>
              <a:ea typeface="+mn-ea"/>
            </a:endParaRPr>
          </a:p>
        </p:txBody>
      </p:sp>
      <p:sp>
        <p:nvSpPr>
          <p:cNvPr id="370697" name="内容占位符 2"/>
          <p:cNvSpPr txBox="1">
            <a:spLocks/>
          </p:cNvSpPr>
          <p:nvPr/>
        </p:nvSpPr>
        <p:spPr bwMode="auto">
          <a:xfrm>
            <a:off x="1981200" y="3124200"/>
            <a:ext cx="532765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且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b="1" baseline="-25000">
                <a:latin typeface="楷体_GB2312" pitchFamily="49" charset="-122"/>
                <a:ea typeface="楷体_GB2312" pitchFamily="49" charset="-122"/>
              </a:rPr>
              <a:t>0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的最小子域，称为</a:t>
            </a:r>
            <a:r>
              <a:rPr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素域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37069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3.4.2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有限域加法特性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69850C0E-64F3-4411-BC49-D912D9388840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73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70700" name="矩形 9"/>
          <p:cNvSpPr>
            <a:spLocks noChangeArrowheads="1"/>
          </p:cNvSpPr>
          <p:nvPr/>
        </p:nvSpPr>
        <p:spPr bwMode="auto">
          <a:xfrm>
            <a:off x="365125" y="1158875"/>
            <a:ext cx="8383588" cy="137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619250" indent="-1619250">
              <a:lnSpc>
                <a:spcPct val="150000"/>
              </a:lnSpc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3.23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如果域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特征为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任何子域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都包含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的零元素和单位元素，从而包含：</a:t>
            </a:r>
          </a:p>
        </p:txBody>
      </p:sp>
      <p:graphicFrame>
        <p:nvGraphicFramePr>
          <p:cNvPr id="370695" name="Object 7"/>
          <p:cNvGraphicFramePr>
            <a:graphicFrameLocks noChangeAspect="1"/>
          </p:cNvGraphicFramePr>
          <p:nvPr/>
        </p:nvGraphicFramePr>
        <p:xfrm>
          <a:off x="2089150" y="2697163"/>
          <a:ext cx="5651500" cy="444500"/>
        </p:xfrm>
        <a:graphic>
          <a:graphicData uri="http://schemas.openxmlformats.org/presentationml/2006/ole">
            <p:oleObj spid="_x0000_s370695" name="Equation" r:id="rId4" imgW="5651280" imgH="444240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7" name="Rectangle 3"/>
          <p:cNvSpPr>
            <a:spLocks noChangeArrowheads="1"/>
          </p:cNvSpPr>
          <p:nvPr/>
        </p:nvSpPr>
        <p:spPr bwMode="auto">
          <a:xfrm>
            <a:off x="357188" y="1500188"/>
            <a:ext cx="7929562" cy="314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能解释</a:t>
            </a:r>
            <a:r>
              <a:rPr kumimoji="0" lang="zh-CN" altLang="en-US" b="1">
                <a:solidFill>
                  <a:srgbClr val="0033CC"/>
                </a:solidFill>
                <a:latin typeface="微软雅黑"/>
                <a:ea typeface="楷体_GB2312" pitchFamily="49" charset="-122"/>
                <a:cs typeface="微软雅黑"/>
              </a:rPr>
              <a:t>有限域乘法特性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FF0000"/>
                </a:solidFill>
                <a:latin typeface="微软雅黑"/>
                <a:ea typeface="楷体_GB2312" pitchFamily="49" charset="-122"/>
                <a:cs typeface="微软雅黑"/>
              </a:rPr>
              <a:t>本原元</a:t>
            </a:r>
            <a:r>
              <a:rPr kumimoji="0" lang="zh-CN" altLang="en-US" b="1">
                <a:latin typeface="微软雅黑"/>
                <a:ea typeface="楷体_GB2312" pitchFamily="49" charset="-122"/>
                <a:cs typeface="微软雅黑"/>
              </a:rPr>
              <a:t>的概念与个数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ea typeface="楷体_GB2312" pitchFamily="49" charset="-122"/>
                <a:cs typeface="微软雅黑"/>
              </a:rPr>
              <a:t>有限域</a:t>
            </a:r>
            <a:r>
              <a:rPr kumimoji="0" lang="zh-CN" altLang="en-US" b="1">
                <a:solidFill>
                  <a:srgbClr val="FF0000"/>
                </a:solidFill>
                <a:ea typeface="楷体_GB2312" pitchFamily="49" charset="-122"/>
                <a:cs typeface="微软雅黑"/>
              </a:rPr>
              <a:t>三种表示方式</a:t>
            </a:r>
          </a:p>
          <a:p>
            <a:pPr>
              <a:lnSpc>
                <a:spcPct val="125000"/>
              </a:lnSpc>
              <a:spcBef>
                <a:spcPts val="24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FF0000"/>
                </a:solidFill>
                <a:ea typeface="楷体_GB2312" pitchFamily="49" charset="-122"/>
                <a:cs typeface="微软雅黑"/>
              </a:rPr>
              <a:t>子域</a:t>
            </a:r>
            <a:r>
              <a:rPr kumimoji="0" lang="zh-CN" altLang="en-US" b="1">
                <a:ea typeface="楷体_GB2312" pitchFamily="49" charset="-122"/>
                <a:cs typeface="微软雅黑"/>
              </a:rPr>
              <a:t>概念与性质</a:t>
            </a:r>
          </a:p>
        </p:txBody>
      </p:sp>
      <p:sp>
        <p:nvSpPr>
          <p:cNvPr id="37785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第二阶段学习目标</a:t>
            </a:r>
          </a:p>
        </p:txBody>
      </p:sp>
      <p:sp>
        <p:nvSpPr>
          <p:cNvPr id="12" name="灯片编号占位符 11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9B3B772A-060B-4AE5-A18A-F7F3928E9740}" type="slidenum">
              <a:rPr lang="en-US" altLang="zh-CN" sz="18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74</a:t>
            </a:fld>
            <a:endParaRPr lang="en-US" altLang="zh-CN" sz="18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5" name="Text Box 179"/>
          <p:cNvSpPr txBox="1">
            <a:spLocks noChangeArrowheads="1"/>
          </p:cNvSpPr>
          <p:nvPr/>
        </p:nvSpPr>
        <p:spPr bwMode="auto">
          <a:xfrm>
            <a:off x="428625" y="1428750"/>
            <a:ext cx="8215313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901700" indent="-901700">
              <a:lnSpc>
                <a:spcPct val="130000"/>
              </a:lnSpc>
            </a:pP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：已知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上不可约多项式，写出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的剩余类域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7990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0046F396-0C9D-4032-8F12-4B44B1C0D926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75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graphicFrame>
        <p:nvGraphicFramePr>
          <p:cNvPr id="374789" name="Group 5"/>
          <p:cNvGraphicFramePr>
            <a:graphicFrameLocks noGrp="1"/>
          </p:cNvGraphicFramePr>
          <p:nvPr/>
        </p:nvGraphicFramePr>
        <p:xfrm>
          <a:off x="2268538" y="3068638"/>
          <a:ext cx="3960812" cy="2286000"/>
        </p:xfrm>
        <a:graphic>
          <a:graphicData uri="http://schemas.openxmlformats.org/drawingml/2006/table">
            <a:tbl>
              <a:tblPr/>
              <a:tblGrid>
                <a:gridCol w="1122362"/>
                <a:gridCol w="1328738"/>
                <a:gridCol w="1509712"/>
              </a:tblGrid>
              <a:tr h="288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1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0099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0" i="0" u="none" strike="noStrike" cap="none" normalizeH="0" baseline="0" smtClean="0">
                        <a:ln>
                          <a:noFill/>
                        </a:ln>
                        <a:solidFill>
                          <a:srgbClr val="333399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ahoma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1" lang="de-DE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FF0066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+x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de-DE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r>
                        <a:rPr kumimoji="1" lang="de-DE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0066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cs typeface="Times New Roman" pitchFamily="18" charset="0"/>
                        </a:rPr>
                        <a:t>+1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4815" name="Rectangle 31"/>
          <p:cNvSpPr>
            <a:spLocks noChangeArrowheads="1"/>
          </p:cNvSpPr>
          <p:nvPr/>
        </p:nvSpPr>
        <p:spPr bwMode="auto">
          <a:xfrm>
            <a:off x="768350" y="5876925"/>
            <a:ext cx="74041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</a:rPr>
              <a:t>F</a:t>
            </a:r>
            <a:r>
              <a:rPr lang="en-US" altLang="zh-CN" b="1" baseline="-25000">
                <a:solidFill>
                  <a:srgbClr val="0033CC"/>
                </a:solidFill>
              </a:rPr>
              <a:t>8</a:t>
            </a:r>
            <a:r>
              <a:rPr lang="en-US" altLang="zh-CN" b="1">
                <a:solidFill>
                  <a:srgbClr val="0033CC"/>
                </a:solidFill>
              </a:rPr>
              <a:t>={0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x+1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+1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+x</a:t>
            </a:r>
            <a:r>
              <a:rPr lang="zh-CN" altLang="en-US" b="1">
                <a:solidFill>
                  <a:srgbClr val="0033CC"/>
                </a:solidFill>
              </a:rPr>
              <a:t>，</a:t>
            </a:r>
            <a:r>
              <a:rPr lang="en-US" altLang="zh-CN" b="1">
                <a:solidFill>
                  <a:srgbClr val="0033CC"/>
                </a:solidFill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+x+1} 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48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48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815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2726" name="Group 37"/>
          <p:cNvGraphicFramePr>
            <a:graphicFrameLocks noGrp="1"/>
          </p:cNvGraphicFramePr>
          <p:nvPr>
            <p:ph idx="4294967295"/>
          </p:nvPr>
        </p:nvGraphicFramePr>
        <p:xfrm>
          <a:off x="1011238" y="1906588"/>
          <a:ext cx="4856162" cy="4114800"/>
        </p:xfrm>
        <a:graphic>
          <a:graphicData uri="http://schemas.openxmlformats.org/drawingml/2006/table">
            <a:tbl>
              <a:tblPr/>
              <a:tblGrid>
                <a:gridCol w="2130425"/>
                <a:gridCol w="2725737"/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多项式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生成元</a:t>
                      </a: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幂元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+x+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76902" name="Text Box 179"/>
          <p:cNvSpPr txBox="1">
            <a:spLocks noChangeArrowheads="1"/>
          </p:cNvSpPr>
          <p:nvPr/>
        </p:nvSpPr>
        <p:spPr bwMode="auto">
          <a:xfrm>
            <a:off x="428625" y="1196975"/>
            <a:ext cx="82153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的剩余类域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7690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9E87009-5D7A-4CE8-B9C8-6EEE2335EA3D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76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grpSp>
        <p:nvGrpSpPr>
          <p:cNvPr id="376908" name="Group 76"/>
          <p:cNvGrpSpPr>
            <a:grpSpLocks/>
          </p:cNvGrpSpPr>
          <p:nvPr/>
        </p:nvGrpSpPr>
        <p:grpSpPr bwMode="auto">
          <a:xfrm>
            <a:off x="5976938" y="3198813"/>
            <a:ext cx="2987675" cy="1793875"/>
            <a:chOff x="3765" y="2015"/>
            <a:chExt cx="1882" cy="1130"/>
          </a:xfrm>
        </p:grpSpPr>
        <p:graphicFrame>
          <p:nvGraphicFramePr>
            <p:cNvPr id="376869" name="Object 37"/>
            <p:cNvGraphicFramePr>
              <a:graphicFrameLocks noChangeAspect="1"/>
            </p:cNvGraphicFramePr>
            <p:nvPr/>
          </p:nvGraphicFramePr>
          <p:xfrm>
            <a:off x="3765" y="2015"/>
            <a:ext cx="1882" cy="326"/>
          </p:xfrm>
          <a:graphic>
            <a:graphicData uri="http://schemas.openxmlformats.org/presentationml/2006/ole">
              <p:oleObj spid="_x0000_s376869" name="公式" r:id="rId4" imgW="1320480" imgH="228600" progId="Equation.3">
                <p:embed/>
              </p:oleObj>
            </a:graphicData>
          </a:graphic>
        </p:graphicFrame>
        <p:sp>
          <p:nvSpPr>
            <p:cNvPr id="376907" name="Text Box 38"/>
            <p:cNvSpPr txBox="1">
              <a:spLocks noChangeArrowheads="1"/>
            </p:cNvSpPr>
            <p:nvPr/>
          </p:nvSpPr>
          <p:spPr bwMode="auto">
            <a:xfrm>
              <a:off x="3878" y="2387"/>
              <a:ext cx="1633" cy="7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所以</a:t>
              </a:r>
              <a:r>
                <a:rPr lang="en-US" altLang="zh-CN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x</a:t>
              </a:r>
              <a:r>
                <a:rPr lang="zh-CN" altLang="en-US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的阶为</a:t>
              </a:r>
              <a:r>
                <a:rPr lang="en-US" altLang="zh-CN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7, x</a:t>
              </a:r>
              <a:r>
                <a:rPr lang="zh-CN" altLang="en-US" b="1">
                  <a:solidFill>
                    <a:srgbClr val="FF0000"/>
                  </a:solidFill>
                  <a:latin typeface="楷体_GB2312" pitchFamily="49" charset="-122"/>
                  <a:ea typeface="楷体_GB2312" pitchFamily="49" charset="-122"/>
                </a:rPr>
                <a:t>是生成元。</a:t>
              </a:r>
            </a:p>
          </p:txBody>
        </p:sp>
      </p:grpSp>
      <p:sp>
        <p:nvSpPr>
          <p:cNvPr id="376906" name="Text Box 179"/>
          <p:cNvSpPr txBox="1">
            <a:spLocks noChangeArrowheads="1"/>
          </p:cNvSpPr>
          <p:nvPr/>
        </p:nvSpPr>
        <p:spPr bwMode="auto">
          <a:xfrm>
            <a:off x="428625" y="6137275"/>
            <a:ext cx="7815263" cy="531813"/>
          </a:xfrm>
          <a:prstGeom prst="rect">
            <a:avLst/>
          </a:prstGeom>
          <a:noFill/>
          <a:ln w="12700">
            <a:solidFill>
              <a:srgbClr val="6699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0" lang="zh-CN" altLang="en-US" b="1">
                <a:solidFill>
                  <a:srgbClr val="CC0099"/>
                </a:solidFill>
                <a:ea typeface="楷体_GB2312" pitchFamily="49" charset="-122"/>
                <a:cs typeface="Times New Roman" pitchFamily="18" charset="0"/>
              </a:rPr>
              <a:t>思考</a:t>
            </a:r>
            <a:r>
              <a:rPr kumimoji="0" lang="zh-CN" altLang="en-US" b="1">
                <a:ea typeface="楷体_GB2312" pitchFamily="49" charset="-122"/>
                <a:cs typeface="Times New Roman" pitchFamily="18" charset="0"/>
              </a:rPr>
              <a:t>：你发现了剩余类域的</a:t>
            </a:r>
            <a:r>
              <a:rPr kumimoji="0" lang="zh-CN" altLang="en-US" b="1">
                <a:solidFill>
                  <a:srgbClr val="0033CC"/>
                </a:solidFill>
                <a:ea typeface="楷体_GB2312" pitchFamily="49" charset="-122"/>
                <a:cs typeface="Times New Roman" pitchFamily="18" charset="0"/>
              </a:rPr>
              <a:t>乘法群</a:t>
            </a:r>
            <a:r>
              <a:rPr kumimoji="0" lang="zh-CN" altLang="en-US" b="1">
                <a:ea typeface="楷体_GB2312" pitchFamily="49" charset="-122"/>
                <a:cs typeface="Times New Roman" pitchFamily="18" charset="0"/>
              </a:rPr>
              <a:t>有什么性质？</a:t>
            </a:r>
            <a:endParaRPr kumimoji="0" lang="en-US" altLang="zh-CN" b="1"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6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69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69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690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8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29" name="灯片编号占位符 28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E0D3936A-A467-44D1-8C13-4EC5FEA05FD9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77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78891" name="内容占位符 2"/>
          <p:cNvSpPr txBox="1">
            <a:spLocks/>
          </p:cNvSpPr>
          <p:nvPr/>
        </p:nvSpPr>
        <p:spPr bwMode="auto">
          <a:xfrm>
            <a:off x="428625" y="1428750"/>
            <a:ext cx="6880225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3.24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为有限域，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的阶为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，则：</a:t>
            </a:r>
          </a:p>
        </p:txBody>
      </p:sp>
      <p:sp>
        <p:nvSpPr>
          <p:cNvPr id="378892" name="内容占位符 2"/>
          <p:cNvSpPr txBox="1">
            <a:spLocks/>
          </p:cNvSpPr>
          <p:nvPr/>
        </p:nvSpPr>
        <p:spPr bwMode="auto">
          <a:xfrm>
            <a:off x="571500" y="2133600"/>
            <a:ext cx="522446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F\{0}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关于乘法是循环群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78893" name="内容占位符 2"/>
          <p:cNvSpPr txBox="1">
            <a:spLocks/>
          </p:cNvSpPr>
          <p:nvPr/>
        </p:nvSpPr>
        <p:spPr bwMode="auto">
          <a:xfrm>
            <a:off x="571500" y="2852738"/>
            <a:ext cx="8001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lnSpc>
                <a:spcPct val="125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F\{0}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关于乘法群的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生成元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，则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为生成元当且仅当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互素。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78894" name="内容占位符 2"/>
          <p:cNvSpPr txBox="1">
            <a:spLocks/>
          </p:cNvSpPr>
          <p:nvPr/>
        </p:nvSpPr>
        <p:spPr bwMode="auto">
          <a:xfrm>
            <a:off x="579438" y="4260850"/>
            <a:ext cx="5207000" cy="60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58775" indent="-358775" eaLnBrk="0" hangingPunct="0"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F\{0}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</a:t>
            </a:r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生成元的个数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         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78888" name="Object 8"/>
          <p:cNvGraphicFramePr>
            <a:graphicFrameLocks noChangeAspect="1"/>
          </p:cNvGraphicFramePr>
          <p:nvPr/>
        </p:nvGraphicFramePr>
        <p:xfrm>
          <a:off x="4787900" y="4221163"/>
          <a:ext cx="1406525" cy="546100"/>
        </p:xfrm>
        <a:graphic>
          <a:graphicData uri="http://schemas.openxmlformats.org/presentationml/2006/ole">
            <p:oleObj spid="_x0000_s378888" name="Equation" r:id="rId4" imgW="583947" imgH="228501" progId="">
              <p:embed/>
            </p:oleObj>
          </a:graphicData>
        </a:graphic>
      </p:graphicFrame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108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431109" name="Text Box 44"/>
          <p:cNvSpPr txBox="1">
            <a:spLocks noChangeArrowheads="1"/>
          </p:cNvSpPr>
          <p:nvPr/>
        </p:nvSpPr>
        <p:spPr bwMode="auto">
          <a:xfrm>
            <a:off x="285750" y="1470025"/>
            <a:ext cx="6878638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剩余类域</a:t>
            </a:r>
            <a:endParaRPr kumimoji="0" lang="en-US" altLang="zh-CN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31110" name="Rectangle 4"/>
          <p:cNvSpPr>
            <a:spLocks noChangeArrowheads="1"/>
          </p:cNvSpPr>
          <p:nvPr/>
        </p:nvSpPr>
        <p:spPr bwMode="auto">
          <a:xfrm>
            <a:off x="1330325" y="2095500"/>
            <a:ext cx="6913563" cy="111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de-DE">
                <a:latin typeface="楷体_GB2312" pitchFamily="49" charset="-122"/>
                <a:ea typeface="楷体_GB2312" pitchFamily="49" charset="-122"/>
              </a:rPr>
              <a:t>∵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Z</a:t>
            </a:r>
            <a:r>
              <a:rPr lang="de-DE" altLang="zh-CN" baseline="-25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[x]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中所有次数≤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的不可约多项式只有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x+1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和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de-DE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de-DE" altLang="zh-CN">
                <a:latin typeface="楷体_GB2312" pitchFamily="49" charset="-122"/>
                <a:ea typeface="楷体_GB2312" pitchFamily="49" charset="-122"/>
              </a:rPr>
              <a:t>+x+1</a:t>
            </a:r>
            <a:r>
              <a:rPr lang="zh-CN" altLang="de-DE">
                <a:latin typeface="楷体_GB2312" pitchFamily="49" charset="-122"/>
                <a:ea typeface="楷体_GB2312" pitchFamily="49" charset="-122"/>
              </a:rPr>
              <a:t>，且    </a:t>
            </a:r>
          </a:p>
        </p:txBody>
      </p:sp>
      <p:grpSp>
        <p:nvGrpSpPr>
          <p:cNvPr id="431117" name="Group 13"/>
          <p:cNvGrpSpPr>
            <a:grpSpLocks/>
          </p:cNvGrpSpPr>
          <p:nvPr/>
        </p:nvGrpSpPr>
        <p:grpSpPr bwMode="auto">
          <a:xfrm>
            <a:off x="1763713" y="3213100"/>
            <a:ext cx="4781550" cy="1511300"/>
            <a:chOff x="1111" y="2024"/>
            <a:chExt cx="3012" cy="952"/>
          </a:xfrm>
        </p:grpSpPr>
        <p:sp>
          <p:nvSpPr>
            <p:cNvPr id="431111" name="Text Box 7"/>
            <p:cNvSpPr txBox="1">
              <a:spLocks noChangeArrowheads="1"/>
            </p:cNvSpPr>
            <p:nvPr/>
          </p:nvSpPr>
          <p:spPr bwMode="auto">
            <a:xfrm>
              <a:off x="1111" y="2024"/>
              <a:ext cx="30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x</a:t>
              </a:r>
              <a:r>
                <a:rPr lang="en-US" altLang="zh-CN" baseline="30000"/>
                <a:t>4</a:t>
              </a:r>
              <a:r>
                <a:rPr lang="en-US" altLang="zh-CN"/>
                <a:t>+x</a:t>
              </a:r>
              <a:r>
                <a:rPr lang="en-US" altLang="zh-CN" baseline="30000"/>
                <a:t>3</a:t>
              </a:r>
              <a:r>
                <a:rPr lang="en-US" altLang="zh-CN"/>
                <a:t>+x</a:t>
              </a:r>
              <a:r>
                <a:rPr lang="en-US" altLang="zh-CN" baseline="30000"/>
                <a:t>2</a:t>
              </a:r>
              <a:r>
                <a:rPr lang="en-US" altLang="zh-CN"/>
                <a:t>+x+1=x(x</a:t>
              </a:r>
              <a:r>
                <a:rPr lang="en-US" altLang="zh-CN" baseline="30000"/>
                <a:t>3</a:t>
              </a:r>
              <a:r>
                <a:rPr lang="en-US" altLang="zh-CN"/>
                <a:t>+x</a:t>
              </a:r>
              <a:r>
                <a:rPr lang="en-US" altLang="zh-CN" baseline="30000"/>
                <a:t>2</a:t>
              </a:r>
              <a:r>
                <a:rPr lang="en-US" altLang="zh-CN"/>
                <a:t>+x+1)+1</a:t>
              </a:r>
            </a:p>
          </p:txBody>
        </p:sp>
        <p:sp>
          <p:nvSpPr>
            <p:cNvPr id="431112" name="Text Box 8"/>
            <p:cNvSpPr txBox="1">
              <a:spLocks noChangeArrowheads="1"/>
            </p:cNvSpPr>
            <p:nvPr/>
          </p:nvSpPr>
          <p:spPr bwMode="auto">
            <a:xfrm>
              <a:off x="1111" y="2332"/>
              <a:ext cx="2848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x</a:t>
              </a:r>
              <a:r>
                <a:rPr lang="en-US" altLang="zh-CN" baseline="30000"/>
                <a:t>4</a:t>
              </a:r>
              <a:r>
                <a:rPr lang="en-US" altLang="zh-CN"/>
                <a:t>+x</a:t>
              </a:r>
              <a:r>
                <a:rPr lang="en-US" altLang="zh-CN" baseline="30000"/>
                <a:t>3</a:t>
              </a:r>
              <a:r>
                <a:rPr lang="en-US" altLang="zh-CN"/>
                <a:t>+x</a:t>
              </a:r>
              <a:r>
                <a:rPr lang="en-US" altLang="zh-CN" baseline="30000"/>
                <a:t>2</a:t>
              </a:r>
              <a:r>
                <a:rPr lang="en-US" altLang="zh-CN"/>
                <a:t>+x+1=(x+1)(x</a:t>
              </a:r>
              <a:r>
                <a:rPr lang="en-US" altLang="zh-CN" baseline="30000"/>
                <a:t>3</a:t>
              </a:r>
              <a:r>
                <a:rPr lang="en-US" altLang="zh-CN"/>
                <a:t>+x)+1</a:t>
              </a:r>
            </a:p>
          </p:txBody>
        </p:sp>
        <p:sp>
          <p:nvSpPr>
            <p:cNvPr id="431113" name="Text Box 9"/>
            <p:cNvSpPr txBox="1">
              <a:spLocks noChangeArrowheads="1"/>
            </p:cNvSpPr>
            <p:nvPr/>
          </p:nvSpPr>
          <p:spPr bwMode="auto">
            <a:xfrm>
              <a:off x="1111" y="2649"/>
              <a:ext cx="301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x</a:t>
              </a:r>
              <a:r>
                <a:rPr lang="en-US" altLang="zh-CN" baseline="30000"/>
                <a:t>4</a:t>
              </a:r>
              <a:r>
                <a:rPr lang="en-US" altLang="zh-CN"/>
                <a:t>+x</a:t>
              </a:r>
              <a:r>
                <a:rPr lang="en-US" altLang="zh-CN" baseline="30000"/>
                <a:t>3</a:t>
              </a:r>
              <a:r>
                <a:rPr lang="en-US" altLang="zh-CN"/>
                <a:t>+x</a:t>
              </a:r>
              <a:r>
                <a:rPr lang="en-US" altLang="zh-CN" baseline="30000"/>
                <a:t>2</a:t>
              </a:r>
              <a:r>
                <a:rPr lang="en-US" altLang="zh-CN"/>
                <a:t>+x+1=(x</a:t>
              </a:r>
              <a:r>
                <a:rPr lang="en-US" altLang="zh-CN" baseline="30000"/>
                <a:t>2</a:t>
              </a:r>
              <a:r>
                <a:rPr lang="en-US" altLang="zh-CN"/>
                <a:t>+x+1)x</a:t>
              </a:r>
              <a:r>
                <a:rPr lang="en-US" altLang="zh-CN" baseline="30000"/>
                <a:t>2</a:t>
              </a:r>
              <a:r>
                <a:rPr lang="en-US" altLang="zh-CN"/>
                <a:t>+x+1</a:t>
              </a:r>
            </a:p>
          </p:txBody>
        </p:sp>
      </p:grpSp>
      <p:sp>
        <p:nvSpPr>
          <p:cNvPr id="351339" name="Rectangle 107"/>
          <p:cNvSpPr>
            <a:spLocks noChangeArrowheads="1"/>
          </p:cNvSpPr>
          <p:nvPr/>
        </p:nvSpPr>
        <p:spPr bwMode="auto">
          <a:xfrm>
            <a:off x="1331913" y="5445125"/>
            <a:ext cx="6456362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即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f(x)=x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+x+1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是不可约多项式。 </a:t>
            </a:r>
          </a:p>
        </p:txBody>
      </p:sp>
      <p:sp>
        <p:nvSpPr>
          <p:cNvPr id="431116" name="Rectangle 12"/>
          <p:cNvSpPr>
            <a:spLocks noChangeArrowheads="1"/>
          </p:cNvSpPr>
          <p:nvPr/>
        </p:nvSpPr>
        <p:spPr bwMode="auto">
          <a:xfrm>
            <a:off x="1331913" y="4781550"/>
            <a:ext cx="6738937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∴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x, x+1, 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+x+1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不是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x</a:t>
            </a:r>
            <a:r>
              <a:rPr lang="en-US" altLang="zh-CN" baseline="30000">
                <a:latin typeface="楷体_GB2312" pitchFamily="49" charset="-122"/>
                <a:ea typeface="楷体_GB2312" pitchFamily="49" charset="-122"/>
              </a:rPr>
              <a:t>4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aseline="30000"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+x</a:t>
            </a:r>
            <a:r>
              <a:rPr lang="en-US" altLang="zh-CN" baseline="30000"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>
                <a:latin typeface="楷体_GB2312" pitchFamily="49" charset="-122"/>
                <a:ea typeface="楷体_GB2312" pitchFamily="49" charset="-122"/>
              </a:rPr>
              <a:t>+x+1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的因子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1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1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1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0" grpId="0"/>
      <p:bldP spid="351339" grpId="0"/>
      <p:bldP spid="431116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40" name="Rectangle 45"/>
          <p:cNvSpPr>
            <a:spLocks noChangeArrowheads="1"/>
          </p:cNvSpPr>
          <p:nvPr/>
        </p:nvSpPr>
        <p:spPr bwMode="auto">
          <a:xfrm>
            <a:off x="500063" y="2117725"/>
            <a:ext cx="5800725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（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）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不是生成元</a:t>
            </a:r>
            <a:r>
              <a:rPr kumimoji="0" lang="zh-CN" altLang="en-US" b="1">
                <a:solidFill>
                  <a:srgbClr val="FF0066"/>
                </a:solidFill>
                <a:latin typeface="楷体_GB2312" pitchFamily="49" charset="-122"/>
                <a:ea typeface="楷体_GB2312" pitchFamily="49" charset="-122"/>
              </a:rPr>
              <a:t>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, 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</a:rPr>
              <a:t>+1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</a:rPr>
              <a:t>是生成元。</a:t>
            </a:r>
            <a:endParaRPr kumimoji="0" lang="en-US" altLang="zh-CN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0941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grpSp>
        <p:nvGrpSpPr>
          <p:cNvPr id="111750" name="Group 134"/>
          <p:cNvGrpSpPr>
            <a:grpSpLocks/>
          </p:cNvGrpSpPr>
          <p:nvPr/>
        </p:nvGrpSpPr>
        <p:grpSpPr bwMode="auto">
          <a:xfrm>
            <a:off x="539750" y="3933825"/>
            <a:ext cx="8286750" cy="635000"/>
            <a:chOff x="340" y="2357"/>
            <a:chExt cx="5220" cy="400"/>
          </a:xfrm>
        </p:grpSpPr>
        <p:sp>
          <p:nvSpPr>
            <p:cNvPr id="380946" name="内容占位符 2"/>
            <p:cNvSpPr txBox="1">
              <a:spLocks/>
            </p:cNvSpPr>
            <p:nvPr/>
          </p:nvSpPr>
          <p:spPr bwMode="auto">
            <a:xfrm>
              <a:off x="340" y="2357"/>
              <a:ext cx="5220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42900" indent="-342900" eaLnBrk="0" hangingPunct="0">
                <a:lnSpc>
                  <a:spcPct val="125000"/>
                </a:lnSpc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itchFamily="2" charset="2"/>
                <a:buNone/>
              </a:pP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（</a:t>
              </a:r>
              <a:r>
                <a:rPr lang="en-US" altLang="zh-CN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2</a:t>
              </a:r>
              <a:r>
                <a:rPr lang="zh-CN" altLang="en-US" b="1">
                  <a:latin typeface="楷体_GB2312" pitchFamily="49" charset="-122"/>
                  <a:ea typeface="楷体_GB2312" pitchFamily="49" charset="-122"/>
                  <a:cs typeface="Times New Roman" pitchFamily="18" charset="0"/>
                </a:rPr>
                <a:t>）该域共有           个生成元：</a:t>
              </a:r>
            </a:p>
          </p:txBody>
        </p:sp>
        <p:graphicFrame>
          <p:nvGraphicFramePr>
            <p:cNvPr id="71681" name="Object 6"/>
            <p:cNvGraphicFramePr>
              <a:graphicFrameLocks noChangeAspect="1"/>
            </p:cNvGraphicFramePr>
            <p:nvPr/>
          </p:nvGraphicFramePr>
          <p:xfrm>
            <a:off x="1890" y="2453"/>
            <a:ext cx="1168" cy="304"/>
          </p:xfrm>
          <a:graphic>
            <a:graphicData uri="http://schemas.openxmlformats.org/presentationml/2006/ole">
              <p:oleObj spid="_x0000_s380934" name="Equation" r:id="rId4" imgW="1854200" imgH="482600" progId="">
                <p:embed/>
              </p:oleObj>
            </a:graphicData>
          </a:graphic>
        </p:graphicFrame>
      </p:grpSp>
      <p:grpSp>
        <p:nvGrpSpPr>
          <p:cNvPr id="111751" name="Group 135"/>
          <p:cNvGrpSpPr>
            <a:grpSpLocks/>
          </p:cNvGrpSpPr>
          <p:nvPr/>
        </p:nvGrpSpPr>
        <p:grpSpPr bwMode="auto">
          <a:xfrm>
            <a:off x="1384300" y="4824413"/>
            <a:ext cx="5635625" cy="1125537"/>
            <a:chOff x="863" y="2948"/>
            <a:chExt cx="3550" cy="709"/>
          </a:xfrm>
        </p:grpSpPr>
        <p:graphicFrame>
          <p:nvGraphicFramePr>
            <p:cNvPr id="71682" name="Object 8"/>
            <p:cNvGraphicFramePr>
              <a:graphicFrameLocks noChangeAspect="1"/>
            </p:cNvGraphicFramePr>
            <p:nvPr/>
          </p:nvGraphicFramePr>
          <p:xfrm>
            <a:off x="877" y="2948"/>
            <a:ext cx="3536" cy="304"/>
          </p:xfrm>
          <a:graphic>
            <a:graphicData uri="http://schemas.openxmlformats.org/presentationml/2006/ole">
              <p:oleObj spid="_x0000_s380936" name="Equation" r:id="rId5" imgW="5613400" imgH="482600" progId="">
                <p:embed/>
              </p:oleObj>
            </a:graphicData>
          </a:graphic>
        </p:graphicFrame>
        <p:graphicFrame>
          <p:nvGraphicFramePr>
            <p:cNvPr id="71683" name="Object 9"/>
            <p:cNvGraphicFramePr>
              <a:graphicFrameLocks noChangeAspect="1"/>
            </p:cNvGraphicFramePr>
            <p:nvPr/>
          </p:nvGraphicFramePr>
          <p:xfrm>
            <a:off x="863" y="3353"/>
            <a:ext cx="2416" cy="304"/>
          </p:xfrm>
          <a:graphic>
            <a:graphicData uri="http://schemas.openxmlformats.org/presentationml/2006/ole">
              <p:oleObj spid="_x0000_s380937" name="Equation" r:id="rId6" imgW="3835080" imgH="482400" progId="">
                <p:embed/>
              </p:oleObj>
            </a:graphicData>
          </a:graphic>
        </p:graphicFrame>
      </p:grpSp>
      <p:sp>
        <p:nvSpPr>
          <p:cNvPr id="380944" name="Text Box 44"/>
          <p:cNvSpPr txBox="1">
            <a:spLocks noChangeArrowheads="1"/>
          </p:cNvSpPr>
          <p:nvPr/>
        </p:nvSpPr>
        <p:spPr bwMode="auto">
          <a:xfrm>
            <a:off x="285750" y="1484313"/>
            <a:ext cx="6643688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剩余类域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111749" name="Object 11"/>
          <p:cNvGraphicFramePr>
            <a:graphicFrameLocks noChangeAspect="1"/>
          </p:cNvGraphicFramePr>
          <p:nvPr/>
        </p:nvGraphicFramePr>
        <p:xfrm>
          <a:off x="1547813" y="3295650"/>
          <a:ext cx="4679950" cy="565150"/>
        </p:xfrm>
        <a:graphic>
          <a:graphicData uri="http://schemas.openxmlformats.org/presentationml/2006/ole">
            <p:oleObj spid="_x0000_s380939" name="公式" r:id="rId7" imgW="1892160" imgH="228600" progId="Equation.3">
              <p:embed/>
            </p:oleObj>
          </a:graphicData>
        </a:graphic>
      </p:graphicFrame>
      <p:sp>
        <p:nvSpPr>
          <p:cNvPr id="380945" name="Text Box 19"/>
          <p:cNvSpPr txBox="1">
            <a:spLocks noChangeArrowheads="1"/>
          </p:cNvSpPr>
          <p:nvPr/>
        </p:nvSpPr>
        <p:spPr bwMode="auto">
          <a:xfrm>
            <a:off x="1331913" y="2693988"/>
            <a:ext cx="26860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生成元的阶为</a:t>
            </a:r>
            <a:r>
              <a:rPr lang="en-US" altLang="zh-CN" b="1">
                <a:solidFill>
                  <a:srgbClr val="CC0099"/>
                </a:solidFill>
                <a:latin typeface="楷体_GB2312" pitchFamily="49" charset="-122"/>
                <a:ea typeface="楷体_GB2312" pitchFamily="49" charset="-122"/>
              </a:rPr>
              <a:t>15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1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1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94" name="内容占位符 2"/>
          <p:cNvSpPr txBox="1">
            <a:spLocks/>
          </p:cNvSpPr>
          <p:nvPr/>
        </p:nvSpPr>
        <p:spPr bwMode="auto">
          <a:xfrm>
            <a:off x="107950" y="3929063"/>
            <a:ext cx="8424863" cy="108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SzPct val="90000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引理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为一个有限交换群，假定  中元素的阶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最大为  ，则  中任何元素的阶都是  的因子。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82979" name="Object 3"/>
          <p:cNvGraphicFramePr>
            <a:graphicFrameLocks noChangeAspect="1"/>
          </p:cNvGraphicFramePr>
          <p:nvPr/>
        </p:nvGraphicFramePr>
        <p:xfrm>
          <a:off x="1803400" y="4046538"/>
          <a:ext cx="344488" cy="369887"/>
        </p:xfrm>
        <a:graphic>
          <a:graphicData uri="http://schemas.openxmlformats.org/presentationml/2006/ole">
            <p:oleObj spid="_x0000_s382979" name="Equation" r:id="rId4" imgW="164814" imgH="177492" progId="">
              <p:embed/>
            </p:oleObj>
          </a:graphicData>
        </a:graphic>
      </p:graphicFrame>
      <p:graphicFrame>
        <p:nvGraphicFramePr>
          <p:cNvPr id="382980" name="Object 4"/>
          <p:cNvGraphicFramePr>
            <a:graphicFrameLocks noChangeAspect="1"/>
          </p:cNvGraphicFramePr>
          <p:nvPr/>
        </p:nvGraphicFramePr>
        <p:xfrm>
          <a:off x="6110288" y="4013200"/>
          <a:ext cx="344487" cy="369888"/>
        </p:xfrm>
        <a:graphic>
          <a:graphicData uri="http://schemas.openxmlformats.org/presentationml/2006/ole">
            <p:oleObj spid="_x0000_s382980" name="Equation" r:id="rId5" imgW="164814" imgH="177492" progId="">
              <p:embed/>
            </p:oleObj>
          </a:graphicData>
        </a:graphic>
      </p:graphicFrame>
      <p:graphicFrame>
        <p:nvGraphicFramePr>
          <p:cNvPr id="382981" name="Object 5"/>
          <p:cNvGraphicFramePr>
            <a:graphicFrameLocks noChangeAspect="1"/>
          </p:cNvGraphicFramePr>
          <p:nvPr/>
        </p:nvGraphicFramePr>
        <p:xfrm>
          <a:off x="1463675" y="4533900"/>
          <a:ext cx="357188" cy="395288"/>
        </p:xfrm>
        <a:graphic>
          <a:graphicData uri="http://schemas.openxmlformats.org/presentationml/2006/ole">
            <p:oleObj spid="_x0000_s382981" name="Equation" r:id="rId6" imgW="126835" imgH="139518" progId="">
              <p:embed/>
            </p:oleObj>
          </a:graphicData>
        </a:graphic>
      </p:graphicFrame>
      <p:graphicFrame>
        <p:nvGraphicFramePr>
          <p:cNvPr id="382982" name="Object 6"/>
          <p:cNvGraphicFramePr>
            <a:graphicFrameLocks noChangeAspect="1"/>
          </p:cNvGraphicFramePr>
          <p:nvPr/>
        </p:nvGraphicFramePr>
        <p:xfrm>
          <a:off x="6084888" y="4535488"/>
          <a:ext cx="357187" cy="393700"/>
        </p:xfrm>
        <a:graphic>
          <a:graphicData uri="http://schemas.openxmlformats.org/presentationml/2006/ole">
            <p:oleObj spid="_x0000_s382982" name="Equation" r:id="rId7" imgW="126835" imgH="139518" progId="">
              <p:embed/>
            </p:oleObj>
          </a:graphicData>
        </a:graphic>
      </p:graphicFrame>
      <p:graphicFrame>
        <p:nvGraphicFramePr>
          <p:cNvPr id="382983" name="Object 7"/>
          <p:cNvGraphicFramePr>
            <a:graphicFrameLocks noChangeAspect="1"/>
          </p:cNvGraphicFramePr>
          <p:nvPr/>
        </p:nvGraphicFramePr>
        <p:xfrm>
          <a:off x="2555875" y="4533900"/>
          <a:ext cx="344488" cy="369888"/>
        </p:xfrm>
        <a:graphic>
          <a:graphicData uri="http://schemas.openxmlformats.org/presentationml/2006/ole">
            <p:oleObj spid="_x0000_s382983" name="Equation" r:id="rId8" imgW="164814" imgH="177492" progId="">
              <p:embed/>
            </p:oleObj>
          </a:graphicData>
        </a:graphic>
      </p:graphicFrame>
      <p:sp>
        <p:nvSpPr>
          <p:cNvPr id="382995" name="内容占位符 2"/>
          <p:cNvSpPr txBox="1">
            <a:spLocks/>
          </p:cNvSpPr>
          <p:nvPr/>
        </p:nvSpPr>
        <p:spPr bwMode="auto">
          <a:xfrm>
            <a:off x="273050" y="2487613"/>
            <a:ext cx="8001000" cy="107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SzPct val="90000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引理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设  为一个有限交换群， ， 分别为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中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和  阶元素，       ，则   一定为   阶元素。    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graphicFrame>
        <p:nvGraphicFramePr>
          <p:cNvPr id="382985" name="Object 9"/>
          <p:cNvGraphicFramePr>
            <a:graphicFrameLocks noChangeAspect="1"/>
          </p:cNvGraphicFramePr>
          <p:nvPr/>
        </p:nvGraphicFramePr>
        <p:xfrm>
          <a:off x="1790700" y="2571750"/>
          <a:ext cx="344488" cy="369888"/>
        </p:xfrm>
        <a:graphic>
          <a:graphicData uri="http://schemas.openxmlformats.org/presentationml/2006/ole">
            <p:oleObj spid="_x0000_s382985" name="Equation" r:id="rId9" imgW="164814" imgH="177492" progId="">
              <p:embed/>
            </p:oleObj>
          </a:graphicData>
        </a:graphic>
      </p:graphicFrame>
      <p:graphicFrame>
        <p:nvGraphicFramePr>
          <p:cNvPr id="382986" name="Object 10"/>
          <p:cNvGraphicFramePr>
            <a:graphicFrameLocks noChangeAspect="1"/>
          </p:cNvGraphicFramePr>
          <p:nvPr/>
        </p:nvGraphicFramePr>
        <p:xfrm>
          <a:off x="5222875" y="2609850"/>
          <a:ext cx="357188" cy="390525"/>
        </p:xfrm>
        <a:graphic>
          <a:graphicData uri="http://schemas.openxmlformats.org/presentationml/2006/ole">
            <p:oleObj spid="_x0000_s382986" name="Equation" r:id="rId10" imgW="126835" imgH="139518" progId="">
              <p:embed/>
            </p:oleObj>
          </a:graphicData>
        </a:graphic>
      </p:graphicFrame>
      <p:graphicFrame>
        <p:nvGraphicFramePr>
          <p:cNvPr id="382987" name="Object 11"/>
          <p:cNvGraphicFramePr>
            <a:graphicFrameLocks noChangeAspect="1"/>
          </p:cNvGraphicFramePr>
          <p:nvPr/>
        </p:nvGraphicFramePr>
        <p:xfrm>
          <a:off x="5786438" y="2530475"/>
          <a:ext cx="334962" cy="469900"/>
        </p:xfrm>
        <a:graphic>
          <a:graphicData uri="http://schemas.openxmlformats.org/presentationml/2006/ole">
            <p:oleObj spid="_x0000_s382987" name="Equation" r:id="rId11" imgW="126725" imgH="177415" progId="">
              <p:embed/>
            </p:oleObj>
          </a:graphicData>
        </a:graphic>
      </p:graphicFrame>
      <p:graphicFrame>
        <p:nvGraphicFramePr>
          <p:cNvPr id="382988" name="Object 12"/>
          <p:cNvGraphicFramePr>
            <a:graphicFrameLocks noChangeAspect="1"/>
          </p:cNvGraphicFramePr>
          <p:nvPr/>
        </p:nvGraphicFramePr>
        <p:xfrm>
          <a:off x="7102475" y="2571750"/>
          <a:ext cx="344488" cy="369888"/>
        </p:xfrm>
        <a:graphic>
          <a:graphicData uri="http://schemas.openxmlformats.org/presentationml/2006/ole">
            <p:oleObj spid="_x0000_s382988" name="Equation" r:id="rId12" imgW="164814" imgH="177492" progId="">
              <p:embed/>
            </p:oleObj>
          </a:graphicData>
        </a:graphic>
      </p:graphicFrame>
      <p:graphicFrame>
        <p:nvGraphicFramePr>
          <p:cNvPr id="382989" name="Object 13"/>
          <p:cNvGraphicFramePr>
            <a:graphicFrameLocks noChangeAspect="1"/>
          </p:cNvGraphicFramePr>
          <p:nvPr/>
        </p:nvGraphicFramePr>
        <p:xfrm>
          <a:off x="7827963" y="2643188"/>
          <a:ext cx="344487" cy="292100"/>
        </p:xfrm>
        <a:graphic>
          <a:graphicData uri="http://schemas.openxmlformats.org/presentationml/2006/ole">
            <p:oleObj spid="_x0000_s382989" name="Equation" r:id="rId13" imgW="164957" imgH="139579" progId="">
              <p:embed/>
            </p:oleObj>
          </a:graphicData>
        </a:graphic>
      </p:graphicFrame>
      <p:graphicFrame>
        <p:nvGraphicFramePr>
          <p:cNvPr id="382990" name="Object 14"/>
          <p:cNvGraphicFramePr>
            <a:graphicFrameLocks noChangeAspect="1"/>
          </p:cNvGraphicFramePr>
          <p:nvPr/>
        </p:nvGraphicFramePr>
        <p:xfrm>
          <a:off x="755650" y="3105150"/>
          <a:ext cx="357188" cy="395288"/>
        </p:xfrm>
        <a:graphic>
          <a:graphicData uri="http://schemas.openxmlformats.org/presentationml/2006/ole">
            <p:oleObj spid="_x0000_s382990" name="Equation" r:id="rId14" imgW="126835" imgH="139518" progId="">
              <p:embed/>
            </p:oleObj>
          </a:graphicData>
        </a:graphic>
      </p:graphicFrame>
      <p:graphicFrame>
        <p:nvGraphicFramePr>
          <p:cNvPr id="382991" name="Object 15"/>
          <p:cNvGraphicFramePr>
            <a:graphicFrameLocks noChangeAspect="1"/>
          </p:cNvGraphicFramePr>
          <p:nvPr/>
        </p:nvGraphicFramePr>
        <p:xfrm>
          <a:off x="2413000" y="3071813"/>
          <a:ext cx="1366838" cy="428625"/>
        </p:xfrm>
        <a:graphic>
          <a:graphicData uri="http://schemas.openxmlformats.org/presentationml/2006/ole">
            <p:oleObj spid="_x0000_s382991" name="Equation" r:id="rId15" imgW="647419" imgH="203112" progId="">
              <p:embed/>
            </p:oleObj>
          </a:graphicData>
        </a:graphic>
      </p:graphicFrame>
      <p:graphicFrame>
        <p:nvGraphicFramePr>
          <p:cNvPr id="382992" name="Object 16"/>
          <p:cNvGraphicFramePr>
            <a:graphicFrameLocks noChangeAspect="1"/>
          </p:cNvGraphicFramePr>
          <p:nvPr/>
        </p:nvGraphicFramePr>
        <p:xfrm>
          <a:off x="4500563" y="3046413"/>
          <a:ext cx="490537" cy="428625"/>
        </p:xfrm>
        <a:graphic>
          <a:graphicData uri="http://schemas.openxmlformats.org/presentationml/2006/ole">
            <p:oleObj spid="_x0000_s382992" name="Equation" r:id="rId16" imgW="202936" imgH="177569" progId="">
              <p:embed/>
            </p:oleObj>
          </a:graphicData>
        </a:graphic>
      </p:graphicFrame>
      <p:graphicFrame>
        <p:nvGraphicFramePr>
          <p:cNvPr id="382993" name="Object 17"/>
          <p:cNvGraphicFramePr>
            <a:graphicFrameLocks noChangeAspect="1"/>
          </p:cNvGraphicFramePr>
          <p:nvPr/>
        </p:nvGraphicFramePr>
        <p:xfrm>
          <a:off x="6156325" y="3143250"/>
          <a:ext cx="503238" cy="292100"/>
        </p:xfrm>
        <a:graphic>
          <a:graphicData uri="http://schemas.openxmlformats.org/presentationml/2006/ole">
            <p:oleObj spid="_x0000_s382993" name="Equation" r:id="rId17" imgW="241195" imgH="139639" progId="">
              <p:embed/>
            </p:oleObj>
          </a:graphicData>
        </a:graphic>
      </p:graphicFrame>
      <p:sp>
        <p:nvSpPr>
          <p:cNvPr id="38299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29" name="灯片编号占位符 28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A9370C0C-C686-4A04-852E-50BDAEC46B94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80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82998" name="内容占位符 2"/>
          <p:cNvSpPr txBox="1">
            <a:spLocks/>
          </p:cNvSpPr>
          <p:nvPr/>
        </p:nvSpPr>
        <p:spPr bwMode="auto">
          <a:xfrm>
            <a:off x="357188" y="1584325"/>
            <a:ext cx="8001000" cy="71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514350" indent="-514350" eaLnBrk="0" hangingPunct="0">
              <a:spcBef>
                <a:spcPct val="20000"/>
              </a:spcBef>
              <a:buClr>
                <a:schemeClr val="folHlink"/>
              </a:buClr>
              <a:buSzPct val="90000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证明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有限域的乘法群为循环群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需要如下两个引理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24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1188" y="1412875"/>
            <a:ext cx="74168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5026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6875" y="2349500"/>
            <a:ext cx="8496300" cy="3313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424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265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213" y="1196975"/>
            <a:ext cx="806450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6050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95288" y="1987550"/>
            <a:ext cx="8353425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5267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6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52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268413"/>
            <a:ext cx="8351837" cy="5256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653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3" name="内容占位符 2"/>
          <p:cNvSpPr>
            <a:spLocks noGrp="1"/>
          </p:cNvSpPr>
          <p:nvPr>
            <p:ph idx="4294967295"/>
          </p:nvPr>
        </p:nvSpPr>
        <p:spPr>
          <a:xfrm>
            <a:off x="500063" y="1571625"/>
            <a:ext cx="7959725" cy="1136650"/>
          </a:xfrm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kumimoji="0"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定义</a:t>
            </a:r>
            <a:r>
              <a:rPr kumimoji="0" lang="en-US" altLang="zh-CN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3.25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有限域中的</a:t>
            </a:r>
            <a:r>
              <a:rPr lang="zh-CN" altLang="en-US" sz="2800" b="1" smtClean="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乘法群的生成元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叫做该域  </a:t>
            </a:r>
            <a:endParaRPr lang="en-US" altLang="zh-CN" sz="2800" b="1" smtClean="0">
              <a:solidFill>
                <a:schemeClr val="tx1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>
              <a:buFont typeface="Wingdings" pitchFamily="2" charset="2"/>
              <a:buNone/>
            </a:pP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zh-CN" altLang="en-US" sz="2800" b="1" smtClean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本原元</a:t>
            </a:r>
            <a:r>
              <a:rPr lang="zh-CN" altLang="en-US" sz="2800" b="1" smtClean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sp>
        <p:nvSpPr>
          <p:cNvPr id="39731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3.4.3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有限域乘法特性</a:t>
            </a:r>
          </a:p>
        </p:txBody>
      </p:sp>
      <p:sp>
        <p:nvSpPr>
          <p:cNvPr id="8" name="灯片编号占位符 7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B01D98D6-9FFB-494C-BEAC-8A2B8EE75A97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84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388100" name="Rectangle 5"/>
          <p:cNvSpPr>
            <a:spLocks noRot="1" noChangeArrowheads="1"/>
          </p:cNvSpPr>
          <p:nvPr/>
        </p:nvSpPr>
        <p:spPr bwMode="auto">
          <a:xfrm>
            <a:off x="468313" y="2925763"/>
            <a:ext cx="7991475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注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</a:p>
          <a:p>
            <a:pPr marL="447675" indent="-44767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FF0000"/>
              </a:buClr>
              <a:buSzPct val="90000"/>
              <a:buFont typeface="Wingdings" pitchFamily="2" charset="2"/>
              <a:buNone/>
            </a:pP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若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是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3200" b="1" i="1" baseline="-25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的本原元</a:t>
            </a:r>
            <a:r>
              <a:rPr lang="zh-CN" altLang="en-US" sz="32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则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3200" b="1" i="1" baseline="-25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={0,1,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,...,</a:t>
            </a:r>
            <a:r>
              <a:rPr lang="en-US" altLang="zh-CN" sz="3200" b="1" i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en-US" altLang="zh-CN" sz="3200" b="1" i="1" baseline="30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en-US" altLang="zh-CN" sz="3200" b="1" baseline="30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-2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}, 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因此</a:t>
            </a:r>
            <a:r>
              <a:rPr lang="en-US" altLang="zh-CN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en-US" altLang="zh-CN" sz="3200" b="1" i="1" baseline="-25000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q</a:t>
            </a:r>
            <a:r>
              <a:rPr lang="zh-CN" altLang="en-US" sz="3200" b="1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中元的乘法很容易计算。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8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8100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1" name="Text Box 179"/>
          <p:cNvSpPr txBox="1">
            <a:spLocks noChangeArrowheads="1"/>
          </p:cNvSpPr>
          <p:nvPr/>
        </p:nvSpPr>
        <p:spPr bwMode="auto">
          <a:xfrm>
            <a:off x="428625" y="2349500"/>
            <a:ext cx="4287838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例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的剩余类域，求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的和与积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加法与乘法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</p:txBody>
      </p:sp>
      <p:graphicFrame>
        <p:nvGraphicFramePr>
          <p:cNvPr id="254978" name="Group 39"/>
          <p:cNvGraphicFramePr>
            <a:graphicFrameLocks noGrp="1"/>
          </p:cNvGraphicFramePr>
          <p:nvPr/>
        </p:nvGraphicFramePr>
        <p:xfrm>
          <a:off x="5437188" y="2363788"/>
          <a:ext cx="3167062" cy="4233862"/>
        </p:xfrm>
        <a:graphic>
          <a:graphicData uri="http://schemas.openxmlformats.org/drawingml/2006/table">
            <a:tbl>
              <a:tblPr/>
              <a:tblGrid>
                <a:gridCol w="1422400"/>
                <a:gridCol w="1744662"/>
              </a:tblGrid>
              <a:tr h="5762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多项式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生成元幂元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0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3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33CC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6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rgbClr val="0033CC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+x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4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2</a:t>
                      </a: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+x+</a:t>
                      </a:r>
                      <a:r>
                        <a:rPr kumimoji="1" lang="en-US" altLang="zh-CN" sz="2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24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charset="-122"/>
                          <a:cs typeface="Times New Roman" pitchFamily="18" charset="0"/>
                        </a:rPr>
                        <a:t>5</a:t>
                      </a:r>
                      <a:endParaRPr kumimoji="1" lang="en-US" altLang="zh-CN" sz="24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charset="-122"/>
                        <a:cs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9939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有限域元素表示</a:t>
            </a:r>
          </a:p>
        </p:txBody>
      </p:sp>
      <p:sp>
        <p:nvSpPr>
          <p:cNvPr id="399395" name="Rectangle 36"/>
          <p:cNvSpPr>
            <a:spLocks noRot="1" noChangeArrowheads="1"/>
          </p:cNvSpPr>
          <p:nvPr/>
        </p:nvSpPr>
        <p:spPr bwMode="auto">
          <a:xfrm>
            <a:off x="304800" y="1052513"/>
            <a:ext cx="8370888" cy="1152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20000"/>
              </a:lnSpc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有限域的应用要涉及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有限域上的运算</a:t>
            </a:r>
            <a:r>
              <a:rPr lang="zh-CN" altLang="en-US">
                <a:solidFill>
                  <a:srgbClr val="333399"/>
                </a:solidFill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而</a:t>
            </a:r>
            <a:r>
              <a:rPr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运算的速度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与</a:t>
            </a:r>
            <a:r>
              <a:rPr lang="zh-CN" altLang="en-US" b="1">
                <a:solidFill>
                  <a:srgbClr val="660033"/>
                </a:solidFill>
                <a:latin typeface="楷体_GB2312" pitchFamily="49" charset="-122"/>
                <a:ea typeface="楷体_GB2312" pitchFamily="49" charset="-122"/>
              </a:rPr>
              <a:t>有限域中元素的表示方法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有直接关系。</a:t>
            </a:r>
          </a:p>
        </p:txBody>
      </p:sp>
      <p:sp>
        <p:nvSpPr>
          <p:cNvPr id="390181" name="Text Box 37"/>
          <p:cNvSpPr txBox="1">
            <a:spLocks noChangeArrowheads="1"/>
          </p:cNvSpPr>
          <p:nvPr/>
        </p:nvSpPr>
        <p:spPr bwMode="auto">
          <a:xfrm>
            <a:off x="1476375" y="4581525"/>
            <a:ext cx="2746375" cy="120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0033CC"/>
                </a:solidFill>
              </a:rPr>
              <a:t>x+(x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+1)=x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+x+1</a:t>
            </a:r>
          </a:p>
          <a:p>
            <a:pPr>
              <a:lnSpc>
                <a:spcPct val="130000"/>
              </a:lnSpc>
            </a:pPr>
            <a:r>
              <a:rPr lang="en-US" altLang="zh-CN" b="1">
                <a:solidFill>
                  <a:srgbClr val="0033CC"/>
                </a:solidFill>
              </a:rPr>
              <a:t>x(x</a:t>
            </a:r>
            <a:r>
              <a:rPr lang="en-US" altLang="zh-CN" b="1" baseline="30000">
                <a:solidFill>
                  <a:srgbClr val="0033CC"/>
                </a:solidFill>
              </a:rPr>
              <a:t>2</a:t>
            </a:r>
            <a:r>
              <a:rPr lang="en-US" altLang="zh-CN" b="1">
                <a:solidFill>
                  <a:srgbClr val="0033CC"/>
                </a:solidFill>
              </a:rPr>
              <a:t>+1)=1?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81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5" name="Text Box 179"/>
          <p:cNvSpPr txBox="1">
            <a:spLocks noChangeArrowheads="1"/>
          </p:cNvSpPr>
          <p:nvPr/>
        </p:nvSpPr>
        <p:spPr bwMode="auto">
          <a:xfrm>
            <a:off x="428625" y="1357313"/>
            <a:ext cx="8215313" cy="458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58775" indent="-358775">
              <a:lnSpc>
                <a:spcPct val="150000"/>
              </a:lnSpc>
              <a:buSzPct val="80000"/>
              <a:buFont typeface="Wingdings" pitchFamily="2" charset="2"/>
              <a:buChar char="p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多项式表示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适合加法，以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[x]/(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为例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358775" indent="-358775">
              <a:lnSpc>
                <a:spcPct val="150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{0,1,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+x,x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+x+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1}</a:t>
            </a:r>
            <a:endParaRPr kumimoji="0" lang="en-US" altLang="zh-CN" b="1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742950" lvl="1" indent="-285750">
              <a:lnSpc>
                <a:spcPct val="150000"/>
              </a:lnSpc>
              <a:buSzPct val="90000"/>
              <a:buFont typeface="Wingdings" pitchFamily="2" charset="2"/>
              <a:buChar char="Ø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向量（多项式系数）表示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适合加法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358775" indent="-358775">
              <a:lnSpc>
                <a:spcPct val="150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   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{000,001,010,011,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100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101,110,111}</a:t>
            </a:r>
            <a:endParaRPr kumimoji="0" lang="en-US" altLang="zh-CN" b="1">
              <a:solidFill>
                <a:srgbClr val="0033CC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358775" indent="-358775">
              <a:lnSpc>
                <a:spcPct val="150000"/>
              </a:lnSpc>
              <a:buSzPct val="80000"/>
              <a:buFont typeface="Wingdings" pitchFamily="2" charset="2"/>
              <a:buChar char="p"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本原元表示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适合乘法，求逆元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)</a:t>
            </a:r>
          </a:p>
          <a:p>
            <a:pPr marL="358775" indent="-358775">
              <a:lnSpc>
                <a:spcPct val="150000"/>
              </a:lnSpc>
            </a:pP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 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{0,1,</a:t>
            </a:r>
            <a:r>
              <a:rPr kumimoji="0"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en-US" altLang="zh-CN" b="1" i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358775" indent="-358775">
              <a:lnSpc>
                <a:spcPct val="150000"/>
              </a:lnSpc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伴随矩阵表示</a:t>
            </a:r>
            <a:endParaRPr kumimoji="0" lang="zh-CN" altLang="en-US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00386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3.4.4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有限域元素表示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409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484313"/>
            <a:ext cx="8280400" cy="345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1410" name="Rectangle 5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多项式表示法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43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1412875"/>
            <a:ext cx="8208962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321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42988" y="2565400"/>
            <a:ext cx="7345362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93219" name="Text Box 6"/>
          <p:cNvSpPr txBox="1">
            <a:spLocks noChangeArrowheads="1"/>
          </p:cNvSpPr>
          <p:nvPr/>
        </p:nvSpPr>
        <p:spPr bwMode="auto">
          <a:xfrm>
            <a:off x="1258888" y="5157788"/>
            <a:ext cx="32400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>
                <a:latin typeface="Arial" charset="0"/>
                <a:ea typeface="楷体_GB2312" pitchFamily="49" charset="-122"/>
              </a:rPr>
              <a:t>此时</a:t>
            </a:r>
            <a:r>
              <a:rPr kumimoji="0" lang="zh-CN" altLang="en-US" b="1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加法运算容易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。</a:t>
            </a:r>
          </a:p>
        </p:txBody>
      </p:sp>
      <p:sp>
        <p:nvSpPr>
          <p:cNvPr id="402436" name="Rectangle 8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多项式表示法</a:t>
            </a:r>
          </a:p>
        </p:txBody>
      </p:sp>
      <p:sp>
        <p:nvSpPr>
          <p:cNvPr id="393222" name="Text Box 6"/>
          <p:cNvSpPr txBox="1">
            <a:spLocks noChangeArrowheads="1"/>
          </p:cNvSpPr>
          <p:nvPr/>
        </p:nvSpPr>
        <p:spPr bwMode="auto">
          <a:xfrm>
            <a:off x="1908175" y="5718175"/>
            <a:ext cx="5688013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0" lang="zh-CN" altLang="en-US" b="1">
                <a:solidFill>
                  <a:srgbClr val="FF0000"/>
                </a:solidFill>
                <a:latin typeface="Arial" charset="0"/>
                <a:ea typeface="楷体_GB2312" pitchFamily="49" charset="-122"/>
              </a:rPr>
              <a:t>乘法运算比较麻烦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。</a:t>
            </a:r>
            <a:r>
              <a:rPr kumimoji="0" lang="zh-CN" altLang="en-US" b="1">
                <a:solidFill>
                  <a:srgbClr val="0033CC"/>
                </a:solidFill>
                <a:latin typeface="Arial" charset="0"/>
                <a:ea typeface="楷体_GB2312" pitchFamily="49" charset="-122"/>
              </a:rPr>
              <a:t>乘法表</a:t>
            </a:r>
            <a:r>
              <a:rPr kumimoji="0" lang="zh-CN" altLang="en-US" b="1">
                <a:latin typeface="Arial" charset="0"/>
                <a:ea typeface="楷体_GB2312" pitchFamily="49" charset="-122"/>
              </a:rPr>
              <a:t>如下</a:t>
            </a:r>
            <a:r>
              <a:rPr kumimoji="0" lang="zh-CN" altLang="en-US">
                <a:latin typeface="Arial" charset="0"/>
                <a:ea typeface="楷体_GB2312" pitchFamily="49" charset="-122"/>
              </a:rPr>
              <a:t>：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/>
      <p:bldP spid="393222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345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1268413"/>
            <a:ext cx="8424862" cy="5329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3458" name="Rectangle 6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1.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多项式表示法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48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2420938"/>
            <a:ext cx="8353425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4482" name="Rectangle 5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本原元表示法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29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1196975"/>
            <a:ext cx="3887787" cy="50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629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288" y="1916113"/>
            <a:ext cx="8280400" cy="439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396292" name="Object 4"/>
          <p:cNvGraphicFramePr>
            <a:graphicFrameLocks noChangeAspect="1"/>
          </p:cNvGraphicFramePr>
          <p:nvPr/>
        </p:nvGraphicFramePr>
        <p:xfrm>
          <a:off x="828675" y="6337300"/>
          <a:ext cx="5472113" cy="476250"/>
        </p:xfrm>
        <a:graphic>
          <a:graphicData uri="http://schemas.openxmlformats.org/presentationml/2006/ole">
            <p:oleObj spid="_x0000_s396292" name="公式" r:id="rId5" imgW="2616120" imgH="228600" progId="Equation.3">
              <p:embed/>
            </p:oleObj>
          </a:graphicData>
        </a:graphic>
      </p:graphicFrame>
      <p:graphicFrame>
        <p:nvGraphicFramePr>
          <p:cNvPr id="396293" name="Object 5"/>
          <p:cNvGraphicFramePr>
            <a:graphicFrameLocks noChangeAspect="1"/>
          </p:cNvGraphicFramePr>
          <p:nvPr/>
        </p:nvGraphicFramePr>
        <p:xfrm>
          <a:off x="6156325" y="5883275"/>
          <a:ext cx="1223963" cy="425450"/>
        </p:xfrm>
        <a:graphic>
          <a:graphicData uri="http://schemas.openxmlformats.org/presentationml/2006/ole">
            <p:oleObj spid="_x0000_s396293" name="公式" r:id="rId6" imgW="622080" imgH="203040" progId="Equation.3">
              <p:embed/>
            </p:oleObj>
          </a:graphicData>
        </a:graphic>
      </p:graphicFrame>
      <p:sp>
        <p:nvSpPr>
          <p:cNvPr id="396296" name="Text Box 8"/>
          <p:cNvSpPr txBox="1">
            <a:spLocks noChangeArrowheads="1"/>
          </p:cNvSpPr>
          <p:nvPr/>
        </p:nvSpPr>
        <p:spPr bwMode="auto">
          <a:xfrm>
            <a:off x="5508625" y="5862638"/>
            <a:ext cx="898525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ea typeface="楷体_GB2312" pitchFamily="49" charset="-122"/>
              </a:rPr>
              <a:t>即：</a:t>
            </a:r>
          </a:p>
        </p:txBody>
      </p:sp>
      <p:sp>
        <p:nvSpPr>
          <p:cNvPr id="396297" name="Rectangle 9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本原元表示法</a:t>
            </a:r>
          </a:p>
        </p:txBody>
      </p:sp>
      <p:sp>
        <p:nvSpPr>
          <p:cNvPr id="396298" name="Text Box 11"/>
          <p:cNvSpPr txBox="1">
            <a:spLocks noChangeArrowheads="1"/>
          </p:cNvSpPr>
          <p:nvPr/>
        </p:nvSpPr>
        <p:spPr bwMode="auto">
          <a:xfrm>
            <a:off x="4643438" y="1125538"/>
            <a:ext cx="1741487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f(x)=x</a:t>
            </a:r>
            <a:r>
              <a:rPr lang="en-US" altLang="zh-CN" b="1" baseline="30000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en-US" altLang="zh-CN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</a:rPr>
              <a:t>+1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6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553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3863" y="1484313"/>
            <a:ext cx="82804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7554" name="Rectangle 5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2.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本原元表示法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7" name="Rectangle 4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伴随矩阵表示法</a:t>
            </a:r>
          </a:p>
        </p:txBody>
      </p:sp>
      <p:pic>
        <p:nvPicPr>
          <p:cNvPr id="40857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3850" y="1412875"/>
            <a:ext cx="8496300" cy="4824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01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0113" y="1268413"/>
            <a:ext cx="44640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9936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1987550"/>
            <a:ext cx="8424863" cy="4681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603" name="Rectangle 6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伴随矩阵表示法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5" name="Rectangle 4"/>
          <p:cNvSpPr>
            <a:spLocks noRot="1" noChangeArrowheads="1"/>
          </p:cNvSpPr>
          <p:nvPr/>
        </p:nvSpPr>
        <p:spPr bwMode="auto">
          <a:xfrm>
            <a:off x="323850" y="1268413"/>
            <a:ext cx="85407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用矩阵也可以表示一个具体的本原元。</a:t>
            </a:r>
          </a:p>
        </p:txBody>
      </p:sp>
      <p:pic>
        <p:nvPicPr>
          <p:cNvPr id="41062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95288" y="2060575"/>
            <a:ext cx="8353425" cy="3960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0627" name="Rectangle 6"/>
          <p:cNvSpPr>
            <a:spLocks noRot="1" noChangeArrowheads="1"/>
          </p:cNvSpPr>
          <p:nvPr/>
        </p:nvSpPr>
        <p:spPr bwMode="auto">
          <a:xfrm>
            <a:off x="301625" y="254000"/>
            <a:ext cx="854075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0" latinLnBrk="1" hangingPunct="0"/>
            <a:r>
              <a:rPr lang="en-US" altLang="zh-CN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3.</a:t>
            </a:r>
            <a:r>
              <a:rPr lang="zh-CN" altLang="en-US" sz="3600" b="1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伴随矩阵表示法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49" name="Text Box 179"/>
          <p:cNvSpPr txBox="1">
            <a:spLocks noChangeArrowheads="1"/>
          </p:cNvSpPr>
          <p:nvPr/>
        </p:nvSpPr>
        <p:spPr bwMode="auto">
          <a:xfrm>
            <a:off x="428625" y="1357313"/>
            <a:ext cx="8215313" cy="3940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lnSpc>
                <a:spcPct val="150000"/>
              </a:lnSpc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[x]/(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有哪些可能取值？乘法群的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</a:t>
            </a:r>
          </a:p>
          <a:p>
            <a:pPr marL="457200" indent="-457200">
              <a:lnSpc>
                <a:spcPct val="150000"/>
              </a:lnSpc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[x]/(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加法群的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有哪些可能取值？乘法群的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</a:t>
            </a:r>
          </a:p>
          <a:p>
            <a:pPr marL="457200" indent="-457200">
              <a:lnSpc>
                <a:spcPct val="150000"/>
              </a:lnSpc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域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[x]/(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加法群的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有哪些可能取值？乘法群的</a:t>
            </a:r>
            <a:r>
              <a:rPr kumimoji="0" lang="zh-CN" altLang="en-US" b="1">
                <a:solidFill>
                  <a:srgbClr val="0033CC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子群阶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有哪些可能取值？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1165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有限域的子域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有限域的子域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90CAF46F-2580-4C40-9412-E444D8225653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97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412675" name="内容占位符 2"/>
          <p:cNvSpPr txBox="1">
            <a:spLocks/>
          </p:cNvSpPr>
          <p:nvPr/>
        </p:nvSpPr>
        <p:spPr bwMode="auto">
          <a:xfrm>
            <a:off x="500063" y="1125538"/>
            <a:ext cx="8643937" cy="172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lnSpc>
                <a:spcPct val="12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kumimoji="0" lang="zh-CN" altLang="en-US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定理</a:t>
            </a:r>
            <a:r>
              <a:rPr kumimoji="0" lang="en-US" altLang="zh-CN" b="1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3.26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设有限域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的阶为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的子域的阶为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en-US" altLang="zh-CN" b="1" i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，</a:t>
            </a:r>
            <a:endParaRPr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  <a:p>
            <a:pPr marL="447675" indent="-447675" eaLnBrk="0" latinLnBrk="1" hangingPunct="0">
              <a:lnSpc>
                <a:spcPct val="12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其中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的正因子。反之，若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n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的正因子，则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</a:p>
          <a:p>
            <a:pPr marL="447675" indent="-447675" eaLnBrk="0" latinLnBrk="1" hangingPunct="0">
              <a:lnSpc>
                <a:spcPct val="120000"/>
              </a:lnSpc>
              <a:buClr>
                <a:srgbClr val="000099"/>
              </a:buClr>
              <a:buFont typeface="Wingdings" pitchFamily="2" charset="2"/>
              <a:buNone/>
            </a:pP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恰有一个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m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阶子域。</a:t>
            </a:r>
          </a:p>
        </p:txBody>
      </p:sp>
      <p:pic>
        <p:nvPicPr>
          <p:cNvPr id="41267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8313" y="2852738"/>
            <a:ext cx="8280400" cy="367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697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1550" y="1916113"/>
            <a:ext cx="2590800" cy="503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345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850" y="2852738"/>
            <a:ext cx="5256213" cy="273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3459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97550" y="2205038"/>
            <a:ext cx="3095625" cy="381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3700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有限域的子域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3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3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721" name="Rectangle 4"/>
          <p:cNvSpPr>
            <a:spLocks noRot="1" noChangeArrowheads="1"/>
          </p:cNvSpPr>
          <p:nvPr/>
        </p:nvSpPr>
        <p:spPr bwMode="auto">
          <a:xfrm>
            <a:off x="304800" y="1916113"/>
            <a:ext cx="8540750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000099"/>
              </a:buClr>
              <a:buSzPct val="90000"/>
              <a:buFont typeface="Wingdings" pitchFamily="2" charset="2"/>
              <a:buChar char="Ø"/>
            </a:pPr>
            <a:r>
              <a:rPr lang="zh-CN" altLang="en-US" sz="3200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定理</a:t>
            </a:r>
            <a:endParaRPr lang="en-US" altLang="zh-CN" sz="3200" b="1">
              <a:solidFill>
                <a:srgbClr val="FF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pic>
        <p:nvPicPr>
          <p:cNvPr id="414722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4213" y="2781300"/>
            <a:ext cx="8064500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4723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4213" y="3933825"/>
            <a:ext cx="81375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4724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en-US" altLang="zh-CN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3.4.5</a:t>
            </a:r>
            <a:r>
              <a:rPr kumimoji="0" lang="en-US" altLang="zh-CN" sz="4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有限域的子域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11" name="Text Box 44"/>
          <p:cNvSpPr txBox="1">
            <a:spLocks noChangeArrowheads="1"/>
          </p:cNvSpPr>
          <p:nvPr/>
        </p:nvSpPr>
        <p:spPr bwMode="auto">
          <a:xfrm>
            <a:off x="357188" y="1285875"/>
            <a:ext cx="8001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习题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1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：对于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Z</a:t>
            </a:r>
            <a:r>
              <a:rPr kumimoji="0" lang="en-US" altLang="zh-CN" b="1" baseline="-25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[x]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模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(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 baseline="30000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4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x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+1)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的剩余类域，写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出</a:t>
            </a:r>
            <a:endParaRPr kumimoji="0" lang="en-US" altLang="zh-CN" b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05512" name="内容占位符 2"/>
          <p:cNvSpPr txBox="1">
            <a:spLocks/>
          </p:cNvSpPr>
          <p:nvPr/>
        </p:nvSpPr>
        <p:spPr bwMode="auto">
          <a:xfrm>
            <a:off x="357188" y="1928813"/>
            <a:ext cx="4862512" cy="63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125000"/>
              </a:lnSpc>
              <a:spcBef>
                <a:spcPct val="20000"/>
              </a:spcBef>
              <a:buClr>
                <a:schemeClr val="folHlink"/>
              </a:buClr>
              <a:buSzPct val="90000"/>
              <a:buFont typeface="Wingdings" pitchFamily="2" charset="2"/>
              <a:buNone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该域所有本原元，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5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阶的元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。</a:t>
            </a:r>
          </a:p>
        </p:txBody>
      </p:sp>
      <p:sp>
        <p:nvSpPr>
          <p:cNvPr id="405513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2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作业题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D75AE55B-971E-4763-95A7-B427B90632EB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100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graphicFrame>
        <p:nvGraphicFramePr>
          <p:cNvPr id="405510" name="Object 6"/>
          <p:cNvGraphicFramePr>
            <a:graphicFrameLocks noChangeAspect="1"/>
          </p:cNvGraphicFramePr>
          <p:nvPr/>
        </p:nvGraphicFramePr>
        <p:xfrm>
          <a:off x="2195513" y="3644900"/>
          <a:ext cx="3397250" cy="658813"/>
        </p:xfrm>
        <a:graphic>
          <a:graphicData uri="http://schemas.openxmlformats.org/presentationml/2006/ole">
            <p:oleObj spid="_x0000_s405510" name="Equation" r:id="rId3" imgW="1307532" imgH="253890" progId="">
              <p:embed/>
            </p:oleObj>
          </a:graphicData>
        </a:graphic>
      </p:graphicFrame>
      <p:sp>
        <p:nvSpPr>
          <p:cNvPr id="405515" name="矩形 6"/>
          <p:cNvSpPr>
            <a:spLocks noChangeArrowheads="1"/>
          </p:cNvSpPr>
          <p:nvPr/>
        </p:nvSpPr>
        <p:spPr bwMode="auto">
          <a:xfrm>
            <a:off x="428625" y="3071813"/>
            <a:ext cx="771525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kumimoji="0"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习题</a:t>
            </a:r>
            <a:r>
              <a:rPr kumimoji="0" lang="en-US" altLang="zh-CN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2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：设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的特征为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p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 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对于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F</a:t>
            </a:r>
            <a:r>
              <a:rPr kumimoji="0" lang="zh-CN" altLang="en-US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的任意元素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a</a:t>
            </a:r>
            <a:r>
              <a:rPr kumimoji="0" lang="en-US" altLang="zh-CN" b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,</a:t>
            </a:r>
            <a:r>
              <a:rPr kumimoji="0" lang="en-US" altLang="zh-CN" b="1" i="1">
                <a:latin typeface="楷体_GB2312" pitchFamily="49" charset="-122"/>
                <a:ea typeface="楷体_GB2312" pitchFamily="49" charset="-122"/>
                <a:cs typeface="Times New Roman" pitchFamily="18" charset="0"/>
              </a:rPr>
              <a:t>b</a:t>
            </a:r>
            <a:endParaRPr lang="zh-CN" altLang="en-US" i="1">
              <a:latin typeface="楷体_GB2312" pitchFamily="49" charset="-122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769" name="Rectangle 86"/>
          <p:cNvSpPr>
            <a:spLocks noChangeArrowheads="1"/>
          </p:cNvSpPr>
          <p:nvPr/>
        </p:nvSpPr>
        <p:spPr bwMode="auto">
          <a:xfrm>
            <a:off x="214313" y="0"/>
            <a:ext cx="748823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kumimoji="0" lang="zh-CN" altLang="en-US" sz="3600" b="1">
                <a:solidFill>
                  <a:schemeClr val="bg1"/>
                </a:solidFill>
                <a:latin typeface="黑体" pitchFamily="2" charset="-122"/>
                <a:ea typeface="黑体" pitchFamily="2" charset="-122"/>
              </a:rPr>
              <a:t>本章总结</a:t>
            </a:r>
          </a:p>
        </p:txBody>
      </p:sp>
      <p:sp>
        <p:nvSpPr>
          <p:cNvPr id="5" name="灯片编号占位符 4"/>
          <p:cNvSpPr txBox="1">
            <a:spLocks noGrp="1"/>
          </p:cNvSpPr>
          <p:nvPr/>
        </p:nvSpPr>
        <p:spPr>
          <a:xfrm>
            <a:off x="8215313" y="6429375"/>
            <a:ext cx="928687" cy="428625"/>
          </a:xfrm>
          <a:prstGeom prst="rect">
            <a:avLst/>
          </a:prstGeom>
          <a:noFill/>
        </p:spPr>
        <p:txBody>
          <a:bodyPr/>
          <a:lstStyle/>
          <a:p>
            <a:pPr>
              <a:defRPr/>
            </a:pPr>
            <a:fld id="{0F610FE9-0060-4E20-A340-C77E3AC1BFBB}" type="slidenum">
              <a:rPr lang="en-US" altLang="zh-CN" sz="2000">
                <a:solidFill>
                  <a:schemeClr val="bg1">
                    <a:lumMod val="50000"/>
                  </a:schemeClr>
                </a:solidFill>
                <a:ea typeface="宋体" pitchFamily="2" charset="-122"/>
              </a:rPr>
              <a:pPr>
                <a:defRPr/>
              </a:pPr>
              <a:t>101</a:t>
            </a:fld>
            <a:endParaRPr lang="en-US" altLang="zh-CN" sz="2000" dirty="0">
              <a:solidFill>
                <a:schemeClr val="bg1">
                  <a:lumMod val="50000"/>
                </a:schemeClr>
              </a:solidFill>
              <a:ea typeface="宋体" pitchFamily="2" charset="-122"/>
            </a:endParaRPr>
          </a:p>
        </p:txBody>
      </p:sp>
      <p:sp>
        <p:nvSpPr>
          <p:cNvPr id="416771" name="内容占位符 2"/>
          <p:cNvSpPr txBox="1">
            <a:spLocks/>
          </p:cNvSpPr>
          <p:nvPr/>
        </p:nvSpPr>
        <p:spPr bwMode="auto">
          <a:xfrm>
            <a:off x="1044575" y="1196975"/>
            <a:ext cx="5472113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47675" indent="-447675" eaLnBrk="0" latinLnBrk="1" hangingPunct="0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lang="zh-CN" altLang="en-US" b="1">
                <a:ea typeface="楷体_GB2312" pitchFamily="49" charset="-122"/>
                <a:cs typeface="Times New Roman" pitchFamily="18" charset="0"/>
              </a:rPr>
              <a:t>群</a:t>
            </a:r>
            <a:endParaRPr lang="en-US" altLang="zh-CN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定义、性质、陪集、子群、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循环群、置换群、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商群、群同态、群同构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447675" indent="-447675" eaLnBrk="0" latinLnBrk="1" hangingPunct="0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lang="zh-CN" altLang="en-US" b="1">
                <a:ea typeface="楷体_GB2312" pitchFamily="49" charset="-122"/>
                <a:cs typeface="Times New Roman" pitchFamily="18" charset="0"/>
              </a:rPr>
              <a:t>环</a:t>
            </a:r>
            <a:endParaRPr lang="en-US" altLang="zh-CN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定义、性质、理想、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商环、环同态、环同构</a:t>
            </a:r>
            <a:endParaRPr lang="en-US" altLang="zh-CN" b="1">
              <a:ea typeface="楷体_GB2312" pitchFamily="49" charset="-122"/>
              <a:cs typeface="Times New Roman" pitchFamily="18" charset="0"/>
            </a:endParaRPr>
          </a:p>
          <a:p>
            <a:pPr marL="447675" indent="-447675" eaLnBrk="0" latinLnBrk="1" hangingPunct="0">
              <a:spcBef>
                <a:spcPct val="20000"/>
              </a:spcBef>
              <a:buClr>
                <a:srgbClr val="FF0000"/>
              </a:buClr>
              <a:buSzPct val="80000"/>
              <a:buFont typeface="Wingdings" pitchFamily="2" charset="2"/>
              <a:buChar char="p"/>
            </a:pPr>
            <a:r>
              <a:rPr lang="zh-CN" altLang="en-US" b="1">
                <a:ea typeface="楷体_GB2312" pitchFamily="49" charset="-122"/>
                <a:cs typeface="Times New Roman" pitchFamily="18" charset="0"/>
              </a:rPr>
              <a:t>域</a:t>
            </a:r>
            <a:endParaRPr lang="en-US" altLang="zh-CN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定义、不可约多项式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有限域构造</a:t>
            </a:r>
            <a:endParaRPr lang="en-US" altLang="zh-CN" sz="2400" b="1">
              <a:ea typeface="楷体_GB2312" pitchFamily="49" charset="-122"/>
              <a:cs typeface="Times New Roman" pitchFamily="18" charset="0"/>
            </a:endParaRP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lang="zh-CN" altLang="en-US" sz="2400" b="1">
                <a:ea typeface="楷体_GB2312" pitchFamily="49" charset="-122"/>
                <a:cs typeface="Times New Roman" pitchFamily="18" charset="0"/>
              </a:rPr>
              <a:t>特征、加法、乘法特性</a:t>
            </a:r>
          </a:p>
          <a:p>
            <a:pPr marL="889000" lvl="1" indent="-439738" eaLnBrk="0" latinLnBrk="1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ü"/>
            </a:pPr>
            <a:r>
              <a:rPr kumimoji="0" lang="zh-CN" altLang="en-US" sz="2400" b="1">
                <a:ea typeface="楷体_GB2312" pitchFamily="49" charset="-122"/>
              </a:rPr>
              <a:t>有限域中元素的</a:t>
            </a:r>
            <a:r>
              <a:rPr kumimoji="0" lang="zh-CN" altLang="en-US" sz="2400" b="1">
                <a:solidFill>
                  <a:srgbClr val="FF0000"/>
                </a:solidFill>
                <a:ea typeface="楷体_GB2312" pitchFamily="49" charset="-122"/>
              </a:rPr>
              <a:t>三种表示方式</a:t>
            </a:r>
          </a:p>
        </p:txBody>
      </p:sp>
    </p:spTree>
  </p:cSld>
  <p:clrMapOvr>
    <a:masterClrMapping/>
  </p:clrMapOvr>
  <p:transition>
    <p:pull dir="ru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4_색종이 상자">
  <a:themeElements>
    <a:clrScheme name="4_색종이 상자 1">
      <a:dk1>
        <a:srgbClr val="000000"/>
      </a:dk1>
      <a:lt1>
        <a:srgbClr val="FFFFFF"/>
      </a:lt1>
      <a:dk2>
        <a:srgbClr val="CC6600"/>
      </a:dk2>
      <a:lt2>
        <a:srgbClr val="F5B363"/>
      </a:lt2>
      <a:accent1>
        <a:srgbClr val="EB933B"/>
      </a:accent1>
      <a:accent2>
        <a:srgbClr val="F3C917"/>
      </a:accent2>
      <a:accent3>
        <a:srgbClr val="FFFFFF"/>
      </a:accent3>
      <a:accent4>
        <a:srgbClr val="000000"/>
      </a:accent4>
      <a:accent5>
        <a:srgbClr val="F3C8AF"/>
      </a:accent5>
      <a:accent6>
        <a:srgbClr val="DCB614"/>
      </a:accent6>
      <a:hlink>
        <a:srgbClr val="BB9321"/>
      </a:hlink>
      <a:folHlink>
        <a:srgbClr val="F1E785"/>
      </a:folHlink>
    </a:clrScheme>
    <a:fontScheme name="4_색종이 상자">
      <a:majorFont>
        <a:latin typeface="굴림"/>
        <a:ea typeface="굴림"/>
        <a:cs typeface="Tahoma"/>
      </a:majorFont>
      <a:minorFont>
        <a:latin typeface="굴림"/>
        <a:ea typeface="굴림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1" hangingPunct="1">
          <a:lnSpc>
            <a:spcPct val="80000"/>
          </a:lnSpc>
          <a:spcBef>
            <a:spcPct val="50000"/>
          </a:spcBef>
          <a:spcAft>
            <a:spcPct val="0"/>
          </a:spcAft>
          <a:buClr>
            <a:srgbClr val="FF0000"/>
          </a:buClr>
          <a:buSzTx/>
          <a:buFont typeface="Wingdings" pitchFamily="2" charset="2"/>
          <a:buNone/>
          <a:tabLst/>
          <a:defRPr kumimoji="1" lang="ko-KR" altLang="en-US" sz="1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  <a:cs typeface="Tahoma" pitchFamily="34" charset="0"/>
          </a:defRPr>
        </a:defPPr>
      </a:lstStyle>
    </a:lnDef>
  </a:objectDefaults>
  <a:extraClrSchemeLst>
    <a:extraClrScheme>
      <a:clrScheme name="4_색종이 상자 1">
        <a:dk1>
          <a:srgbClr val="000000"/>
        </a:dk1>
        <a:lt1>
          <a:srgbClr val="FFFFFF"/>
        </a:lt1>
        <a:dk2>
          <a:srgbClr val="CC6600"/>
        </a:dk2>
        <a:lt2>
          <a:srgbClr val="F5B363"/>
        </a:lt2>
        <a:accent1>
          <a:srgbClr val="EB933B"/>
        </a:accent1>
        <a:accent2>
          <a:srgbClr val="F3C917"/>
        </a:accent2>
        <a:accent3>
          <a:srgbClr val="FFFFFF"/>
        </a:accent3>
        <a:accent4>
          <a:srgbClr val="000000"/>
        </a:accent4>
        <a:accent5>
          <a:srgbClr val="F3C8AF"/>
        </a:accent5>
        <a:accent6>
          <a:srgbClr val="DCB614"/>
        </a:accent6>
        <a:hlink>
          <a:srgbClr val="BB9321"/>
        </a:hlink>
        <a:folHlink>
          <a:srgbClr val="F1E785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2">
        <a:dk1>
          <a:srgbClr val="000000"/>
        </a:dk1>
        <a:lt1>
          <a:srgbClr val="FFFFFF"/>
        </a:lt1>
        <a:dk2>
          <a:srgbClr val="7EA93F"/>
        </a:dk2>
        <a:lt2>
          <a:srgbClr val="C1D078"/>
        </a:lt2>
        <a:accent1>
          <a:srgbClr val="A3BC5E"/>
        </a:accent1>
        <a:accent2>
          <a:srgbClr val="DEA866"/>
        </a:accent2>
        <a:accent3>
          <a:srgbClr val="FFFFFF"/>
        </a:accent3>
        <a:accent4>
          <a:srgbClr val="000000"/>
        </a:accent4>
        <a:accent5>
          <a:srgbClr val="CEDAB6"/>
        </a:accent5>
        <a:accent6>
          <a:srgbClr val="C9985C"/>
        </a:accent6>
        <a:hlink>
          <a:srgbClr val="B65A22"/>
        </a:hlink>
        <a:folHlink>
          <a:srgbClr val="EACB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3">
        <a:dk1>
          <a:srgbClr val="000000"/>
        </a:dk1>
        <a:lt1>
          <a:srgbClr val="FFFFFF"/>
        </a:lt1>
        <a:dk2>
          <a:srgbClr val="D56755"/>
        </a:dk2>
        <a:lt2>
          <a:srgbClr val="F6C6C6"/>
        </a:lt2>
        <a:accent1>
          <a:srgbClr val="EC9780"/>
        </a:accent1>
        <a:accent2>
          <a:srgbClr val="ECA958"/>
        </a:accent2>
        <a:accent3>
          <a:srgbClr val="FFFFFF"/>
        </a:accent3>
        <a:accent4>
          <a:srgbClr val="000000"/>
        </a:accent4>
        <a:accent5>
          <a:srgbClr val="F4C9C0"/>
        </a:accent5>
        <a:accent6>
          <a:srgbClr val="D6994F"/>
        </a:accent6>
        <a:hlink>
          <a:srgbClr val="D97131"/>
        </a:hlink>
        <a:folHlink>
          <a:srgbClr val="F7CDA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4">
        <a:dk1>
          <a:srgbClr val="000000"/>
        </a:dk1>
        <a:lt1>
          <a:srgbClr val="FFFFFF"/>
        </a:lt1>
        <a:dk2>
          <a:srgbClr val="990000"/>
        </a:dk2>
        <a:lt2>
          <a:srgbClr val="FDBDBB"/>
        </a:lt2>
        <a:accent1>
          <a:srgbClr val="DC4E4E"/>
        </a:accent1>
        <a:accent2>
          <a:srgbClr val="5984EF"/>
        </a:accent2>
        <a:accent3>
          <a:srgbClr val="FFFFFF"/>
        </a:accent3>
        <a:accent4>
          <a:srgbClr val="000000"/>
        </a:accent4>
        <a:accent5>
          <a:srgbClr val="EBB2B2"/>
        </a:accent5>
        <a:accent6>
          <a:srgbClr val="5077D9"/>
        </a:accent6>
        <a:hlink>
          <a:srgbClr val="1E44AE"/>
        </a:hlink>
        <a:folHlink>
          <a:srgbClr val="BDD5E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5">
        <a:dk1>
          <a:srgbClr val="000000"/>
        </a:dk1>
        <a:lt1>
          <a:srgbClr val="FFFFFF"/>
        </a:lt1>
        <a:dk2>
          <a:srgbClr val="1475A6"/>
        </a:dk2>
        <a:lt2>
          <a:srgbClr val="B9D4F7"/>
        </a:lt2>
        <a:accent1>
          <a:srgbClr val="69B0D7"/>
        </a:accent1>
        <a:accent2>
          <a:srgbClr val="51C5BF"/>
        </a:accent2>
        <a:accent3>
          <a:srgbClr val="FFFFFF"/>
        </a:accent3>
        <a:accent4>
          <a:srgbClr val="000000"/>
        </a:accent4>
        <a:accent5>
          <a:srgbClr val="B9D4E8"/>
        </a:accent5>
        <a:accent6>
          <a:srgbClr val="49B2AD"/>
        </a:accent6>
        <a:hlink>
          <a:srgbClr val="2F8C93"/>
        </a:hlink>
        <a:folHlink>
          <a:srgbClr val="9BE7E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6">
        <a:dk1>
          <a:srgbClr val="000000"/>
        </a:dk1>
        <a:lt1>
          <a:srgbClr val="FFFFFF"/>
        </a:lt1>
        <a:dk2>
          <a:srgbClr val="A60000"/>
        </a:dk2>
        <a:lt2>
          <a:srgbClr val="FDC4C3"/>
        </a:lt2>
        <a:accent1>
          <a:srgbClr val="DB664F"/>
        </a:accent1>
        <a:accent2>
          <a:srgbClr val="76BAD2"/>
        </a:accent2>
        <a:accent3>
          <a:srgbClr val="FFFFFF"/>
        </a:accent3>
        <a:accent4>
          <a:srgbClr val="000000"/>
        </a:accent4>
        <a:accent5>
          <a:srgbClr val="EAB8B2"/>
        </a:accent5>
        <a:accent6>
          <a:srgbClr val="6AA8BE"/>
        </a:accent6>
        <a:hlink>
          <a:srgbClr val="30789C"/>
        </a:hlink>
        <a:folHlink>
          <a:srgbClr val="BCDAF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7">
        <a:dk1>
          <a:srgbClr val="000000"/>
        </a:dk1>
        <a:lt1>
          <a:srgbClr val="FFFFFF"/>
        </a:lt1>
        <a:dk2>
          <a:srgbClr val="B57901"/>
        </a:dk2>
        <a:lt2>
          <a:srgbClr val="FFE149"/>
        </a:lt2>
        <a:accent1>
          <a:srgbClr val="F3BF01"/>
        </a:accent1>
        <a:accent2>
          <a:srgbClr val="F37C0F"/>
        </a:accent2>
        <a:accent3>
          <a:srgbClr val="FFFFFF"/>
        </a:accent3>
        <a:accent4>
          <a:srgbClr val="000000"/>
        </a:accent4>
        <a:accent5>
          <a:srgbClr val="F8DCAA"/>
        </a:accent5>
        <a:accent6>
          <a:srgbClr val="DC700C"/>
        </a:accent6>
        <a:hlink>
          <a:srgbClr val="C35219"/>
        </a:hlink>
        <a:folHlink>
          <a:srgbClr val="EEC19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색종이 상자 8">
        <a:dk1>
          <a:srgbClr val="000000"/>
        </a:dk1>
        <a:lt1>
          <a:srgbClr val="FFFFFF"/>
        </a:lt1>
        <a:dk2>
          <a:srgbClr val="777777"/>
        </a:dk2>
        <a:lt2>
          <a:srgbClr val="DDDDDD"/>
        </a:lt2>
        <a:accent1>
          <a:srgbClr val="B2B2B2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878787"/>
        </a:accent6>
        <a:hlink>
          <a:srgbClr val="777777"/>
        </a:hlink>
        <a:folHlink>
          <a:srgbClr val="4D4D4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8819</TotalTime>
  <Words>4855</Words>
  <Application>Microsoft Office PowerPoint</Application>
  <PresentationFormat>全屏显示(4:3)</PresentationFormat>
  <Paragraphs>640</Paragraphs>
  <Slides>101</Slides>
  <Notes>43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演示文稿设计模板</vt:lpstr>
      </vt:variant>
      <vt:variant>
        <vt:i4>14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101</vt:i4>
      </vt:variant>
    </vt:vector>
  </HeadingPairs>
  <TitlesOfParts>
    <vt:vector size="129" baseType="lpstr">
      <vt:lpstr>Times New Roman</vt:lpstr>
      <vt:lpstr>宋体</vt:lpstr>
      <vt:lpstr>Arial</vt:lpstr>
      <vt:lpstr>黑体</vt:lpstr>
      <vt:lpstr>Tahoma</vt:lpstr>
      <vt:lpstr>Wingdings</vt:lpstr>
      <vt:lpstr>Wingdings 2</vt:lpstr>
      <vt:lpstr>Calibri</vt:lpstr>
      <vt:lpstr>굴림</vt:lpstr>
      <vt:lpstr>楷体_GB2312</vt:lpstr>
      <vt:lpstr>微软雅黑</vt:lpstr>
      <vt:lpstr>Symbol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4_색종이 상자</vt:lpstr>
      <vt:lpstr>Equation</vt:lpstr>
      <vt:lpstr>公式</vt:lpstr>
      <vt:lpstr>幻灯片 1</vt:lpstr>
      <vt:lpstr>第三节 域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第三节 域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第三节 域</vt:lpstr>
      <vt:lpstr>幻灯片 48</vt:lpstr>
      <vt:lpstr>幻灯片 49</vt:lpstr>
      <vt:lpstr>幻灯片 50</vt:lpstr>
      <vt:lpstr>幻灯片 51</vt:lpstr>
      <vt:lpstr>幻灯片 52</vt:lpstr>
      <vt:lpstr>幻灯片 53</vt:lpstr>
      <vt:lpstr>幻灯片 54</vt:lpstr>
      <vt:lpstr>幻灯片 55</vt:lpstr>
      <vt:lpstr>幻灯片 56</vt:lpstr>
      <vt:lpstr>幻灯片 57</vt:lpstr>
      <vt:lpstr>幻灯片 58</vt:lpstr>
      <vt:lpstr>幻灯片 59</vt:lpstr>
      <vt:lpstr>第三节 域</vt:lpstr>
      <vt:lpstr>幻灯片 61</vt:lpstr>
      <vt:lpstr>幻灯片 62</vt:lpstr>
      <vt:lpstr>幻灯片 63</vt:lpstr>
      <vt:lpstr>幻灯片 64</vt:lpstr>
      <vt:lpstr>幻灯片 65</vt:lpstr>
      <vt:lpstr>幻灯片 66</vt:lpstr>
      <vt:lpstr>幻灯片 67</vt:lpstr>
      <vt:lpstr>幻灯片 68</vt:lpstr>
      <vt:lpstr>幻灯片 69</vt:lpstr>
      <vt:lpstr>幻灯片 70</vt:lpstr>
      <vt:lpstr>幻灯片 71</vt:lpstr>
      <vt:lpstr>幻灯片 72</vt:lpstr>
      <vt:lpstr>幻灯片 73</vt:lpstr>
      <vt:lpstr>幻灯片 74</vt:lpstr>
      <vt:lpstr>幻灯片 75</vt:lpstr>
      <vt:lpstr>幻灯片 76</vt:lpstr>
      <vt:lpstr>幻灯片 77</vt:lpstr>
      <vt:lpstr>幻灯片 78</vt:lpstr>
      <vt:lpstr>幻灯片 79</vt:lpstr>
      <vt:lpstr>幻灯片 80</vt:lpstr>
      <vt:lpstr>幻灯片 81</vt:lpstr>
      <vt:lpstr>幻灯片 82</vt:lpstr>
      <vt:lpstr>幻灯片 83</vt:lpstr>
      <vt:lpstr>幻灯片 84</vt:lpstr>
      <vt:lpstr>幻灯片 85</vt:lpstr>
      <vt:lpstr>幻灯片 86</vt:lpstr>
      <vt:lpstr>幻灯片 87</vt:lpstr>
      <vt:lpstr>幻灯片 88</vt:lpstr>
      <vt:lpstr>幻灯片 89</vt:lpstr>
      <vt:lpstr>幻灯片 90</vt:lpstr>
      <vt:lpstr>幻灯片 91</vt:lpstr>
      <vt:lpstr>幻灯片 92</vt:lpstr>
      <vt:lpstr>幻灯片 93</vt:lpstr>
      <vt:lpstr>幻灯片 94</vt:lpstr>
      <vt:lpstr>幻灯片 95</vt:lpstr>
      <vt:lpstr>幻灯片 96</vt:lpstr>
      <vt:lpstr>幻灯片 97</vt:lpstr>
      <vt:lpstr>幻灯片 98</vt:lpstr>
      <vt:lpstr>幻灯片 99</vt:lpstr>
      <vt:lpstr>幻灯片 100</vt:lpstr>
      <vt:lpstr>幻灯片 101</vt:lpstr>
    </vt:vector>
  </TitlesOfParts>
  <Company>ptu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微软用户</cp:lastModifiedBy>
  <cp:revision>546</cp:revision>
  <dcterms:created xsi:type="dcterms:W3CDTF">2004-02-13T15:49:42Z</dcterms:created>
  <dcterms:modified xsi:type="dcterms:W3CDTF">2018-12-28T15:03:24Z</dcterms:modified>
</cp:coreProperties>
</file>